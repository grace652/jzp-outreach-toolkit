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86" r:id="rId5"/>
    <p:sldId id="258" r:id="rId6"/>
    <p:sldId id="287" r:id="rId7"/>
    <p:sldId id="259" r:id="rId8"/>
    <p:sldId id="260" r:id="rId9"/>
    <p:sldId id="261" r:id="rId10"/>
    <p:sldId id="262" r:id="rId11"/>
    <p:sldId id="263" r:id="rId12"/>
    <p:sldId id="271" r:id="rId13"/>
    <p:sldId id="272" r:id="rId14"/>
    <p:sldId id="275" r:id="rId15"/>
    <p:sldId id="273" r:id="rId16"/>
    <p:sldId id="274" r:id="rId17"/>
    <p:sldId id="285" r:id="rId18"/>
    <p:sldId id="276" r:id="rId19"/>
    <p:sldId id="277" r:id="rId20"/>
    <p:sldId id="278" r:id="rId21"/>
    <p:sldId id="279" r:id="rId22"/>
    <p:sldId id="288" r:id="rId23"/>
    <p:sldId id="280" r:id="rId24"/>
    <p:sldId id="284" r:id="rId25"/>
    <p:sldId id="308" r:id="rId26"/>
    <p:sldId id="281" r:id="rId27"/>
  </p:sldIdLst>
  <p:sldSz cx="12192000" cy="6858000"/>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91"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291"/>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tags" Target="tags/tag201.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64.xml"/><Relationship Id="rId3" Type="http://schemas.openxmlformats.org/officeDocument/2006/relationships/tags" Target="../tags/tag63.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73.xml"/><Relationship Id="rId8" Type="http://schemas.openxmlformats.org/officeDocument/2006/relationships/tags" Target="../tags/tag72.xml"/><Relationship Id="rId7" Type="http://schemas.openxmlformats.org/officeDocument/2006/relationships/tags" Target="../tags/tag71.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 Id="rId3" Type="http://schemas.openxmlformats.org/officeDocument/2006/relationships/tags" Target="../tags/tag67.xml"/><Relationship Id="rId2" Type="http://schemas.openxmlformats.org/officeDocument/2006/relationships/tags" Target="../tags/tag66.xml"/><Relationship Id="rId12" Type="http://schemas.openxmlformats.org/officeDocument/2006/relationships/slideLayout" Target="../slideLayouts/slideLayout2.xml"/><Relationship Id="rId11" Type="http://schemas.openxmlformats.org/officeDocument/2006/relationships/tags" Target="../tags/tag75.xml"/><Relationship Id="rId10" Type="http://schemas.openxmlformats.org/officeDocument/2006/relationships/tags" Target="../tags/tag74.xml"/><Relationship Id="rId1" Type="http://schemas.openxmlformats.org/officeDocument/2006/relationships/tags" Target="../tags/tag65.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tags" Target="../tags/tag80.xml"/></Relationships>
</file>

<file path=ppt/slides/_rels/slide6.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tags" Target="../tags/tag85.xml"/><Relationship Id="rId2" Type="http://schemas.openxmlformats.org/officeDocument/2006/relationships/tags" Target="../tags/tag84.xml"/><Relationship Id="rId14" Type="http://schemas.openxmlformats.org/officeDocument/2006/relationships/slideLayout" Target="../slideLayouts/slideLayout2.xml"/><Relationship Id="rId13" Type="http://schemas.openxmlformats.org/officeDocument/2006/relationships/tags" Target="../tags/tag95.xml"/><Relationship Id="rId12" Type="http://schemas.openxmlformats.org/officeDocument/2006/relationships/tags" Target="../tags/tag94.xml"/><Relationship Id="rId11" Type="http://schemas.openxmlformats.org/officeDocument/2006/relationships/tags" Target="../tags/tag93.xml"/><Relationship Id="rId10" Type="http://schemas.openxmlformats.org/officeDocument/2006/relationships/tags" Target="../tags/tag92.xml"/><Relationship Id="rId1" Type="http://schemas.openxmlformats.org/officeDocument/2006/relationships/tags" Target="../tags/tag83.xml"/></Relationships>
</file>

<file path=ppt/slides/_rels/slide7.xml.rels><?xml version="1.0" encoding="UTF-8" standalone="yes"?>
<Relationships xmlns="http://schemas.openxmlformats.org/package/2006/relationships"><Relationship Id="rId9" Type="http://schemas.openxmlformats.org/officeDocument/2006/relationships/tags" Target="../tags/tag104.xml"/><Relationship Id="rId8" Type="http://schemas.openxmlformats.org/officeDocument/2006/relationships/tags" Target="../tags/tag103.xml"/><Relationship Id="rId7" Type="http://schemas.openxmlformats.org/officeDocument/2006/relationships/tags" Target="../tags/tag102.xml"/><Relationship Id="rId6" Type="http://schemas.openxmlformats.org/officeDocument/2006/relationships/tags" Target="../tags/tag101.xml"/><Relationship Id="rId5" Type="http://schemas.openxmlformats.org/officeDocument/2006/relationships/tags" Target="../tags/tag100.xml"/><Relationship Id="rId4" Type="http://schemas.openxmlformats.org/officeDocument/2006/relationships/tags" Target="../tags/tag99.xml"/><Relationship Id="rId3" Type="http://schemas.openxmlformats.org/officeDocument/2006/relationships/tags" Target="../tags/tag98.xml"/><Relationship Id="rId2" Type="http://schemas.openxmlformats.org/officeDocument/2006/relationships/tags" Target="../tags/tag97.xml"/><Relationship Id="rId14" Type="http://schemas.openxmlformats.org/officeDocument/2006/relationships/slideLayout" Target="../slideLayouts/slideLayout2.xml"/><Relationship Id="rId13" Type="http://schemas.openxmlformats.org/officeDocument/2006/relationships/tags" Target="../tags/tag108.xml"/><Relationship Id="rId12" Type="http://schemas.openxmlformats.org/officeDocument/2006/relationships/tags" Target="../tags/tag107.xml"/><Relationship Id="rId11" Type="http://schemas.openxmlformats.org/officeDocument/2006/relationships/tags" Target="../tags/tag106.xml"/><Relationship Id="rId10" Type="http://schemas.openxmlformats.org/officeDocument/2006/relationships/tags" Target="../tags/tag105.xml"/><Relationship Id="rId1" Type="http://schemas.openxmlformats.org/officeDocument/2006/relationships/tags" Target="../tags/tag96.xml"/></Relationships>
</file>

<file path=ppt/slides/_rels/slide8.xml.rels><?xml version="1.0" encoding="UTF-8" standalone="yes"?>
<Relationships xmlns="http://schemas.openxmlformats.org/package/2006/relationships"><Relationship Id="rId9" Type="http://schemas.openxmlformats.org/officeDocument/2006/relationships/tags" Target="../tags/tag117.xml"/><Relationship Id="rId8" Type="http://schemas.openxmlformats.org/officeDocument/2006/relationships/tags" Target="../tags/tag116.xml"/><Relationship Id="rId7" Type="http://schemas.openxmlformats.org/officeDocument/2006/relationships/tags" Target="../tags/tag115.xml"/><Relationship Id="rId6" Type="http://schemas.openxmlformats.org/officeDocument/2006/relationships/tags" Target="../tags/tag114.xml"/><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tags" Target="../tags/tag110.xml"/><Relationship Id="rId15" Type="http://schemas.openxmlformats.org/officeDocument/2006/relationships/slideLayout" Target="../slideLayouts/slideLayout2.xml"/><Relationship Id="rId14" Type="http://schemas.openxmlformats.org/officeDocument/2006/relationships/tags" Target="../tags/tag122.xml"/><Relationship Id="rId13" Type="http://schemas.openxmlformats.org/officeDocument/2006/relationships/tags" Target="../tags/tag121.xml"/><Relationship Id="rId12" Type="http://schemas.openxmlformats.org/officeDocument/2006/relationships/tags" Target="../tags/tag120.xml"/><Relationship Id="rId11" Type="http://schemas.openxmlformats.org/officeDocument/2006/relationships/tags" Target="../tags/tag119.xml"/><Relationship Id="rId10" Type="http://schemas.openxmlformats.org/officeDocument/2006/relationships/tags" Target="../tags/tag118.xml"/><Relationship Id="rId1" Type="http://schemas.openxmlformats.org/officeDocument/2006/relationships/tags" Target="../tags/tag109.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4.xml"/><Relationship Id="rId2" Type="http://schemas.openxmlformats.org/officeDocument/2006/relationships/image" Target="../media/image3.png"/><Relationship Id="rId1" Type="http://schemas.openxmlformats.org/officeDocument/2006/relationships/tags" Target="../tags/tag123.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6.xml"/><Relationship Id="rId2" Type="http://schemas.openxmlformats.org/officeDocument/2006/relationships/image" Target="../media/image4.png"/><Relationship Id="rId1" Type="http://schemas.openxmlformats.org/officeDocument/2006/relationships/tags" Target="../tags/tag125.xml"/></Relationships>
</file>

<file path=ppt/slides/_rels/slide11.xml.rels><?xml version="1.0" encoding="UTF-8" standalone="yes"?>
<Relationships xmlns="http://schemas.openxmlformats.org/package/2006/relationships"><Relationship Id="rId9" Type="http://schemas.openxmlformats.org/officeDocument/2006/relationships/tags" Target="../tags/tag132.xml"/><Relationship Id="rId8" Type="http://schemas.openxmlformats.org/officeDocument/2006/relationships/tags" Target="../tags/tag131.xml"/><Relationship Id="rId7" Type="http://schemas.openxmlformats.org/officeDocument/2006/relationships/image" Target="../media/image7.jpeg"/><Relationship Id="rId6" Type="http://schemas.openxmlformats.org/officeDocument/2006/relationships/tags" Target="../tags/tag130.xml"/><Relationship Id="rId5" Type="http://schemas.openxmlformats.org/officeDocument/2006/relationships/tags" Target="../tags/tag129.xml"/><Relationship Id="rId4" Type="http://schemas.openxmlformats.org/officeDocument/2006/relationships/image" Target="../media/image6.jpeg"/><Relationship Id="rId3" Type="http://schemas.openxmlformats.org/officeDocument/2006/relationships/tags" Target="../tags/tag128.xml"/><Relationship Id="rId2" Type="http://schemas.openxmlformats.org/officeDocument/2006/relationships/image" Target="../media/image5.png"/><Relationship Id="rId15" Type="http://schemas.openxmlformats.org/officeDocument/2006/relationships/slideLayout" Target="../slideLayouts/slideLayout2.xml"/><Relationship Id="rId14" Type="http://schemas.openxmlformats.org/officeDocument/2006/relationships/tags" Target="../tags/tag136.xml"/><Relationship Id="rId13" Type="http://schemas.openxmlformats.org/officeDocument/2006/relationships/tags" Target="../tags/tag135.xml"/><Relationship Id="rId12" Type="http://schemas.openxmlformats.org/officeDocument/2006/relationships/image" Target="../media/image8.png"/><Relationship Id="rId11" Type="http://schemas.openxmlformats.org/officeDocument/2006/relationships/tags" Target="../tags/tag134.xml"/><Relationship Id="rId10" Type="http://schemas.openxmlformats.org/officeDocument/2006/relationships/tags" Target="../tags/tag133.xml"/><Relationship Id="rId1" Type="http://schemas.openxmlformats.org/officeDocument/2006/relationships/tags" Target="../tags/tag127.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38.xml"/><Relationship Id="rId2" Type="http://schemas.openxmlformats.org/officeDocument/2006/relationships/image" Target="../media/image9.png"/><Relationship Id="rId1" Type="http://schemas.openxmlformats.org/officeDocument/2006/relationships/tags" Target="../tags/tag137.xml"/></Relationships>
</file>

<file path=ppt/slides/_rels/slide13.xml.rels><?xml version="1.0" encoding="UTF-8" standalone="yes"?>
<Relationships xmlns="http://schemas.openxmlformats.org/package/2006/relationships"><Relationship Id="rId9" Type="http://schemas.openxmlformats.org/officeDocument/2006/relationships/tags" Target="../tags/tag145.xml"/><Relationship Id="rId8" Type="http://schemas.openxmlformats.org/officeDocument/2006/relationships/tags" Target="../tags/tag144.xml"/><Relationship Id="rId7" Type="http://schemas.openxmlformats.org/officeDocument/2006/relationships/tags" Target="../tags/tag143.xml"/><Relationship Id="rId6" Type="http://schemas.openxmlformats.org/officeDocument/2006/relationships/tags" Target="../tags/tag142.xml"/><Relationship Id="rId5" Type="http://schemas.openxmlformats.org/officeDocument/2006/relationships/tags" Target="../tags/tag141.xml"/><Relationship Id="rId4" Type="http://schemas.openxmlformats.org/officeDocument/2006/relationships/image" Target="../media/image11.jpeg"/><Relationship Id="rId3" Type="http://schemas.openxmlformats.org/officeDocument/2006/relationships/tags" Target="../tags/tag140.xml"/><Relationship Id="rId2" Type="http://schemas.openxmlformats.org/officeDocument/2006/relationships/image" Target="../media/image10.jpeg"/><Relationship Id="rId11" Type="http://schemas.openxmlformats.org/officeDocument/2006/relationships/slideLayout" Target="../slideLayouts/slideLayout7.xml"/><Relationship Id="rId10" Type="http://schemas.openxmlformats.org/officeDocument/2006/relationships/tags" Target="../tags/tag146.xml"/><Relationship Id="rId1" Type="http://schemas.openxmlformats.org/officeDocument/2006/relationships/tags" Target="../tags/tag139.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47.xml"/><Relationship Id="rId2" Type="http://schemas.openxmlformats.org/officeDocument/2006/relationships/image" Target="../media/image13.png"/><Relationship Id="rId1" Type="http://schemas.openxmlformats.org/officeDocument/2006/relationships/image" Target="../media/image12.jpe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tags" Target="../tags/tag148.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3.xml"/><Relationship Id="rId2" Type="http://schemas.openxmlformats.org/officeDocument/2006/relationships/tags" Target="../tags/tag152.xml"/><Relationship Id="rId1" Type="http://schemas.openxmlformats.org/officeDocument/2006/relationships/tags" Target="../tags/tag151.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54.xml"/><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jpeg"/></Relationships>
</file>

<file path=ppt/slides/_rels/slide18.xml.rels><?xml version="1.0" encoding="UTF-8" standalone="yes"?>
<Relationships xmlns="http://schemas.openxmlformats.org/package/2006/relationships"><Relationship Id="rId9" Type="http://schemas.openxmlformats.org/officeDocument/2006/relationships/tags" Target="../tags/tag159.xml"/><Relationship Id="rId8" Type="http://schemas.openxmlformats.org/officeDocument/2006/relationships/image" Target="../media/image20.jpeg"/><Relationship Id="rId7" Type="http://schemas.openxmlformats.org/officeDocument/2006/relationships/tags" Target="../tags/tag158.xml"/><Relationship Id="rId6" Type="http://schemas.openxmlformats.org/officeDocument/2006/relationships/image" Target="../media/image19.png"/><Relationship Id="rId5" Type="http://schemas.openxmlformats.org/officeDocument/2006/relationships/tags" Target="../tags/tag157.xml"/><Relationship Id="rId4" Type="http://schemas.openxmlformats.org/officeDocument/2006/relationships/image" Target="../media/image18.png"/><Relationship Id="rId3" Type="http://schemas.openxmlformats.org/officeDocument/2006/relationships/tags" Target="../tags/tag156.xml"/><Relationship Id="rId2" Type="http://schemas.openxmlformats.org/officeDocument/2006/relationships/image" Target="../media/image17.jpeg"/><Relationship Id="rId10" Type="http://schemas.openxmlformats.org/officeDocument/2006/relationships/slideLayout" Target="../slideLayouts/slideLayout2.xml"/><Relationship Id="rId1" Type="http://schemas.openxmlformats.org/officeDocument/2006/relationships/tags" Target="../tags/tag155.xml"/></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163.xml"/><Relationship Id="rId6" Type="http://schemas.openxmlformats.org/officeDocument/2006/relationships/image" Target="../media/image22.png"/><Relationship Id="rId5" Type="http://schemas.openxmlformats.org/officeDocument/2006/relationships/tags" Target="../tags/tag162.xml"/><Relationship Id="rId4" Type="http://schemas.openxmlformats.org/officeDocument/2006/relationships/image" Target="../media/image21.png"/><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hyperlink" Target="http://baike.baidu.com/view/406127.htm" TargetMode="Externa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5.xml"/><Relationship Id="rId1" Type="http://schemas.openxmlformats.org/officeDocument/2006/relationships/tags" Target="../tags/tag164.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68.xml"/><Relationship Id="rId2" Type="http://schemas.openxmlformats.org/officeDocument/2006/relationships/tags" Target="../tags/tag167.xml"/><Relationship Id="rId1" Type="http://schemas.openxmlformats.org/officeDocument/2006/relationships/tags" Target="../tags/tag166.xml"/></Relationships>
</file>

<file path=ppt/slides/_rels/slide22.xml.rels><?xml version="1.0" encoding="UTF-8" standalone="yes"?>
<Relationships xmlns="http://schemas.openxmlformats.org/package/2006/relationships"><Relationship Id="rId9" Type="http://schemas.openxmlformats.org/officeDocument/2006/relationships/tags" Target="../tags/tag177.xml"/><Relationship Id="rId8" Type="http://schemas.openxmlformats.org/officeDocument/2006/relationships/tags" Target="../tags/tag176.xml"/><Relationship Id="rId7" Type="http://schemas.openxmlformats.org/officeDocument/2006/relationships/tags" Target="../tags/tag175.xml"/><Relationship Id="rId6" Type="http://schemas.openxmlformats.org/officeDocument/2006/relationships/tags" Target="../tags/tag174.xml"/><Relationship Id="rId5" Type="http://schemas.openxmlformats.org/officeDocument/2006/relationships/tags" Target="../tags/tag173.xml"/><Relationship Id="rId4" Type="http://schemas.openxmlformats.org/officeDocument/2006/relationships/tags" Target="../tags/tag172.xml"/><Relationship Id="rId3" Type="http://schemas.openxmlformats.org/officeDocument/2006/relationships/tags" Target="../tags/tag171.xml"/><Relationship Id="rId20" Type="http://schemas.openxmlformats.org/officeDocument/2006/relationships/slideLayout" Target="../slideLayouts/slideLayout2.xml"/><Relationship Id="rId2" Type="http://schemas.openxmlformats.org/officeDocument/2006/relationships/tags" Target="../tags/tag170.xml"/><Relationship Id="rId19" Type="http://schemas.openxmlformats.org/officeDocument/2006/relationships/tags" Target="../tags/tag187.xml"/><Relationship Id="rId18" Type="http://schemas.openxmlformats.org/officeDocument/2006/relationships/tags" Target="../tags/tag186.xml"/><Relationship Id="rId17" Type="http://schemas.openxmlformats.org/officeDocument/2006/relationships/tags" Target="../tags/tag185.xml"/><Relationship Id="rId16" Type="http://schemas.openxmlformats.org/officeDocument/2006/relationships/tags" Target="../tags/tag184.xml"/><Relationship Id="rId15" Type="http://schemas.openxmlformats.org/officeDocument/2006/relationships/tags" Target="../tags/tag183.xml"/><Relationship Id="rId14" Type="http://schemas.openxmlformats.org/officeDocument/2006/relationships/tags" Target="../tags/tag182.xml"/><Relationship Id="rId13" Type="http://schemas.openxmlformats.org/officeDocument/2006/relationships/tags" Target="../tags/tag181.xml"/><Relationship Id="rId12" Type="http://schemas.openxmlformats.org/officeDocument/2006/relationships/tags" Target="../tags/tag180.xml"/><Relationship Id="rId11" Type="http://schemas.openxmlformats.org/officeDocument/2006/relationships/tags" Target="../tags/tag179.xml"/><Relationship Id="rId10" Type="http://schemas.openxmlformats.org/officeDocument/2006/relationships/tags" Target="../tags/tag178.xml"/><Relationship Id="rId1" Type="http://schemas.openxmlformats.org/officeDocument/2006/relationships/tags" Target="../tags/tag169.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9.xml"/><Relationship Id="rId1" Type="http://schemas.openxmlformats.org/officeDocument/2006/relationships/tags" Target="../tags/tag188.xml"/></Relationships>
</file>

<file path=ppt/slides/_rels/slide24.xml.rels><?xml version="1.0" encoding="UTF-8" standalone="yes"?>
<Relationships xmlns="http://schemas.openxmlformats.org/package/2006/relationships"><Relationship Id="rId9" Type="http://schemas.openxmlformats.org/officeDocument/2006/relationships/tags" Target="../tags/tag195.xml"/><Relationship Id="rId8" Type="http://schemas.openxmlformats.org/officeDocument/2006/relationships/tags" Target="../tags/tag194.xml"/><Relationship Id="rId7" Type="http://schemas.openxmlformats.org/officeDocument/2006/relationships/tags" Target="../tags/tag193.xml"/><Relationship Id="rId6" Type="http://schemas.openxmlformats.org/officeDocument/2006/relationships/image" Target="../media/image25.png"/><Relationship Id="rId5" Type="http://schemas.openxmlformats.org/officeDocument/2006/relationships/tags" Target="../tags/tag192.xml"/><Relationship Id="rId4" Type="http://schemas.openxmlformats.org/officeDocument/2006/relationships/image" Target="../media/image24.png"/><Relationship Id="rId3" Type="http://schemas.openxmlformats.org/officeDocument/2006/relationships/tags" Target="../tags/tag191.xml"/><Relationship Id="rId2" Type="http://schemas.openxmlformats.org/officeDocument/2006/relationships/image" Target="../media/image23.png"/><Relationship Id="rId14" Type="http://schemas.openxmlformats.org/officeDocument/2006/relationships/slideLayout" Target="../slideLayouts/slideLayout2.xml"/><Relationship Id="rId13" Type="http://schemas.openxmlformats.org/officeDocument/2006/relationships/tags" Target="../tags/tag198.xml"/><Relationship Id="rId12" Type="http://schemas.openxmlformats.org/officeDocument/2006/relationships/image" Target="../media/image26.png"/><Relationship Id="rId11" Type="http://schemas.openxmlformats.org/officeDocument/2006/relationships/tags" Target="../tags/tag197.xml"/><Relationship Id="rId10" Type="http://schemas.openxmlformats.org/officeDocument/2006/relationships/tags" Target="../tags/tag196.xml"/><Relationship Id="rId1" Type="http://schemas.openxmlformats.org/officeDocument/2006/relationships/tags" Target="../tags/tag190.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0.xml"/><Relationship Id="rId1" Type="http://schemas.openxmlformats.org/officeDocument/2006/relationships/tags" Target="../tags/tag19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e891c333f4a31b1f2da67df03b2c237"/>
          <p:cNvPicPr>
            <a:picLocks noChangeAspect="1"/>
          </p:cNvPicPr>
          <p:nvPr/>
        </p:nvPicPr>
        <p:blipFill>
          <a:blip r:embed="rId1"/>
          <a:stretch>
            <a:fillRect/>
          </a:stretch>
        </p:blipFill>
        <p:spPr>
          <a:xfrm>
            <a:off x="132715" y="99695"/>
            <a:ext cx="802640" cy="739140"/>
          </a:xfrm>
          <a:prstGeom prst="rect">
            <a:avLst/>
          </a:prstGeom>
        </p:spPr>
      </p:pic>
      <p:pic>
        <p:nvPicPr>
          <p:cNvPr id="5" name="图片 4" descr="af46ee69bce465bb7db1dea438dad7b"/>
          <p:cNvPicPr>
            <a:picLocks noChangeAspect="1"/>
          </p:cNvPicPr>
          <p:nvPr/>
        </p:nvPicPr>
        <p:blipFill>
          <a:blip r:embed="rId2"/>
          <a:stretch>
            <a:fillRect/>
          </a:stretch>
        </p:blipFill>
        <p:spPr>
          <a:xfrm>
            <a:off x="1073785" y="207010"/>
            <a:ext cx="1078230" cy="525145"/>
          </a:xfrm>
          <a:prstGeom prst="rect">
            <a:avLst/>
          </a:prstGeom>
        </p:spPr>
      </p:pic>
      <p:sp>
        <p:nvSpPr>
          <p:cNvPr id="2" name="标题 1"/>
          <p:cNvSpPr>
            <a:spLocks noGrp="1"/>
          </p:cNvSpPr>
          <p:nvPr>
            <p:ph type="ctrTitle"/>
            <p:custDataLst>
              <p:tags r:id="rId3"/>
            </p:custDataLst>
          </p:nvPr>
        </p:nvSpPr>
        <p:spPr/>
        <p:txBody>
          <a:bodyPr/>
          <a:p>
            <a:r>
              <a:rPr lang="zh-CN">
                <a:solidFill>
                  <a:schemeClr val="accent4">
                    <a:lumMod val="50000"/>
                  </a:schemeClr>
                </a:solidFill>
                <a:latin typeface="Arial" panose="020B0604020202020204" pitchFamily="34" charset="0"/>
                <a:ea typeface="宋体" panose="02010600030101010101" pitchFamily="2" charset="-122"/>
                <a:cs typeface="+mn-cs"/>
                <a:sym typeface="+mn-ea"/>
              </a:rPr>
              <a:t>变压器   </a:t>
            </a:r>
            <a:r>
              <a:rPr lang="en-US" altLang="zh-CN">
                <a:solidFill>
                  <a:schemeClr val="accent4">
                    <a:lumMod val="50000"/>
                  </a:schemeClr>
                </a:solidFill>
                <a:latin typeface="Arial" panose="020B0604020202020204" pitchFamily="34" charset="0"/>
                <a:ea typeface="宋体" panose="02010600030101010101" pitchFamily="2" charset="-122"/>
                <a:cs typeface="+mn-cs"/>
                <a:sym typeface="+mn-ea"/>
              </a:rPr>
              <a:t>Tranformer</a:t>
            </a:r>
            <a:endParaRPr lang="en-US" altLang="zh-CN">
              <a:solidFill>
                <a:schemeClr val="accent4">
                  <a:lumMod val="50000"/>
                </a:schemeClr>
              </a:solidFill>
              <a:latin typeface="Arial" panose="020B0604020202020204" pitchFamily="34" charset="0"/>
              <a:ea typeface="宋体" panose="02010600030101010101" pitchFamily="2" charset="-122"/>
              <a:cs typeface="+mn-cs"/>
              <a:sym typeface="+mn-ea"/>
            </a:endParaRPr>
          </a:p>
        </p:txBody>
      </p:sp>
      <p:sp>
        <p:nvSpPr>
          <p:cNvPr id="8" name="文本框 7"/>
          <p:cNvSpPr txBox="1"/>
          <p:nvPr/>
        </p:nvSpPr>
        <p:spPr>
          <a:xfrm>
            <a:off x="4108450" y="6360160"/>
            <a:ext cx="4064000" cy="368300"/>
          </a:xfrm>
          <a:prstGeom prst="rect">
            <a:avLst/>
          </a:prstGeom>
          <a:noFill/>
        </p:spPr>
        <p:txBody>
          <a:bodyPr wrap="square" rtlCol="0">
            <a:spAutoFit/>
          </a:bodyPr>
          <a:p>
            <a:pPr algn="ctr"/>
            <a:r>
              <a:rPr lang="en-US" altLang="zh-CN">
                <a:solidFill>
                  <a:schemeClr val="accent4">
                    <a:lumMod val="50000"/>
                  </a:schemeClr>
                </a:solidFill>
                <a:latin typeface="+mj-lt"/>
                <a:cs typeface="+mj-lt"/>
              </a:rPr>
              <a:t>www.jiezoupower.com</a:t>
            </a:r>
            <a:endParaRPr lang="en-US" altLang="zh-CN">
              <a:solidFill>
                <a:schemeClr val="accent4">
                  <a:lumMod val="50000"/>
                </a:schemeClr>
              </a:solidFill>
              <a:latin typeface="+mj-lt"/>
              <a:cs typeface="+mj-lt"/>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文本框 12"/>
          <p:cNvSpPr txBox="1"/>
          <p:nvPr>
            <p:custDataLst>
              <p:tags r:id="rId1"/>
            </p:custDataLst>
          </p:nvPr>
        </p:nvSpPr>
        <p:spPr>
          <a:xfrm>
            <a:off x="2533333" y="3452813"/>
            <a:ext cx="1658937" cy="398462"/>
          </a:xfrm>
          <a:prstGeom prst="rect">
            <a:avLst/>
          </a:prstGeom>
          <a:noFill/>
          <a:ln w="9525">
            <a:noFill/>
          </a:ln>
        </p:spPr>
        <p:txBody>
          <a:bodyPr wrap="square" anchor="t" anchorCtr="0">
            <a:spAutoFit/>
          </a:bodyPr>
          <a:p>
            <a:r>
              <a:rPr lang="en-US" altLang="zh-CN" sz="2000" b="1">
                <a:solidFill>
                  <a:schemeClr val="accent4">
                    <a:lumMod val="50000"/>
                  </a:schemeClr>
                </a:solidFill>
                <a:latin typeface="微软雅黑" panose="020B0503020204020204" charset="-122"/>
                <a:ea typeface="微软雅黑" panose="020B0503020204020204" charset="-122"/>
                <a:sym typeface="黑体" panose="02010609060101010101" charset="-122"/>
              </a:rPr>
              <a:t>CONTENTS</a:t>
            </a:r>
            <a:endParaRPr lang="en-US" altLang="zh-CN" sz="2000" b="1">
              <a:solidFill>
                <a:schemeClr val="accent4">
                  <a:lumMod val="50000"/>
                </a:schemeClr>
              </a:solidFill>
              <a:latin typeface="微软雅黑" panose="020B0503020204020204" charset="-122"/>
              <a:ea typeface="微软雅黑" panose="020B0503020204020204" charset="-122"/>
              <a:sym typeface="黑体" panose="02010609060101010101" charset="-122"/>
            </a:endParaRPr>
          </a:p>
        </p:txBody>
      </p:sp>
      <p:sp>
        <p:nvSpPr>
          <p:cNvPr id="36867" name="文本框 13"/>
          <p:cNvSpPr txBox="1"/>
          <p:nvPr>
            <p:custDataLst>
              <p:tags r:id="rId2"/>
            </p:custDataLst>
          </p:nvPr>
        </p:nvSpPr>
        <p:spPr>
          <a:xfrm>
            <a:off x="2446020" y="2598738"/>
            <a:ext cx="1798638" cy="920750"/>
          </a:xfrm>
          <a:prstGeom prst="rect">
            <a:avLst/>
          </a:prstGeom>
          <a:noFill/>
          <a:ln w="9525">
            <a:noFill/>
          </a:ln>
        </p:spPr>
        <p:txBody>
          <a:bodyPr wrap="square" anchor="t" anchorCtr="0">
            <a:spAutoFit/>
          </a:bodyPr>
          <a:p>
            <a:pPr algn="ctr"/>
            <a:r>
              <a:rPr lang="zh-CN" altLang="en-US" sz="5400" b="1">
                <a:solidFill>
                  <a:schemeClr val="accent4">
                    <a:lumMod val="50000"/>
                  </a:schemeClr>
                </a:solidFill>
                <a:latin typeface="微软雅黑" panose="020B0503020204020204" charset="-122"/>
                <a:ea typeface="微软雅黑" panose="020B0503020204020204" charset="-122"/>
                <a:sym typeface="黑体" panose="02010609060101010101" charset="-122"/>
              </a:rPr>
              <a:t>目 录</a:t>
            </a:r>
            <a:endParaRPr lang="zh-CN" altLang="en-US" sz="5400" b="1">
              <a:solidFill>
                <a:schemeClr val="accent4">
                  <a:lumMod val="50000"/>
                </a:schemeClr>
              </a:solidFill>
              <a:latin typeface="微软雅黑" panose="020B0503020204020204" charset="-122"/>
              <a:ea typeface="微软雅黑" panose="020B0503020204020204" charset="-122"/>
              <a:sym typeface="黑体" panose="02010609060101010101" charset="-122"/>
            </a:endParaRPr>
          </a:p>
        </p:txBody>
      </p:sp>
      <p:sp>
        <p:nvSpPr>
          <p:cNvPr id="36868" name="文本框 14"/>
          <p:cNvSpPr txBox="1"/>
          <p:nvPr>
            <p:custDataLst>
              <p:tags r:id="rId3"/>
            </p:custDataLst>
          </p:nvPr>
        </p:nvSpPr>
        <p:spPr>
          <a:xfrm>
            <a:off x="6335395" y="1354138"/>
            <a:ext cx="3368675" cy="521970"/>
          </a:xfrm>
          <a:prstGeom prst="rect">
            <a:avLst/>
          </a:prstGeom>
          <a:noFill/>
          <a:ln w="9525">
            <a:noFill/>
          </a:ln>
        </p:spPr>
        <p:txBody>
          <a:bodyPr wrap="square" anchor="t" anchorCtr="0">
            <a:spAutoFit/>
          </a:bodyPr>
          <a:p>
            <a:r>
              <a:rPr lang="zh-CN" altLang="en-US" sz="2800" b="1">
                <a:solidFill>
                  <a:schemeClr val="accent4">
                    <a:lumMod val="50000"/>
                  </a:schemeClr>
                </a:solidFill>
                <a:latin typeface="微软雅黑" panose="020B0503020204020204" charset="-122"/>
                <a:ea typeface="微软雅黑" panose="020B0503020204020204" charset="-122"/>
              </a:rPr>
              <a:t>变压器简介</a:t>
            </a:r>
            <a:endParaRPr lang="zh-CN" altLang="en-US" sz="2800" b="1">
              <a:solidFill>
                <a:schemeClr val="accent4">
                  <a:lumMod val="50000"/>
                </a:schemeClr>
              </a:solidFill>
              <a:latin typeface="微软雅黑" panose="020B0503020204020204" charset="-122"/>
              <a:ea typeface="微软雅黑" panose="020B0503020204020204" charset="-122"/>
            </a:endParaRPr>
          </a:p>
        </p:txBody>
      </p:sp>
      <p:sp>
        <p:nvSpPr>
          <p:cNvPr id="36869" name="文本框 16"/>
          <p:cNvSpPr txBox="1"/>
          <p:nvPr>
            <p:custDataLst>
              <p:tags r:id="rId4"/>
            </p:custDataLst>
          </p:nvPr>
        </p:nvSpPr>
        <p:spPr>
          <a:xfrm>
            <a:off x="4969510" y="1422400"/>
            <a:ext cx="1259840" cy="583565"/>
          </a:xfrm>
          <a:prstGeom prst="rect">
            <a:avLst/>
          </a:prstGeom>
          <a:noFill/>
          <a:ln w="9525">
            <a:noFill/>
          </a:ln>
        </p:spPr>
        <p:txBody>
          <a:bodyPr wrap="square" anchor="t" anchorCtr="0">
            <a:spAutoFit/>
          </a:bodyPr>
          <a:p>
            <a:pPr marL="457200" indent="-457200" algn="ctr">
              <a:buFont typeface="Wingdings" panose="05000000000000000000" charset="0"/>
              <a:buChar char="Ø"/>
            </a:pPr>
            <a:r>
              <a:rPr lang="en-US" altLang="zh-CN" sz="3200" dirty="0">
                <a:solidFill>
                  <a:schemeClr val="accent4">
                    <a:lumMod val="50000"/>
                  </a:schemeClr>
                </a:solidFill>
                <a:latin typeface="Impact" panose="020B0806030902050204" pitchFamily="34" charset="0"/>
                <a:ea typeface="方正舒体" panose="02010601030101010101" pitchFamily="2" charset="-122"/>
                <a:sym typeface="黑体" panose="02010609060101010101" charset="-122"/>
              </a:rPr>
              <a:t>01</a:t>
            </a:r>
            <a:endParaRPr lang="en-US" altLang="zh-CN" sz="3200" b="1" dirty="0">
              <a:solidFill>
                <a:schemeClr val="accent4">
                  <a:lumMod val="50000"/>
                </a:schemeClr>
              </a:solidFill>
              <a:latin typeface="Impact" panose="020B0806030902050204" pitchFamily="34" charset="0"/>
              <a:ea typeface="方正舒体" panose="02010601030101010101" pitchFamily="2" charset="-122"/>
              <a:sym typeface="黑体" panose="02010609060101010101" charset="-122"/>
            </a:endParaRPr>
          </a:p>
        </p:txBody>
      </p:sp>
      <p:sp>
        <p:nvSpPr>
          <p:cNvPr id="36870" name="文本框 15"/>
          <p:cNvSpPr txBox="1"/>
          <p:nvPr>
            <p:custDataLst>
              <p:tags r:id="rId5"/>
            </p:custDataLst>
          </p:nvPr>
        </p:nvSpPr>
        <p:spPr>
          <a:xfrm>
            <a:off x="6335395" y="2354263"/>
            <a:ext cx="3319463" cy="522287"/>
          </a:xfrm>
          <a:prstGeom prst="rect">
            <a:avLst/>
          </a:prstGeom>
          <a:noFill/>
          <a:ln w="9525">
            <a:noFill/>
          </a:ln>
        </p:spPr>
        <p:txBody>
          <a:bodyPr wrap="square" anchor="t" anchorCtr="0">
            <a:spAutoFit/>
          </a:bodyPr>
          <a:p>
            <a:r>
              <a:rPr lang="zh-CN" altLang="en-US" sz="2800" b="1" dirty="0">
                <a:solidFill>
                  <a:schemeClr val="accent4">
                    <a:lumMod val="50000"/>
                  </a:schemeClr>
                </a:solidFill>
                <a:latin typeface="微软雅黑" panose="020B0503020204020204" charset="-122"/>
                <a:ea typeface="微软雅黑" panose="020B0503020204020204" charset="-122"/>
                <a:sym typeface="黑体" panose="02010609060101010101" charset="-122"/>
              </a:rPr>
              <a:t>变压器组成</a:t>
            </a:r>
            <a:endParaRPr lang="zh-CN" altLang="en-US" sz="2800" b="1" dirty="0">
              <a:solidFill>
                <a:schemeClr val="accent4">
                  <a:lumMod val="50000"/>
                </a:schemeClr>
              </a:solidFill>
              <a:latin typeface="微软雅黑" panose="020B0503020204020204" charset="-122"/>
              <a:ea typeface="微软雅黑" panose="020B0503020204020204" charset="-122"/>
              <a:sym typeface="黑体" panose="02010609060101010101" charset="-122"/>
            </a:endParaRPr>
          </a:p>
        </p:txBody>
      </p:sp>
      <p:sp>
        <p:nvSpPr>
          <p:cNvPr id="36871" name="文本框 17"/>
          <p:cNvSpPr txBox="1"/>
          <p:nvPr>
            <p:custDataLst>
              <p:tags r:id="rId6"/>
            </p:custDataLst>
          </p:nvPr>
        </p:nvSpPr>
        <p:spPr>
          <a:xfrm>
            <a:off x="5083175" y="2288540"/>
            <a:ext cx="1146175" cy="583565"/>
          </a:xfrm>
          <a:prstGeom prst="rect">
            <a:avLst/>
          </a:prstGeom>
          <a:noFill/>
          <a:ln w="9525">
            <a:noFill/>
          </a:ln>
        </p:spPr>
        <p:txBody>
          <a:bodyPr wrap="square" anchor="t" anchorCtr="0">
            <a:spAutoFit/>
          </a:bodyPr>
          <a:p>
            <a:pPr marL="457200" indent="-457200" algn="ctr">
              <a:buFont typeface="Wingdings" panose="05000000000000000000" charset="0"/>
              <a:buChar char="Ø"/>
            </a:pPr>
            <a:r>
              <a:rPr lang="en-US" altLang="zh-CN" sz="3200" dirty="0">
                <a:solidFill>
                  <a:schemeClr val="accent4">
                    <a:lumMod val="50000"/>
                  </a:schemeClr>
                </a:solidFill>
                <a:latin typeface="Impact" panose="020B0806030902050204" pitchFamily="34" charset="0"/>
                <a:ea typeface="方正舒体" panose="02010601030101010101" pitchFamily="2" charset="-122"/>
                <a:sym typeface="黑体" panose="02010609060101010101" charset="-122"/>
              </a:rPr>
              <a:t>02</a:t>
            </a:r>
            <a:endParaRPr lang="en-US" altLang="zh-CN" sz="3200" b="1" dirty="0">
              <a:solidFill>
                <a:schemeClr val="accent4">
                  <a:lumMod val="50000"/>
                </a:schemeClr>
              </a:solidFill>
              <a:latin typeface="Impact" panose="020B0806030902050204" pitchFamily="34" charset="0"/>
              <a:ea typeface="方正舒体" panose="02010601030101010101" pitchFamily="2" charset="-122"/>
              <a:sym typeface="黑体" panose="02010609060101010101" charset="-122"/>
            </a:endParaRPr>
          </a:p>
        </p:txBody>
      </p:sp>
      <p:sp>
        <p:nvSpPr>
          <p:cNvPr id="36872" name="文本框 18"/>
          <p:cNvSpPr txBox="1"/>
          <p:nvPr>
            <p:custDataLst>
              <p:tags r:id="rId7"/>
            </p:custDataLst>
          </p:nvPr>
        </p:nvSpPr>
        <p:spPr>
          <a:xfrm>
            <a:off x="6335395" y="3354388"/>
            <a:ext cx="3368675" cy="522287"/>
          </a:xfrm>
          <a:prstGeom prst="rect">
            <a:avLst/>
          </a:prstGeom>
          <a:noFill/>
          <a:ln w="9525">
            <a:noFill/>
          </a:ln>
        </p:spPr>
        <p:txBody>
          <a:bodyPr wrap="square" anchor="t" anchorCtr="0">
            <a:spAutoFit/>
          </a:bodyPr>
          <a:p>
            <a:r>
              <a:rPr lang="zh-CN" altLang="en-US" sz="2800" b="1">
                <a:solidFill>
                  <a:schemeClr val="accent4">
                    <a:lumMod val="50000"/>
                  </a:schemeClr>
                </a:solidFill>
                <a:latin typeface="微软雅黑" panose="020B0503020204020204" charset="-122"/>
                <a:ea typeface="微软雅黑" panose="020B0503020204020204" charset="-122"/>
                <a:sym typeface="黑体" panose="02010609060101010101" charset="-122"/>
              </a:rPr>
              <a:t>变压器分类</a:t>
            </a:r>
            <a:endParaRPr lang="zh-CN" altLang="en-US" sz="2800" b="1">
              <a:solidFill>
                <a:schemeClr val="accent4">
                  <a:lumMod val="50000"/>
                </a:schemeClr>
              </a:solidFill>
              <a:latin typeface="微软雅黑" panose="020B0503020204020204" charset="-122"/>
              <a:ea typeface="微软雅黑" panose="020B0503020204020204" charset="-122"/>
              <a:sym typeface="黑体" panose="02010609060101010101" charset="-122"/>
            </a:endParaRPr>
          </a:p>
        </p:txBody>
      </p:sp>
      <p:sp>
        <p:nvSpPr>
          <p:cNvPr id="36873" name="文本框 20"/>
          <p:cNvSpPr txBox="1"/>
          <p:nvPr>
            <p:custDataLst>
              <p:tags r:id="rId8"/>
            </p:custDataLst>
          </p:nvPr>
        </p:nvSpPr>
        <p:spPr>
          <a:xfrm>
            <a:off x="5083175" y="3278505"/>
            <a:ext cx="1145540" cy="583565"/>
          </a:xfrm>
          <a:prstGeom prst="rect">
            <a:avLst/>
          </a:prstGeom>
          <a:noFill/>
          <a:ln w="9525">
            <a:noFill/>
          </a:ln>
        </p:spPr>
        <p:txBody>
          <a:bodyPr wrap="square" anchor="t" anchorCtr="0">
            <a:spAutoFit/>
          </a:bodyPr>
          <a:p>
            <a:pPr marL="457200" indent="-457200" algn="ctr">
              <a:buFont typeface="Wingdings" panose="05000000000000000000" charset="0"/>
              <a:buChar char="Ø"/>
            </a:pPr>
            <a:r>
              <a:rPr lang="en-US" altLang="zh-CN" sz="3200" dirty="0">
                <a:solidFill>
                  <a:schemeClr val="accent4">
                    <a:lumMod val="50000"/>
                  </a:schemeClr>
                </a:solidFill>
                <a:latin typeface="Impact" panose="020B0806030902050204" pitchFamily="34" charset="0"/>
                <a:ea typeface="方正舒体" panose="02010601030101010101" pitchFamily="2" charset="-122"/>
                <a:sym typeface="黑体" panose="02010609060101010101" charset="-122"/>
              </a:rPr>
              <a:t>03</a:t>
            </a:r>
            <a:endParaRPr lang="en-US" altLang="zh-CN" sz="3200" b="1" dirty="0">
              <a:solidFill>
                <a:schemeClr val="accent4">
                  <a:lumMod val="50000"/>
                </a:schemeClr>
              </a:solidFill>
              <a:latin typeface="Impact" panose="020B0806030902050204" pitchFamily="34" charset="0"/>
              <a:ea typeface="方正舒体" panose="02010601030101010101" pitchFamily="2" charset="-122"/>
              <a:sym typeface="黑体" panose="02010609060101010101" charset="-122"/>
            </a:endParaRPr>
          </a:p>
        </p:txBody>
      </p:sp>
      <p:sp>
        <p:nvSpPr>
          <p:cNvPr id="36874" name="文本框 19"/>
          <p:cNvSpPr txBox="1"/>
          <p:nvPr>
            <p:custDataLst>
              <p:tags r:id="rId9"/>
            </p:custDataLst>
          </p:nvPr>
        </p:nvSpPr>
        <p:spPr>
          <a:xfrm>
            <a:off x="6335395" y="4354830"/>
            <a:ext cx="4258945" cy="521970"/>
          </a:xfrm>
          <a:prstGeom prst="rect">
            <a:avLst/>
          </a:prstGeom>
          <a:noFill/>
          <a:ln w="9525">
            <a:noFill/>
          </a:ln>
        </p:spPr>
        <p:txBody>
          <a:bodyPr wrap="square" anchor="t" anchorCtr="0">
            <a:spAutoFit/>
          </a:bodyPr>
          <a:p>
            <a:r>
              <a:rPr lang="zh-CN" altLang="en-US" sz="2800" b="1">
                <a:solidFill>
                  <a:schemeClr val="accent4">
                    <a:lumMod val="50000"/>
                  </a:schemeClr>
                </a:solidFill>
                <a:latin typeface="微软雅黑" panose="020B0503020204020204" charset="-122"/>
                <a:ea typeface="微软雅黑" panose="020B0503020204020204" charset="-122"/>
                <a:sym typeface="黑体" panose="02010609060101010101" charset="-122"/>
              </a:rPr>
              <a:t>冷却方式</a:t>
            </a:r>
            <a:endParaRPr lang="zh-CN" altLang="en-US" sz="2800" b="1">
              <a:solidFill>
                <a:schemeClr val="accent4">
                  <a:lumMod val="50000"/>
                </a:schemeClr>
              </a:solidFill>
              <a:latin typeface="微软雅黑" panose="020B0503020204020204" charset="-122"/>
              <a:ea typeface="微软雅黑" panose="020B0503020204020204" charset="-122"/>
              <a:sym typeface="黑体" panose="02010609060101010101" charset="-122"/>
            </a:endParaRPr>
          </a:p>
        </p:txBody>
      </p:sp>
      <p:sp>
        <p:nvSpPr>
          <p:cNvPr id="36875" name="文本框 21"/>
          <p:cNvSpPr txBox="1"/>
          <p:nvPr>
            <p:custDataLst>
              <p:tags r:id="rId10"/>
            </p:custDataLst>
          </p:nvPr>
        </p:nvSpPr>
        <p:spPr>
          <a:xfrm>
            <a:off x="5083810" y="4268470"/>
            <a:ext cx="1145540" cy="583565"/>
          </a:xfrm>
          <a:prstGeom prst="rect">
            <a:avLst/>
          </a:prstGeom>
          <a:noFill/>
          <a:ln w="9525">
            <a:noFill/>
          </a:ln>
        </p:spPr>
        <p:txBody>
          <a:bodyPr wrap="square" anchor="t" anchorCtr="0">
            <a:spAutoFit/>
          </a:bodyPr>
          <a:p>
            <a:pPr marL="457200" indent="-457200" algn="ctr">
              <a:buFont typeface="Wingdings" panose="05000000000000000000" charset="0"/>
              <a:buChar char="Ø"/>
            </a:pPr>
            <a:r>
              <a:rPr lang="en-US" altLang="zh-CN" sz="3200" dirty="0">
                <a:solidFill>
                  <a:schemeClr val="accent4">
                    <a:lumMod val="50000"/>
                  </a:schemeClr>
                </a:solidFill>
                <a:latin typeface="Impact" panose="020B0806030902050204" pitchFamily="34" charset="0"/>
                <a:ea typeface="方正舒体" panose="02010601030101010101" pitchFamily="2" charset="-122"/>
                <a:sym typeface="黑体" panose="02010609060101010101" charset="-122"/>
              </a:rPr>
              <a:t>04</a:t>
            </a:r>
            <a:endParaRPr lang="en-US" altLang="zh-CN" sz="3200" b="1" dirty="0">
              <a:solidFill>
                <a:schemeClr val="accent4">
                  <a:lumMod val="50000"/>
                </a:schemeClr>
              </a:solidFill>
              <a:latin typeface="Impact" panose="020B0806030902050204" pitchFamily="34" charset="0"/>
              <a:ea typeface="方正舒体" panose="02010601030101010101" pitchFamily="2" charset="-122"/>
              <a:sym typeface="黑体" panose="02010609060101010101" charset="-122"/>
            </a:endParaRPr>
          </a:p>
        </p:txBody>
      </p:sp>
    </p:spTree>
    <p:custDataLst>
      <p:tags r:id="rId1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 name="文本框 34"/>
          <p:cNvSpPr txBox="1"/>
          <p:nvPr>
            <p:custDataLst>
              <p:tags r:id="rId1"/>
            </p:custDataLst>
          </p:nvPr>
        </p:nvSpPr>
        <p:spPr>
          <a:xfrm>
            <a:off x="2725103" y="2242185"/>
            <a:ext cx="1773238" cy="1419225"/>
          </a:xfrm>
          <a:prstGeom prst="rect">
            <a:avLst/>
          </a:prstGeom>
          <a:noFill/>
        </p:spPr>
        <p:txBody>
          <a:bodyPr wrap="square" lIns="90000" tIns="46800" rIns="90000" bIns="46800" rtlCol="0">
            <a:normAutofit/>
          </a:bodyPr>
          <a:p>
            <a:pPr algn="ctr" defTabSz="685800">
              <a:defRPr/>
            </a:pPr>
            <a:r>
              <a:rPr lang="en-US" altLang="zh-CN" sz="8625" noProof="1" dirty="0">
                <a:solidFill>
                  <a:schemeClr val="accent4">
                    <a:lumMod val="50000"/>
                  </a:schemeClr>
                </a:solidFill>
                <a:latin typeface="Impact" panose="020B0806030902050204" pitchFamily="34" charset="0"/>
                <a:ea typeface="方正舒体" panose="02010601030101010101" pitchFamily="2" charset="-122"/>
                <a:cs typeface="+mn-cs"/>
                <a:sym typeface="+mn-ea"/>
              </a:rPr>
              <a:t>01</a:t>
            </a:r>
            <a:endParaRPr lang="en-US" altLang="zh-CN" sz="8625" noProof="1" dirty="0">
              <a:solidFill>
                <a:schemeClr val="accent4">
                  <a:lumMod val="50000"/>
                </a:schemeClr>
              </a:solidFill>
              <a:latin typeface="Impact" panose="020B0806030902050204" pitchFamily="34" charset="0"/>
              <a:ea typeface="方正舒体" panose="02010601030101010101" pitchFamily="2" charset="-122"/>
              <a:cs typeface="+mn-cs"/>
              <a:sym typeface="+mn-ea"/>
            </a:endParaRPr>
          </a:p>
        </p:txBody>
      </p:sp>
      <p:sp>
        <p:nvSpPr>
          <p:cNvPr id="58370" name="标题 4"/>
          <p:cNvSpPr>
            <a:spLocks noGrp="1"/>
          </p:cNvSpPr>
          <p:nvPr>
            <p:custDataLst>
              <p:tags r:id="rId2"/>
            </p:custDataLst>
          </p:nvPr>
        </p:nvSpPr>
        <p:spPr>
          <a:xfrm>
            <a:off x="4370388" y="2355850"/>
            <a:ext cx="3840162" cy="1073150"/>
          </a:xfrm>
          <a:prstGeom prst="rect">
            <a:avLst/>
          </a:prstGeom>
          <a:noFill/>
          <a:ln w="9525">
            <a:noFill/>
          </a:ln>
        </p:spPr>
        <p:txBody>
          <a:bodyPr lIns="90000" tIns="46800" rIns="90000" bIns="46800" anchor="b" anchorCtr="0">
            <a:normAutofit/>
          </a:bodyPr>
          <a:lstStyle>
            <a:lvl1pPr algn="l" defTabSz="685800" rtl="0" eaLnBrk="1" latinLnBrk="0" hangingPunct="1">
              <a:lnSpc>
                <a:spcPct val="120000"/>
              </a:lnSpc>
              <a:spcBef>
                <a:spcPct val="0"/>
              </a:spcBef>
              <a:buNone/>
              <a:defRPr sz="3600" kern="1200">
                <a:solidFill>
                  <a:srgbClr val="578B18"/>
                </a:solidFill>
                <a:latin typeface="+mj-lt"/>
                <a:ea typeface="+mj-ea"/>
                <a:cs typeface="+mj-cs"/>
              </a:defRPr>
            </a:lvl1pPr>
          </a:lstStyle>
          <a:p>
            <a:pPr defTabSz="685800">
              <a:buNone/>
            </a:pPr>
            <a:r>
              <a:rPr lang="zh-CN" altLang="en-US" sz="4800" b="1">
                <a:solidFill>
                  <a:schemeClr val="accent4">
                    <a:lumMod val="50000"/>
                  </a:schemeClr>
                </a:solidFill>
                <a:latin typeface="微软雅黑" panose="020B0503020204020204" charset="-122"/>
                <a:ea typeface="微软雅黑" panose="020B0503020204020204" charset="-122"/>
                <a:sym typeface="+mn-ea"/>
              </a:rPr>
              <a:t>变压器简介</a:t>
            </a:r>
            <a:endParaRPr lang="zh-CN" altLang="en-US" sz="4800" b="1" kern="1200" dirty="0">
              <a:solidFill>
                <a:srgbClr val="578B18"/>
              </a:solidFill>
              <a:latin typeface="微软雅黑" panose="020B0503020204020204" charset="-122"/>
              <a:ea typeface="微软雅黑" panose="020B0503020204020204" charset="-122"/>
              <a:cs typeface="+mj-cs"/>
              <a:sym typeface="黑体" panose="02010609060101010101" charset="-122"/>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marL="457200" indent="-457200">
              <a:buFont typeface="Wingdings" panose="05000000000000000000" charset="0"/>
              <a:buChar char="Ø"/>
            </a:pPr>
            <a:r>
              <a:rPr lang="en-US" altLang="zh-CN" sz="3200" b="0" spc="0" dirty="0">
                <a:solidFill>
                  <a:schemeClr val="accent4">
                    <a:lumMod val="50000"/>
                  </a:schemeClr>
                </a:solidFill>
                <a:latin typeface="Impact" panose="020B0806030902050204" pitchFamily="34" charset="0"/>
                <a:ea typeface="方正舒体" panose="02010601030101010101" pitchFamily="2" charset="-122"/>
                <a:cs typeface="+mn-cs"/>
              </a:rPr>
              <a:t>01</a:t>
            </a:r>
            <a:r>
              <a:rPr lang="en-US" altLang="zh-CN"/>
              <a:t> </a:t>
            </a:r>
            <a:r>
              <a:rPr lang="zh-CN" altLang="en-US">
                <a:solidFill>
                  <a:schemeClr val="accent4">
                    <a:lumMod val="50000"/>
                  </a:schemeClr>
                </a:solidFill>
                <a:latin typeface="微软雅黑" panose="020B0503020204020204" charset="-122"/>
                <a:ea typeface="微软雅黑" panose="020B0503020204020204" charset="-122"/>
                <a:sym typeface="+mn-ea"/>
              </a:rPr>
              <a:t>变压器简介</a:t>
            </a:r>
            <a:endParaRPr lang="en-US" altLang="zh-CN"/>
          </a:p>
        </p:txBody>
      </p:sp>
      <p:sp>
        <p:nvSpPr>
          <p:cNvPr id="3" name="内容占位符 2"/>
          <p:cNvSpPr>
            <a:spLocks noGrp="1"/>
          </p:cNvSpPr>
          <p:nvPr>
            <p:ph idx="1"/>
          </p:nvPr>
        </p:nvSpPr>
        <p:spPr>
          <a:xfrm>
            <a:off x="989965" y="1490345"/>
            <a:ext cx="10212705" cy="4759325"/>
          </a:xfrm>
        </p:spPr>
        <p:txBody>
          <a:bodyPr/>
          <a:p>
            <a:pPr>
              <a:buFont typeface="Wingdings" panose="05000000000000000000" charset="0"/>
              <a:buChar char="l"/>
            </a:pPr>
            <a:r>
              <a:rPr lang="zh-CN" altLang="en-US" b="1" dirty="0">
                <a:solidFill>
                  <a:schemeClr val="tx1">
                    <a:lumMod val="75000"/>
                    <a:lumOff val="25000"/>
                  </a:schemeClr>
                </a:solidFill>
                <a:sym typeface="+mn-ea"/>
              </a:rPr>
              <a:t>变压器的作用和用途：</a:t>
            </a:r>
            <a:endParaRPr lang="zh-CN" altLang="en-US" b="1" dirty="0">
              <a:solidFill>
                <a:schemeClr val="tx1">
                  <a:lumMod val="75000"/>
                  <a:lumOff val="25000"/>
                </a:schemeClr>
              </a:solidFill>
              <a:sym typeface="+mn-ea"/>
            </a:endParaRPr>
          </a:p>
          <a:p>
            <a:pPr marL="0" indent="0">
              <a:buFont typeface="Wingdings" panose="05000000000000000000" charset="0"/>
              <a:buNone/>
            </a:pPr>
            <a:r>
              <a:rPr lang="en-US" altLang="zh-CN" sz="1400" dirty="0">
                <a:solidFill>
                  <a:schemeClr val="tx1">
                    <a:lumMod val="75000"/>
                    <a:lumOff val="25000"/>
                  </a:schemeClr>
                </a:solidFill>
                <a:sym typeface="+mn-ea"/>
              </a:rPr>
              <a:t>      </a:t>
            </a:r>
            <a:r>
              <a:rPr lang="zh-CN" altLang="en-US" sz="1400" dirty="0">
                <a:solidFill>
                  <a:schemeClr val="tx1">
                    <a:lumMod val="75000"/>
                    <a:lumOff val="25000"/>
                  </a:schemeClr>
                </a:solidFill>
                <a:sym typeface="+mn-ea"/>
              </a:rPr>
              <a:t>变压器是一种交换电压传输电能的静止电气设备。它是靠电磁感应原理把某种频率的电压变换成同频率的另一种或多种数值不等（或相等）电压的功率传输装置。 在电力系统中，发电厂的电能要输送到很远的地方去，为了减少输送过程中的电能损耗，需要将电压升高再行输送。另一方 面，终端用户的电器设备的用电电压一般为</a:t>
            </a:r>
            <a:r>
              <a:rPr lang="en-US" altLang="zh-CN" sz="1400">
                <a:solidFill>
                  <a:schemeClr val="tx1">
                    <a:lumMod val="75000"/>
                    <a:lumOff val="25000"/>
                  </a:schemeClr>
                </a:solidFill>
                <a:sym typeface="+mn-ea"/>
              </a:rPr>
              <a:t>10KV</a:t>
            </a:r>
            <a:r>
              <a:rPr lang="zh-CN" altLang="en-US" sz="1400" dirty="0">
                <a:solidFill>
                  <a:schemeClr val="tx1">
                    <a:lumMod val="75000"/>
                    <a:lumOff val="25000"/>
                  </a:schemeClr>
                </a:solidFill>
                <a:sym typeface="+mn-ea"/>
              </a:rPr>
              <a:t>或</a:t>
            </a:r>
            <a:r>
              <a:rPr lang="en-US" altLang="zh-CN" sz="1400">
                <a:solidFill>
                  <a:schemeClr val="tx1">
                    <a:lumMod val="75000"/>
                    <a:lumOff val="25000"/>
                  </a:schemeClr>
                </a:solidFill>
                <a:sym typeface="+mn-ea"/>
              </a:rPr>
              <a:t>380</a:t>
            </a:r>
            <a:r>
              <a:rPr lang="zh-CN" altLang="en-US" sz="1400" dirty="0">
                <a:solidFill>
                  <a:schemeClr val="tx1">
                    <a:lumMod val="75000"/>
                    <a:lumOff val="25000"/>
                  </a:schemeClr>
                </a:solidFill>
                <a:sym typeface="+mn-ea"/>
              </a:rPr>
              <a:t>（</a:t>
            </a:r>
            <a:r>
              <a:rPr lang="en-US" altLang="zh-CN" sz="1400">
                <a:solidFill>
                  <a:schemeClr val="tx1">
                    <a:lumMod val="75000"/>
                    <a:lumOff val="25000"/>
                  </a:schemeClr>
                </a:solidFill>
                <a:sym typeface="+mn-ea"/>
              </a:rPr>
              <a:t>220</a:t>
            </a:r>
            <a:r>
              <a:rPr lang="zh-CN" altLang="en-US" sz="1400" dirty="0">
                <a:solidFill>
                  <a:schemeClr val="tx1">
                    <a:lumMod val="75000"/>
                    <a:lumOff val="25000"/>
                  </a:schemeClr>
                </a:solidFill>
                <a:sym typeface="+mn-ea"/>
              </a:rPr>
              <a:t>）</a:t>
            </a:r>
            <a:r>
              <a:rPr lang="en-US" altLang="zh-CN" sz="1400">
                <a:solidFill>
                  <a:schemeClr val="tx1">
                    <a:lumMod val="75000"/>
                    <a:lumOff val="25000"/>
                  </a:schemeClr>
                </a:solidFill>
                <a:sym typeface="+mn-ea"/>
              </a:rPr>
              <a:t>V</a:t>
            </a:r>
            <a:r>
              <a:rPr lang="zh-CN" altLang="en-US" sz="1400" dirty="0">
                <a:solidFill>
                  <a:schemeClr val="tx1">
                    <a:lumMod val="75000"/>
                    <a:lumOff val="25000"/>
                  </a:schemeClr>
                </a:solidFill>
                <a:sym typeface="+mn-ea"/>
              </a:rPr>
              <a:t>，故在用户端需用变压器将电压降为所需要的电压等级。</a:t>
            </a:r>
            <a:endParaRPr lang="zh-CN" altLang="en-US" sz="1400" dirty="0">
              <a:solidFill>
                <a:schemeClr val="tx1">
                  <a:lumMod val="75000"/>
                  <a:lumOff val="25000"/>
                </a:schemeClr>
              </a:solidFill>
              <a:sym typeface="+mn-ea"/>
            </a:endParaRPr>
          </a:p>
          <a:p>
            <a:pPr marL="0" indent="0">
              <a:buFont typeface="Wingdings" panose="05000000000000000000" charset="0"/>
              <a:buNone/>
            </a:pPr>
            <a:endParaRPr lang="zh-CN" altLang="en-US" sz="1400" dirty="0">
              <a:solidFill>
                <a:schemeClr val="tx1">
                  <a:lumMod val="75000"/>
                  <a:lumOff val="25000"/>
                </a:schemeClr>
              </a:solidFill>
              <a:sym typeface="+mn-ea"/>
            </a:endParaRPr>
          </a:p>
          <a:p>
            <a:pPr lvl="0">
              <a:buFont typeface="Wingdings" panose="05000000000000000000" charset="0"/>
              <a:buChar char="l"/>
            </a:pPr>
            <a:r>
              <a:rPr lang="zh-CN" altLang="en-US" b="1" dirty="0">
                <a:solidFill>
                  <a:schemeClr val="tx1">
                    <a:lumMod val="75000"/>
                    <a:lumOff val="25000"/>
                  </a:schemeClr>
                </a:solidFill>
                <a:sym typeface="Arial" panose="020B0604020202020204" pitchFamily="34" charset="0"/>
              </a:rPr>
              <a:t>变压器的基本原理：</a:t>
            </a:r>
            <a:endParaRPr lang="zh-CN" altLang="en-US" b="1" dirty="0">
              <a:solidFill>
                <a:schemeClr val="tx1">
                  <a:lumMod val="75000"/>
                  <a:lumOff val="25000"/>
                </a:schemeClr>
              </a:solidFill>
              <a:sym typeface="Arial" panose="020B0604020202020204" pitchFamily="34" charset="0"/>
            </a:endParaRPr>
          </a:p>
          <a:p>
            <a:pPr marL="0" lvl="0" indent="0">
              <a:buFont typeface="Wingdings" panose="05000000000000000000" charset="0"/>
              <a:buNone/>
            </a:pPr>
            <a:r>
              <a:rPr lang="en-US" altLang="zh-CN" sz="1400" dirty="0">
                <a:solidFill>
                  <a:schemeClr val="tx1">
                    <a:lumMod val="75000"/>
                    <a:lumOff val="25000"/>
                  </a:schemeClr>
                </a:solidFill>
                <a:sym typeface="+mn-ea"/>
              </a:rPr>
              <a:t>      </a:t>
            </a:r>
            <a:r>
              <a:rPr lang="zh-CN" altLang="en-US" sz="1400" dirty="0">
                <a:solidFill>
                  <a:schemeClr val="tx1">
                    <a:lumMod val="75000"/>
                    <a:lumOff val="25000"/>
                  </a:schemeClr>
                </a:solidFill>
                <a:sym typeface="+mn-ea"/>
              </a:rPr>
              <a:t>变压器是运用电磁感应定律工作的。在构成闭合回路的铁心上绕有一次绕组、二次绕组，当一次绕组加上交流电压时，铁心中产生交变磁通，交变磁通在一次、二次绕组中感应电动势，因为一次、二次侧绕组的匝数不同.所以一次、二次侧感应电动势的大小就不同，从而实现了变压的目的。</a:t>
            </a:r>
            <a:endParaRPr lang="en-US" altLang="zh-CN" b="1" dirty="0">
              <a:solidFill>
                <a:schemeClr val="tx1">
                  <a:lumMod val="75000"/>
                  <a:lumOff val="25000"/>
                </a:schemeClr>
              </a:solidFill>
              <a:sym typeface="+mn-ea"/>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 name="文本框 34"/>
          <p:cNvSpPr txBox="1"/>
          <p:nvPr>
            <p:custDataLst>
              <p:tags r:id="rId1"/>
            </p:custDataLst>
          </p:nvPr>
        </p:nvSpPr>
        <p:spPr>
          <a:xfrm>
            <a:off x="2725103" y="2242185"/>
            <a:ext cx="1773238" cy="1419225"/>
          </a:xfrm>
          <a:prstGeom prst="rect">
            <a:avLst/>
          </a:prstGeom>
          <a:noFill/>
        </p:spPr>
        <p:txBody>
          <a:bodyPr wrap="square" lIns="90000" tIns="46800" rIns="90000" bIns="46800" rtlCol="0">
            <a:normAutofit/>
          </a:bodyPr>
          <a:p>
            <a:pPr algn="ctr" defTabSz="685800">
              <a:defRPr/>
            </a:pPr>
            <a:r>
              <a:rPr lang="en-US" altLang="zh-CN" sz="8625" noProof="1" dirty="0">
                <a:solidFill>
                  <a:schemeClr val="accent4">
                    <a:lumMod val="50000"/>
                  </a:schemeClr>
                </a:solidFill>
                <a:latin typeface="Impact" panose="020B0806030902050204" pitchFamily="34" charset="0"/>
                <a:ea typeface="方正舒体" panose="02010601030101010101" pitchFamily="2" charset="-122"/>
                <a:cs typeface="+mn-cs"/>
                <a:sym typeface="+mn-ea"/>
              </a:rPr>
              <a:t>02</a:t>
            </a:r>
            <a:endParaRPr lang="en-US" altLang="zh-CN" sz="8625" noProof="1" dirty="0">
              <a:solidFill>
                <a:schemeClr val="accent4">
                  <a:lumMod val="50000"/>
                </a:schemeClr>
              </a:solidFill>
              <a:latin typeface="Impact" panose="020B0806030902050204" pitchFamily="34" charset="0"/>
              <a:ea typeface="方正舒体" panose="02010601030101010101" pitchFamily="2" charset="-122"/>
              <a:cs typeface="+mn-cs"/>
              <a:sym typeface="+mn-ea"/>
            </a:endParaRPr>
          </a:p>
        </p:txBody>
      </p:sp>
      <p:sp>
        <p:nvSpPr>
          <p:cNvPr id="58370" name="标题 4"/>
          <p:cNvSpPr>
            <a:spLocks noGrp="1"/>
          </p:cNvSpPr>
          <p:nvPr>
            <p:custDataLst>
              <p:tags r:id="rId2"/>
            </p:custDataLst>
          </p:nvPr>
        </p:nvSpPr>
        <p:spPr>
          <a:xfrm>
            <a:off x="4370388" y="2355850"/>
            <a:ext cx="3840162" cy="1073150"/>
          </a:xfrm>
          <a:prstGeom prst="rect">
            <a:avLst/>
          </a:prstGeom>
          <a:noFill/>
          <a:ln w="9525">
            <a:noFill/>
          </a:ln>
        </p:spPr>
        <p:txBody>
          <a:bodyPr lIns="90000" tIns="46800" rIns="90000" bIns="46800" anchor="b" anchorCtr="0">
            <a:normAutofit/>
          </a:bodyPr>
          <a:lstStyle>
            <a:lvl1pPr algn="l" defTabSz="685800" rtl="0" eaLnBrk="1" latinLnBrk="0" hangingPunct="1">
              <a:lnSpc>
                <a:spcPct val="120000"/>
              </a:lnSpc>
              <a:spcBef>
                <a:spcPct val="0"/>
              </a:spcBef>
              <a:buNone/>
              <a:defRPr sz="3600" kern="1200">
                <a:solidFill>
                  <a:srgbClr val="578B18"/>
                </a:solidFill>
                <a:latin typeface="+mj-lt"/>
                <a:ea typeface="+mj-ea"/>
                <a:cs typeface="+mj-cs"/>
              </a:defRPr>
            </a:lvl1pPr>
          </a:lstStyle>
          <a:p>
            <a:pPr defTabSz="685800">
              <a:buNone/>
            </a:pPr>
            <a:r>
              <a:rPr lang="zh-CN" altLang="en-US" sz="4800" b="1">
                <a:solidFill>
                  <a:schemeClr val="accent4">
                    <a:lumMod val="50000"/>
                  </a:schemeClr>
                </a:solidFill>
                <a:latin typeface="微软雅黑" panose="020B0503020204020204" charset="-122"/>
                <a:ea typeface="微软雅黑" panose="020B0503020204020204" charset="-122"/>
                <a:sym typeface="+mn-ea"/>
              </a:rPr>
              <a:t>变压器组成</a:t>
            </a:r>
            <a:endParaRPr lang="zh-CN" altLang="en-US" sz="4800" b="1" kern="1200" dirty="0">
              <a:solidFill>
                <a:srgbClr val="578B18"/>
              </a:solidFill>
              <a:latin typeface="微软雅黑" panose="020B0503020204020204" charset="-122"/>
              <a:ea typeface="微软雅黑" panose="020B0503020204020204" charset="-122"/>
              <a:cs typeface="+mj-cs"/>
              <a:sym typeface="黑体" panose="02010609060101010101" charset="-122"/>
            </a:endParaRPr>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marL="571500" indent="-571500">
              <a:buFont typeface="Wingdings" panose="05000000000000000000" charset="0"/>
              <a:buChar char="Ø"/>
            </a:pPr>
            <a:r>
              <a:rPr lang="en-US" altLang="zh-CN" b="0" spc="0" dirty="0">
                <a:solidFill>
                  <a:schemeClr val="accent4">
                    <a:lumMod val="50000"/>
                  </a:schemeClr>
                </a:solidFill>
                <a:latin typeface="Impact" panose="020B0806030902050204" pitchFamily="34" charset="0"/>
                <a:ea typeface="方正舒体" panose="02010601030101010101" pitchFamily="2" charset="-122"/>
                <a:cs typeface="+mn-cs"/>
                <a:sym typeface="+mn-ea"/>
              </a:rPr>
              <a:t>02</a:t>
            </a:r>
            <a:r>
              <a:rPr lang="en-US" altLang="zh-CN">
                <a:sym typeface="+mn-ea"/>
              </a:rPr>
              <a:t> </a:t>
            </a:r>
            <a:r>
              <a:rPr lang="zh-CN" altLang="en-US">
                <a:solidFill>
                  <a:schemeClr val="accent4">
                    <a:lumMod val="50000"/>
                  </a:schemeClr>
                </a:solidFill>
                <a:latin typeface="微软雅黑" panose="020B0503020204020204" charset="-122"/>
                <a:ea typeface="微软雅黑" panose="020B0503020204020204" charset="-122"/>
                <a:sym typeface="+mn-ea"/>
              </a:rPr>
              <a:t>变压器</a:t>
            </a:r>
            <a:r>
              <a:rPr lang="zh-CN" altLang="en-US" dirty="0">
                <a:solidFill>
                  <a:schemeClr val="accent4">
                    <a:lumMod val="50000"/>
                  </a:schemeClr>
                </a:solidFill>
                <a:latin typeface="微软雅黑" panose="020B0503020204020204" charset="-122"/>
                <a:ea typeface="微软雅黑" panose="020B0503020204020204" charset="-122"/>
                <a:sym typeface="黑体" panose="02010609060101010101" charset="-122"/>
              </a:rPr>
              <a:t>组成</a:t>
            </a:r>
            <a:endParaRPr lang="zh-CN" altLang="en-US" dirty="0">
              <a:solidFill>
                <a:schemeClr val="accent4">
                  <a:lumMod val="50000"/>
                </a:schemeClr>
              </a:solidFill>
              <a:latin typeface="微软雅黑" panose="020B0503020204020204" charset="-122"/>
              <a:ea typeface="微软雅黑" panose="020B0503020204020204" charset="-122"/>
              <a:sym typeface="黑体" panose="02010609060101010101" charset="-122"/>
            </a:endParaRPr>
          </a:p>
        </p:txBody>
      </p:sp>
      <p:sp>
        <p:nvSpPr>
          <p:cNvPr id="15" name="MH_SubTitle_1"/>
          <p:cNvSpPr/>
          <p:nvPr>
            <p:custDataLst>
              <p:tags r:id="rId1"/>
            </p:custDataLst>
          </p:nvPr>
        </p:nvSpPr>
        <p:spPr>
          <a:xfrm>
            <a:off x="4395470" y="1492568"/>
            <a:ext cx="1700213" cy="1695450"/>
          </a:xfrm>
          <a:custGeom>
            <a:avLst/>
            <a:gdLst>
              <a:gd name="connsiteX0" fmla="*/ 713459 w 1426918"/>
              <a:gd name="connsiteY0" fmla="*/ 0 h 1426918"/>
              <a:gd name="connsiteX1" fmla="*/ 713459 w 1426918"/>
              <a:gd name="connsiteY1" fmla="*/ 1 h 1426918"/>
              <a:gd name="connsiteX2" fmla="*/ 1426918 w 1426918"/>
              <a:gd name="connsiteY2" fmla="*/ 713460 h 1426918"/>
              <a:gd name="connsiteX3" fmla="*/ 1426918 w 1426918"/>
              <a:gd name="connsiteY3" fmla="*/ 1426918 h 1426918"/>
              <a:gd name="connsiteX4" fmla="*/ 713459 w 1426918"/>
              <a:gd name="connsiteY4" fmla="*/ 1426918 h 1426918"/>
              <a:gd name="connsiteX5" fmla="*/ 0 w 1426918"/>
              <a:gd name="connsiteY5" fmla="*/ 713459 h 1426918"/>
              <a:gd name="connsiteX6" fmla="*/ 713459 w 1426918"/>
              <a:gd name="connsiteY6" fmla="*/ 0 h 1426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6918" h="1426918">
                <a:moveTo>
                  <a:pt x="713459" y="0"/>
                </a:moveTo>
                <a:lnTo>
                  <a:pt x="713459" y="1"/>
                </a:lnTo>
                <a:cubicBezTo>
                  <a:pt x="1107492" y="1"/>
                  <a:pt x="1426918" y="319427"/>
                  <a:pt x="1426918" y="713460"/>
                </a:cubicBezTo>
                <a:lnTo>
                  <a:pt x="1426918" y="1426918"/>
                </a:lnTo>
                <a:lnTo>
                  <a:pt x="713459" y="1426918"/>
                </a:lnTo>
                <a:cubicBezTo>
                  <a:pt x="319426" y="1426918"/>
                  <a:pt x="0" y="1107492"/>
                  <a:pt x="0" y="713459"/>
                </a:cubicBezTo>
                <a:cubicBezTo>
                  <a:pt x="0" y="319426"/>
                  <a:pt x="319426" y="0"/>
                  <a:pt x="713459" y="0"/>
                </a:cubicBezTo>
                <a:close/>
              </a:path>
            </a:pathLst>
          </a:custGeom>
          <a:solidFill>
            <a:srgbClr val="578B18"/>
          </a:solidFill>
          <a:ln w="12700" cap="flat" cmpd="sng" algn="ctr">
            <a:noFill/>
            <a:prstDash val="solid"/>
            <a:miter lim="800000"/>
          </a:ln>
          <a:effectLst/>
        </p:spPr>
        <p:txBody>
          <a:bodyPr anchor="ctr"/>
          <a:p>
            <a:pPr algn="ctr" defTabSz="685800" fontAlgn="base">
              <a:defRPr/>
            </a:pPr>
            <a:r>
              <a:rPr lang="en-US" altLang="zh-CN" sz="4050" b="1" strike="noStrike" kern="0" noProof="1" dirty="0">
                <a:solidFill>
                  <a:schemeClr val="bg1"/>
                </a:solidFill>
                <a:latin typeface="Times New Roman" panose="02020603050405020304"/>
                <a:ea typeface="幼圆" panose="02010509060101010101" charset="-122"/>
                <a:cs typeface="+mn-cs"/>
              </a:rPr>
              <a:t>Oil Tank</a:t>
            </a:r>
            <a:endParaRPr lang="en-US" altLang="zh-CN" sz="4050" b="1" strike="noStrike" kern="0" noProof="1" dirty="0">
              <a:solidFill>
                <a:schemeClr val="bg1"/>
              </a:solidFill>
              <a:latin typeface="Times New Roman" panose="02020603050405020304"/>
              <a:ea typeface="幼圆" panose="02010509060101010101" charset="-122"/>
            </a:endParaRPr>
          </a:p>
        </p:txBody>
      </p:sp>
      <p:sp>
        <p:nvSpPr>
          <p:cNvPr id="5" name="MH_SubTitle_2"/>
          <p:cNvSpPr/>
          <p:nvPr>
            <p:custDataLst>
              <p:tags r:id="rId2"/>
            </p:custDataLst>
          </p:nvPr>
        </p:nvSpPr>
        <p:spPr>
          <a:xfrm>
            <a:off x="6092508" y="1492568"/>
            <a:ext cx="1701800" cy="1695450"/>
          </a:xfrm>
          <a:custGeom>
            <a:avLst/>
            <a:gdLst>
              <a:gd name="connsiteX0" fmla="*/ 713459 w 1426918"/>
              <a:gd name="connsiteY0" fmla="*/ 0 h 1426918"/>
              <a:gd name="connsiteX1" fmla="*/ 1426918 w 1426918"/>
              <a:gd name="connsiteY1" fmla="*/ 713459 h 1426918"/>
              <a:gd name="connsiteX2" fmla="*/ 1426917 w 1426918"/>
              <a:gd name="connsiteY2" fmla="*/ 713459 h 1426918"/>
              <a:gd name="connsiteX3" fmla="*/ 713458 w 1426918"/>
              <a:gd name="connsiteY3" fmla="*/ 1426918 h 1426918"/>
              <a:gd name="connsiteX4" fmla="*/ 0 w 1426918"/>
              <a:gd name="connsiteY4" fmla="*/ 1426918 h 1426918"/>
              <a:gd name="connsiteX5" fmla="*/ 0 w 1426918"/>
              <a:gd name="connsiteY5" fmla="*/ 713459 h 1426918"/>
              <a:gd name="connsiteX6" fmla="*/ 713459 w 1426918"/>
              <a:gd name="connsiteY6" fmla="*/ 0 h 1426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6918" h="1426918">
                <a:moveTo>
                  <a:pt x="713459" y="0"/>
                </a:moveTo>
                <a:cubicBezTo>
                  <a:pt x="1107492" y="0"/>
                  <a:pt x="1426918" y="319426"/>
                  <a:pt x="1426918" y="713459"/>
                </a:cubicBezTo>
                <a:lnTo>
                  <a:pt x="1426917" y="713459"/>
                </a:lnTo>
                <a:cubicBezTo>
                  <a:pt x="1426917" y="1107492"/>
                  <a:pt x="1107491" y="1426918"/>
                  <a:pt x="713458" y="1426918"/>
                </a:cubicBezTo>
                <a:lnTo>
                  <a:pt x="0" y="1426918"/>
                </a:lnTo>
                <a:lnTo>
                  <a:pt x="0" y="713459"/>
                </a:lnTo>
                <a:cubicBezTo>
                  <a:pt x="0" y="319426"/>
                  <a:pt x="319426" y="0"/>
                  <a:pt x="713459" y="0"/>
                </a:cubicBezTo>
                <a:close/>
              </a:path>
            </a:pathLst>
          </a:custGeom>
          <a:solidFill>
            <a:srgbClr val="BADA5C"/>
          </a:solidFill>
          <a:ln w="12700" cap="flat" cmpd="sng" algn="ctr">
            <a:noFill/>
            <a:prstDash val="solid"/>
            <a:miter lim="800000"/>
          </a:ln>
          <a:effectLst/>
        </p:spPr>
        <p:txBody>
          <a:bodyPr anchor="ctr"/>
          <a:p>
            <a:pPr algn="ctr" defTabSz="685800" fontAlgn="base">
              <a:defRPr/>
            </a:pPr>
            <a:r>
              <a:rPr lang="en-US" altLang="zh-CN" sz="4050" b="1" strike="noStrike" kern="0" noProof="1" dirty="0">
                <a:solidFill>
                  <a:schemeClr val="bg1"/>
                </a:solidFill>
                <a:latin typeface="Times New Roman" panose="02020603050405020304"/>
                <a:ea typeface="幼圆" panose="02010509060101010101" charset="-122"/>
                <a:cs typeface="+mn-cs"/>
              </a:rPr>
              <a:t>Coil</a:t>
            </a:r>
            <a:endParaRPr lang="en-US" altLang="zh-CN" sz="4050" b="1" strike="noStrike" kern="0" noProof="1" dirty="0">
              <a:solidFill>
                <a:schemeClr val="bg1"/>
              </a:solidFill>
              <a:latin typeface="Times New Roman" panose="02020603050405020304"/>
              <a:ea typeface="幼圆" panose="02010509060101010101" charset="-122"/>
            </a:endParaRPr>
          </a:p>
        </p:txBody>
      </p:sp>
      <p:sp>
        <p:nvSpPr>
          <p:cNvPr id="17" name="MH_SubTitle_3"/>
          <p:cNvSpPr/>
          <p:nvPr>
            <p:custDataLst>
              <p:tags r:id="rId3"/>
            </p:custDataLst>
          </p:nvPr>
        </p:nvSpPr>
        <p:spPr>
          <a:xfrm>
            <a:off x="4395470" y="3188018"/>
            <a:ext cx="1700213" cy="1695450"/>
          </a:xfrm>
          <a:custGeom>
            <a:avLst/>
            <a:gdLst>
              <a:gd name="connsiteX0" fmla="*/ 713460 w 1426918"/>
              <a:gd name="connsiteY0" fmla="*/ 0 h 1426918"/>
              <a:gd name="connsiteX1" fmla="*/ 1426918 w 1426918"/>
              <a:gd name="connsiteY1" fmla="*/ 0 h 1426918"/>
              <a:gd name="connsiteX2" fmla="*/ 1426918 w 1426918"/>
              <a:gd name="connsiteY2" fmla="*/ 713459 h 1426918"/>
              <a:gd name="connsiteX3" fmla="*/ 713459 w 1426918"/>
              <a:gd name="connsiteY3" fmla="*/ 1426918 h 1426918"/>
              <a:gd name="connsiteX4" fmla="*/ 0 w 1426918"/>
              <a:gd name="connsiteY4" fmla="*/ 713459 h 1426918"/>
              <a:gd name="connsiteX5" fmla="*/ 1 w 1426918"/>
              <a:gd name="connsiteY5" fmla="*/ 713459 h 1426918"/>
              <a:gd name="connsiteX6" fmla="*/ 713460 w 1426918"/>
              <a:gd name="connsiteY6" fmla="*/ 0 h 1426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6918" h="1426918">
                <a:moveTo>
                  <a:pt x="713460" y="0"/>
                </a:moveTo>
                <a:lnTo>
                  <a:pt x="1426918" y="0"/>
                </a:lnTo>
                <a:lnTo>
                  <a:pt x="1426918" y="713459"/>
                </a:lnTo>
                <a:cubicBezTo>
                  <a:pt x="1426918" y="1107492"/>
                  <a:pt x="1107492" y="1426918"/>
                  <a:pt x="713459" y="1426918"/>
                </a:cubicBezTo>
                <a:cubicBezTo>
                  <a:pt x="319426" y="1426918"/>
                  <a:pt x="0" y="1107492"/>
                  <a:pt x="0" y="713459"/>
                </a:cubicBezTo>
                <a:lnTo>
                  <a:pt x="1" y="713459"/>
                </a:lnTo>
                <a:cubicBezTo>
                  <a:pt x="1" y="319426"/>
                  <a:pt x="319427" y="0"/>
                  <a:pt x="713460" y="0"/>
                </a:cubicBezTo>
                <a:close/>
              </a:path>
            </a:pathLst>
          </a:custGeom>
          <a:solidFill>
            <a:srgbClr val="BADA5C"/>
          </a:solidFill>
          <a:ln w="12700" cap="flat" cmpd="sng" algn="ctr">
            <a:noFill/>
            <a:prstDash val="solid"/>
            <a:miter lim="800000"/>
          </a:ln>
          <a:effectLst/>
        </p:spPr>
        <p:txBody>
          <a:bodyPr anchor="ctr"/>
          <a:p>
            <a:pPr algn="ctr" defTabSz="685800" fontAlgn="base">
              <a:defRPr/>
            </a:pPr>
            <a:r>
              <a:rPr lang="en-US" altLang="zh-CN" sz="4050" b="1" strike="noStrike" kern="0" noProof="1" dirty="0">
                <a:solidFill>
                  <a:schemeClr val="bg1"/>
                </a:solidFill>
                <a:latin typeface="Times New Roman" panose="02020603050405020304"/>
                <a:ea typeface="幼圆" panose="02010509060101010101" charset="-122"/>
                <a:cs typeface="+mn-cs"/>
              </a:rPr>
              <a:t>Winding</a:t>
            </a:r>
            <a:endParaRPr lang="en-US" altLang="zh-CN" sz="4050" b="1" strike="noStrike" kern="0" noProof="1" dirty="0">
              <a:solidFill>
                <a:schemeClr val="bg1"/>
              </a:solidFill>
              <a:latin typeface="Times New Roman" panose="02020603050405020304"/>
              <a:ea typeface="幼圆" panose="02010509060101010101" charset="-122"/>
            </a:endParaRPr>
          </a:p>
        </p:txBody>
      </p:sp>
      <p:sp>
        <p:nvSpPr>
          <p:cNvPr id="18" name="MH_SubTitle_4"/>
          <p:cNvSpPr/>
          <p:nvPr>
            <p:custDataLst>
              <p:tags r:id="rId4"/>
            </p:custDataLst>
          </p:nvPr>
        </p:nvSpPr>
        <p:spPr>
          <a:xfrm>
            <a:off x="6095683" y="3188018"/>
            <a:ext cx="1700213" cy="1695450"/>
          </a:xfrm>
          <a:custGeom>
            <a:avLst/>
            <a:gdLst>
              <a:gd name="connsiteX0" fmla="*/ 0 w 1426918"/>
              <a:gd name="connsiteY0" fmla="*/ 0 h 1426918"/>
              <a:gd name="connsiteX1" fmla="*/ 713459 w 1426918"/>
              <a:gd name="connsiteY1" fmla="*/ 0 h 1426918"/>
              <a:gd name="connsiteX2" fmla="*/ 1426918 w 1426918"/>
              <a:gd name="connsiteY2" fmla="*/ 713459 h 1426918"/>
              <a:gd name="connsiteX3" fmla="*/ 713459 w 1426918"/>
              <a:gd name="connsiteY3" fmla="*/ 1426918 h 1426918"/>
              <a:gd name="connsiteX4" fmla="*/ 713459 w 1426918"/>
              <a:gd name="connsiteY4" fmla="*/ 1426917 h 1426918"/>
              <a:gd name="connsiteX5" fmla="*/ 0 w 1426918"/>
              <a:gd name="connsiteY5" fmla="*/ 713458 h 1426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26918" h="1426918">
                <a:moveTo>
                  <a:pt x="0" y="0"/>
                </a:moveTo>
                <a:lnTo>
                  <a:pt x="713459" y="0"/>
                </a:lnTo>
                <a:cubicBezTo>
                  <a:pt x="1107492" y="0"/>
                  <a:pt x="1426918" y="319426"/>
                  <a:pt x="1426918" y="713459"/>
                </a:cubicBezTo>
                <a:cubicBezTo>
                  <a:pt x="1426918" y="1107492"/>
                  <a:pt x="1107492" y="1426918"/>
                  <a:pt x="713459" y="1426918"/>
                </a:cubicBezTo>
                <a:lnTo>
                  <a:pt x="713459" y="1426917"/>
                </a:lnTo>
                <a:cubicBezTo>
                  <a:pt x="319426" y="1426917"/>
                  <a:pt x="0" y="1107491"/>
                  <a:pt x="0" y="713458"/>
                </a:cubicBezTo>
                <a:close/>
              </a:path>
            </a:pathLst>
          </a:custGeom>
          <a:solidFill>
            <a:srgbClr val="578B18"/>
          </a:solidFill>
          <a:ln w="12700" cap="flat" cmpd="sng" algn="ctr">
            <a:noFill/>
            <a:prstDash val="solid"/>
            <a:miter lim="800000"/>
          </a:ln>
          <a:effectLst/>
        </p:spPr>
        <p:txBody>
          <a:bodyPr anchor="ctr"/>
          <a:p>
            <a:pPr algn="ctr" defTabSz="685800" fontAlgn="base">
              <a:defRPr/>
            </a:pPr>
            <a:r>
              <a:rPr lang="en-US" altLang="zh-CN" sz="4050" b="1" strike="noStrike" kern="0" noProof="1" dirty="0">
                <a:solidFill>
                  <a:schemeClr val="bg1"/>
                </a:solidFill>
                <a:latin typeface="Times New Roman" panose="02020603050405020304"/>
                <a:ea typeface="幼圆" panose="02010509060101010101" charset="-122"/>
                <a:cs typeface="+mn-cs"/>
              </a:rPr>
              <a:t>Radiator</a:t>
            </a:r>
            <a:endParaRPr lang="en-US" altLang="zh-CN" sz="4050" b="1" strike="noStrike" kern="0" noProof="1" dirty="0">
              <a:solidFill>
                <a:schemeClr val="bg1"/>
              </a:solidFill>
              <a:latin typeface="Times New Roman" panose="02020603050405020304"/>
              <a:ea typeface="幼圆" panose="02010509060101010101" charset="-122"/>
            </a:endParaRPr>
          </a:p>
        </p:txBody>
      </p:sp>
      <p:grpSp>
        <p:nvGrpSpPr>
          <p:cNvPr id="50181" name="组合 13"/>
          <p:cNvGrpSpPr/>
          <p:nvPr/>
        </p:nvGrpSpPr>
        <p:grpSpPr>
          <a:xfrm>
            <a:off x="1365250" y="1637030"/>
            <a:ext cx="2931795" cy="1349607"/>
            <a:chOff x="260999" y="1969293"/>
            <a:chExt cx="2456146" cy="1349499"/>
          </a:xfrm>
        </p:grpSpPr>
        <p:sp>
          <p:nvSpPr>
            <p:cNvPr id="50182" name="文本框 9"/>
            <p:cNvSpPr txBox="1"/>
            <p:nvPr>
              <p:custDataLst>
                <p:tags r:id="rId5"/>
              </p:custDataLst>
            </p:nvPr>
          </p:nvSpPr>
          <p:spPr>
            <a:xfrm>
              <a:off x="260999" y="2365733"/>
              <a:ext cx="2456146" cy="953059"/>
            </a:xfrm>
            <a:prstGeom prst="rect">
              <a:avLst/>
            </a:prstGeom>
            <a:noFill/>
            <a:ln w="9525">
              <a:noFill/>
            </a:ln>
          </p:spPr>
          <p:txBody>
            <a:bodyPr wrap="square" anchor="t" anchorCtr="0">
              <a:spAutoFit/>
            </a:bodyPr>
            <a:p>
              <a:pPr lvl="0" algn="r">
                <a:buClrTx/>
                <a:buSzTx/>
                <a:buFontTx/>
              </a:pPr>
              <a:r>
                <a:rPr lang="zh-CN" altLang="en-US" sz="1400" dirty="0">
                  <a:solidFill>
                    <a:srgbClr val="595959"/>
                  </a:solidFill>
                  <a:latin typeface="微软雅黑" panose="020B0503020204020204" charset="-122"/>
                  <a:ea typeface="微软雅黑" panose="020B0503020204020204" charset="-122"/>
                  <a:cs typeface="微软雅黑" panose="020B0503020204020204" charset="-122"/>
                  <a:sym typeface="黑体" panose="02010609060101010101" charset="-122"/>
                </a:rPr>
                <a:t>装绕组、铁芯绝缘油。即油浸式变压器的外壳，用于散热，保护器身（变压器的器身放在油箱内），箱中有用来绝缘的变压器油。</a:t>
              </a:r>
              <a:endParaRPr lang="zh-CN" altLang="en-US" sz="1400" dirty="0">
                <a:solidFill>
                  <a:srgbClr val="595959"/>
                </a:solidFill>
                <a:latin typeface="微软雅黑" panose="020B0503020204020204" charset="-122"/>
                <a:ea typeface="微软雅黑" panose="020B0503020204020204" charset="-122"/>
                <a:cs typeface="微软雅黑" panose="020B0503020204020204" charset="-122"/>
                <a:sym typeface="黑体" panose="02010609060101010101" charset="-122"/>
              </a:endParaRPr>
            </a:p>
          </p:txBody>
        </p:sp>
        <p:sp>
          <p:nvSpPr>
            <p:cNvPr id="50183" name="文本框 10"/>
            <p:cNvSpPr txBox="1"/>
            <p:nvPr>
              <p:custDataLst>
                <p:tags r:id="rId6"/>
              </p:custDataLst>
            </p:nvPr>
          </p:nvSpPr>
          <p:spPr>
            <a:xfrm>
              <a:off x="1496693" y="1969293"/>
              <a:ext cx="1220452" cy="398748"/>
            </a:xfrm>
            <a:prstGeom prst="rect">
              <a:avLst/>
            </a:prstGeom>
            <a:noFill/>
            <a:ln w="9525">
              <a:noFill/>
            </a:ln>
          </p:spPr>
          <p:txBody>
            <a:bodyPr wrap="square" anchor="t" anchorCtr="0">
              <a:spAutoFit/>
            </a:bodyPr>
            <a:p>
              <a:pPr algn="r"/>
              <a:r>
                <a:rPr lang="zh-CN" altLang="da-DK" sz="2000" b="1" dirty="0">
                  <a:latin typeface="微软雅黑" panose="020B0503020204020204" charset="-122"/>
                  <a:ea typeface="微软雅黑" panose="020B0503020204020204" charset="-122"/>
                </a:rPr>
                <a:t>油箱</a:t>
              </a:r>
              <a:endParaRPr lang="zh-CN" altLang="da-DK" sz="2000" b="1" dirty="0">
                <a:latin typeface="微软雅黑" panose="020B0503020204020204" charset="-122"/>
                <a:ea typeface="微软雅黑" panose="020B0503020204020204" charset="-122"/>
              </a:endParaRPr>
            </a:p>
          </p:txBody>
        </p:sp>
      </p:grpSp>
      <p:grpSp>
        <p:nvGrpSpPr>
          <p:cNvPr id="50184" name="组合 12"/>
          <p:cNvGrpSpPr/>
          <p:nvPr/>
        </p:nvGrpSpPr>
        <p:grpSpPr>
          <a:xfrm>
            <a:off x="1790383" y="3742055"/>
            <a:ext cx="2506662" cy="1565343"/>
            <a:chOff x="211592" y="4074710"/>
            <a:chExt cx="2505553" cy="1565434"/>
          </a:xfrm>
        </p:grpSpPr>
        <p:sp>
          <p:nvSpPr>
            <p:cNvPr id="50185" name="文本框 4"/>
            <p:cNvSpPr txBox="1"/>
            <p:nvPr>
              <p:custDataLst>
                <p:tags r:id="rId7"/>
              </p:custDataLst>
            </p:nvPr>
          </p:nvSpPr>
          <p:spPr>
            <a:xfrm>
              <a:off x="211592" y="4471676"/>
              <a:ext cx="2505553" cy="1168468"/>
            </a:xfrm>
            <a:prstGeom prst="rect">
              <a:avLst/>
            </a:prstGeom>
            <a:noFill/>
            <a:ln w="9525">
              <a:noFill/>
            </a:ln>
          </p:spPr>
          <p:txBody>
            <a:bodyPr wrap="square" anchor="t" anchorCtr="0">
              <a:spAutoFit/>
            </a:bodyPr>
            <a:p>
              <a:pPr lvl="0" algn="r">
                <a:buClrTx/>
                <a:buSzTx/>
                <a:buFontTx/>
              </a:pPr>
              <a:r>
                <a:rPr lang="zh-CN" altLang="en-US" sz="1400" dirty="0">
                  <a:solidFill>
                    <a:srgbClr val="595959"/>
                  </a:solidFill>
                  <a:latin typeface="微软雅黑" panose="020B0503020204020204" charset="-122"/>
                  <a:ea typeface="微软雅黑" panose="020B0503020204020204" charset="-122"/>
                  <a:cs typeface="微软雅黑" panose="020B0503020204020204" charset="-122"/>
                  <a:sym typeface="黑体" panose="02010609060101010101" charset="-122"/>
                </a:rPr>
                <a:t>绕组产生磁通，感应磁通产生电流。绕组是变压器的电路部分，</a:t>
              </a:r>
              <a:r>
                <a:rPr lang="zh-CN" altLang="en-US" sz="1400" dirty="0">
                  <a:solidFill>
                    <a:srgbClr val="FF0000"/>
                  </a:solidFill>
                  <a:latin typeface="微软雅黑" panose="020B0503020204020204" charset="-122"/>
                  <a:ea typeface="微软雅黑" panose="020B0503020204020204" charset="-122"/>
                  <a:cs typeface="微软雅黑" panose="020B0503020204020204" charset="-122"/>
                  <a:sym typeface="黑体" panose="02010609060101010101" charset="-122"/>
                </a:rPr>
                <a:t>用绝缘铜线或铝线绕制而成 </a:t>
              </a:r>
              <a:r>
                <a:rPr lang="zh-CN" altLang="en-US" sz="1400" dirty="0">
                  <a:solidFill>
                    <a:srgbClr val="595959"/>
                  </a:solidFill>
                  <a:latin typeface="微软雅黑" panose="020B0503020204020204" charset="-122"/>
                  <a:ea typeface="微软雅黑" panose="020B0503020204020204" charset="-122"/>
                  <a:cs typeface="微软雅黑" panose="020B0503020204020204" charset="-122"/>
                  <a:sym typeface="黑体" panose="02010609060101010101" charset="-122"/>
                </a:rPr>
                <a:t>。</a:t>
              </a:r>
              <a:r>
                <a:rPr lang="zh-CN" altLang="en-US" sz="1400" dirty="0">
                  <a:solidFill>
                    <a:srgbClr val="595959"/>
                  </a:solidFill>
                  <a:latin typeface="微软雅黑" panose="020B0503020204020204" charset="-122"/>
                  <a:ea typeface="微软雅黑" panose="020B0503020204020204" charset="-122"/>
                  <a:cs typeface="微软雅黑" panose="020B0503020204020204" charset="-122"/>
                  <a:sym typeface="黑体" panose="02010609060101010101" charset="-122"/>
                </a:rPr>
                <a:t>绕组的作用是电流的载体，产生磁通和感应电动势。</a:t>
              </a:r>
              <a:endParaRPr lang="zh-CN" altLang="en-US" sz="1400" dirty="0">
                <a:solidFill>
                  <a:srgbClr val="595959"/>
                </a:solidFill>
                <a:latin typeface="微软雅黑" panose="020B0503020204020204" charset="-122"/>
                <a:ea typeface="微软雅黑" panose="020B0503020204020204" charset="-122"/>
                <a:cs typeface="微软雅黑" panose="020B0503020204020204" charset="-122"/>
                <a:sym typeface="黑体" panose="02010609060101010101" charset="-122"/>
              </a:endParaRPr>
            </a:p>
          </p:txBody>
        </p:sp>
        <p:sp>
          <p:nvSpPr>
            <p:cNvPr id="50186" name="文本框 2"/>
            <p:cNvSpPr txBox="1"/>
            <p:nvPr>
              <p:custDataLst>
                <p:tags r:id="rId8"/>
              </p:custDataLst>
            </p:nvPr>
          </p:nvSpPr>
          <p:spPr>
            <a:xfrm>
              <a:off x="1600237" y="4074710"/>
              <a:ext cx="1116908" cy="398803"/>
            </a:xfrm>
            <a:prstGeom prst="rect">
              <a:avLst/>
            </a:prstGeom>
            <a:noFill/>
            <a:ln w="9525">
              <a:noFill/>
            </a:ln>
          </p:spPr>
          <p:txBody>
            <a:bodyPr wrap="square" anchor="t" anchorCtr="0">
              <a:spAutoFit/>
            </a:bodyPr>
            <a:p>
              <a:pPr algn="r"/>
              <a:r>
                <a:rPr lang="zh-CN" altLang="da-DK" sz="2000" b="1" dirty="0">
                  <a:latin typeface="微软雅黑" panose="020B0503020204020204" charset="-122"/>
                  <a:ea typeface="微软雅黑" panose="020B0503020204020204" charset="-122"/>
                </a:rPr>
                <a:t>绕组</a:t>
              </a:r>
              <a:endParaRPr lang="zh-CN" altLang="da-DK" sz="2000" b="1" dirty="0">
                <a:latin typeface="微软雅黑" panose="020B0503020204020204" charset="-122"/>
                <a:ea typeface="微软雅黑" panose="020B0503020204020204" charset="-122"/>
              </a:endParaRPr>
            </a:p>
          </p:txBody>
        </p:sp>
      </p:grpSp>
      <p:grpSp>
        <p:nvGrpSpPr>
          <p:cNvPr id="50190" name="组合 8"/>
          <p:cNvGrpSpPr/>
          <p:nvPr/>
        </p:nvGrpSpPr>
        <p:grpSpPr>
          <a:xfrm>
            <a:off x="7794625" y="1637030"/>
            <a:ext cx="3463290" cy="1995928"/>
            <a:chOff x="6214511" y="1936333"/>
            <a:chExt cx="2456146" cy="1996317"/>
          </a:xfrm>
        </p:grpSpPr>
        <p:sp>
          <p:nvSpPr>
            <p:cNvPr id="50191" name="文本框 21"/>
            <p:cNvSpPr txBox="1"/>
            <p:nvPr>
              <p:custDataLst>
                <p:tags r:id="rId9"/>
              </p:custDataLst>
            </p:nvPr>
          </p:nvSpPr>
          <p:spPr>
            <a:xfrm>
              <a:off x="6214511" y="2332773"/>
              <a:ext cx="2456146" cy="1599877"/>
            </a:xfrm>
            <a:prstGeom prst="rect">
              <a:avLst/>
            </a:prstGeom>
            <a:noFill/>
            <a:ln w="9525">
              <a:noFill/>
            </a:ln>
          </p:spPr>
          <p:txBody>
            <a:bodyPr wrap="square" anchor="t" anchorCtr="0">
              <a:spAutoFit/>
            </a:bodyPr>
            <a:p>
              <a:pPr lvl="0" algn="l">
                <a:buClrTx/>
                <a:buSzTx/>
                <a:buFontTx/>
              </a:pPr>
              <a:r>
                <a:rPr lang="zh-CN" altLang="en-US" sz="1400" dirty="0">
                  <a:solidFill>
                    <a:srgbClr val="595959"/>
                  </a:solidFill>
                  <a:latin typeface="微软雅黑" panose="020B0503020204020204" charset="-122"/>
                  <a:ea typeface="微软雅黑" panose="020B0503020204020204" charset="-122"/>
                  <a:cs typeface="微软雅黑" panose="020B0503020204020204" charset="-122"/>
                  <a:sym typeface="黑体" panose="02010609060101010101" charset="-122"/>
                </a:rPr>
                <a:t>铁心是变压器磁路的主体，铁心分为铁心柱和铁轭，铁心柱上套装绕组，铁轭的作用是使磁路闭合。为减少铁心内的磁滞损耗和涡流损耗，提高铁心导磁能力，铁心采用含硅量约为5%，厚度为0.35mm或0.5mm，</a:t>
              </a:r>
              <a:r>
                <a:rPr lang="zh-CN" altLang="en-US" sz="1400" dirty="0">
                  <a:solidFill>
                    <a:srgbClr val="FF0000"/>
                  </a:solidFill>
                  <a:latin typeface="微软雅黑" panose="020B0503020204020204" charset="-122"/>
                  <a:ea typeface="微软雅黑" panose="020B0503020204020204" charset="-122"/>
                  <a:cs typeface="微软雅黑" panose="020B0503020204020204" charset="-122"/>
                  <a:sym typeface="黑体" panose="02010609060101010101" charset="-122"/>
                </a:rPr>
                <a:t>两面涂绝缘漆或氧化处理的硅钢片叠装而成</a:t>
              </a:r>
              <a:r>
                <a:rPr lang="zh-CN" altLang="en-US" sz="1400" dirty="0">
                  <a:solidFill>
                    <a:srgbClr val="FF0000"/>
                  </a:solidFill>
                  <a:latin typeface="微软雅黑" panose="020B0503020204020204" charset="-122"/>
                  <a:ea typeface="微软雅黑" panose="020B0503020204020204" charset="-122"/>
                  <a:cs typeface="微软雅黑" panose="020B0503020204020204" charset="-122"/>
                  <a:sym typeface="黑体" panose="02010609060101010101" charset="-122"/>
                </a:rPr>
                <a:t>，</a:t>
              </a:r>
              <a:r>
                <a:rPr lang="zh-CN" altLang="en-US" sz="1400" dirty="0">
                  <a:solidFill>
                    <a:srgbClr val="FF0000"/>
                  </a:solidFill>
                  <a:latin typeface="微软雅黑" panose="020B0503020204020204" charset="-122"/>
                  <a:ea typeface="微软雅黑" panose="020B0503020204020204" charset="-122"/>
                  <a:cs typeface="微软雅黑" panose="020B0503020204020204" charset="-122"/>
                  <a:sym typeface="黑体" panose="02010609060101010101" charset="-122"/>
                </a:rPr>
                <a:t>非晶合金</a:t>
              </a:r>
              <a:r>
                <a:rPr lang="zh-CN" altLang="en-US" sz="1400" dirty="0">
                  <a:solidFill>
                    <a:srgbClr val="FF0000"/>
                  </a:solidFill>
                  <a:latin typeface="微软雅黑" panose="020B0503020204020204" charset="-122"/>
                  <a:ea typeface="微软雅黑" panose="020B0503020204020204" charset="-122"/>
                  <a:cs typeface="微软雅黑" panose="020B0503020204020204" charset="-122"/>
                  <a:sym typeface="黑体" panose="02010609060101010101" charset="-122"/>
                </a:rPr>
                <a:t>。</a:t>
              </a:r>
              <a:endParaRPr lang="zh-CN" altLang="en-US" sz="1400" dirty="0">
                <a:solidFill>
                  <a:srgbClr val="FF0000"/>
                </a:solidFill>
                <a:latin typeface="微软雅黑" panose="020B0503020204020204" charset="-122"/>
                <a:ea typeface="微软雅黑" panose="020B0503020204020204" charset="-122"/>
                <a:cs typeface="微软雅黑" panose="020B0503020204020204" charset="-122"/>
                <a:sym typeface="黑体" panose="02010609060101010101" charset="-122"/>
              </a:endParaRPr>
            </a:p>
          </p:txBody>
        </p:sp>
        <p:sp>
          <p:nvSpPr>
            <p:cNvPr id="50192" name="文本框 22"/>
            <p:cNvSpPr txBox="1"/>
            <p:nvPr>
              <p:custDataLst>
                <p:tags r:id="rId10"/>
              </p:custDataLst>
            </p:nvPr>
          </p:nvSpPr>
          <p:spPr>
            <a:xfrm>
              <a:off x="6214511" y="1936333"/>
              <a:ext cx="1220452" cy="398858"/>
            </a:xfrm>
            <a:prstGeom prst="rect">
              <a:avLst/>
            </a:prstGeom>
            <a:noFill/>
            <a:ln w="9525">
              <a:noFill/>
            </a:ln>
          </p:spPr>
          <p:txBody>
            <a:bodyPr wrap="square" anchor="t" anchorCtr="0">
              <a:spAutoFit/>
            </a:bodyPr>
            <a:p>
              <a:r>
                <a:rPr lang="zh-CN" altLang="da-DK" sz="2000" b="1" dirty="0">
                  <a:latin typeface="微软雅黑" panose="020B0503020204020204" charset="-122"/>
                  <a:ea typeface="微软雅黑" panose="020B0503020204020204" charset="-122"/>
                </a:rPr>
                <a:t>铁芯</a:t>
              </a:r>
              <a:endParaRPr lang="zh-CN" altLang="da-DK" sz="2000" b="1" dirty="0">
                <a:latin typeface="微软雅黑" panose="020B0503020204020204" charset="-122"/>
                <a:ea typeface="微软雅黑" panose="020B0503020204020204" charset="-122"/>
              </a:endParaRPr>
            </a:p>
          </p:txBody>
        </p:sp>
      </p:grpSp>
      <p:grpSp>
        <p:nvGrpSpPr>
          <p:cNvPr id="50193" name="组合 11"/>
          <p:cNvGrpSpPr/>
          <p:nvPr/>
        </p:nvGrpSpPr>
        <p:grpSpPr>
          <a:xfrm>
            <a:off x="7864158" y="3837940"/>
            <a:ext cx="2506662" cy="704336"/>
            <a:chOff x="6214511" y="4041750"/>
            <a:chExt cx="2505553" cy="703158"/>
          </a:xfrm>
        </p:grpSpPr>
        <p:sp>
          <p:nvSpPr>
            <p:cNvPr id="50194" name="文本框 23"/>
            <p:cNvSpPr txBox="1"/>
            <p:nvPr>
              <p:custDataLst>
                <p:tags r:id="rId11"/>
              </p:custDataLst>
            </p:nvPr>
          </p:nvSpPr>
          <p:spPr>
            <a:xfrm>
              <a:off x="6214511" y="4438716"/>
              <a:ext cx="2505553" cy="306192"/>
            </a:xfrm>
            <a:prstGeom prst="rect">
              <a:avLst/>
            </a:prstGeom>
            <a:noFill/>
            <a:ln w="9525">
              <a:noFill/>
            </a:ln>
          </p:spPr>
          <p:txBody>
            <a:bodyPr wrap="square" anchor="t" anchorCtr="0">
              <a:spAutoFit/>
            </a:bodyPr>
            <a:p>
              <a:pPr lvl="0" algn="r">
                <a:buClrTx/>
                <a:buSzTx/>
                <a:buFontTx/>
              </a:pPr>
              <a:r>
                <a:rPr lang="zh-CN" altLang="en-US" sz="1400" dirty="0">
                  <a:solidFill>
                    <a:srgbClr val="595959"/>
                  </a:solidFill>
                  <a:latin typeface="微软雅黑" panose="020B0503020204020204" charset="-122"/>
                  <a:ea typeface="微软雅黑" panose="020B0503020204020204" charset="-122"/>
                  <a:cs typeface="微软雅黑" panose="020B0503020204020204" charset="-122"/>
                  <a:sym typeface="黑体" panose="02010609060101010101" charset="-122"/>
                </a:rPr>
                <a:t>加快散发变电产生的热量。</a:t>
              </a:r>
              <a:endParaRPr lang="zh-CN" altLang="en-US" sz="1400" dirty="0">
                <a:solidFill>
                  <a:srgbClr val="595959"/>
                </a:solidFill>
                <a:latin typeface="微软雅黑" panose="020B0503020204020204" charset="-122"/>
                <a:ea typeface="微软雅黑" panose="020B0503020204020204" charset="-122"/>
                <a:cs typeface="微软雅黑" panose="020B0503020204020204" charset="-122"/>
                <a:sym typeface="黑体" panose="02010609060101010101" charset="-122"/>
              </a:endParaRPr>
            </a:p>
          </p:txBody>
        </p:sp>
        <p:sp>
          <p:nvSpPr>
            <p:cNvPr id="50195" name="文本框 24"/>
            <p:cNvSpPr txBox="1"/>
            <p:nvPr>
              <p:custDataLst>
                <p:tags r:id="rId12"/>
              </p:custDataLst>
            </p:nvPr>
          </p:nvSpPr>
          <p:spPr>
            <a:xfrm>
              <a:off x="6214511" y="4041750"/>
              <a:ext cx="1116908" cy="398113"/>
            </a:xfrm>
            <a:prstGeom prst="rect">
              <a:avLst/>
            </a:prstGeom>
            <a:noFill/>
            <a:ln w="9525">
              <a:noFill/>
            </a:ln>
          </p:spPr>
          <p:txBody>
            <a:bodyPr wrap="square" anchor="t" anchorCtr="0">
              <a:spAutoFit/>
            </a:bodyPr>
            <a:p>
              <a:r>
                <a:rPr lang="zh-CN" altLang="da-DK" sz="2000" b="1" dirty="0">
                  <a:latin typeface="微软雅黑" panose="020B0503020204020204" charset="-122"/>
                  <a:ea typeface="微软雅黑" panose="020B0503020204020204" charset="-122"/>
                </a:rPr>
                <a:t>散热器</a:t>
              </a:r>
              <a:endParaRPr lang="zh-CN" altLang="da-DK" sz="2000" b="1" dirty="0">
                <a:latin typeface="微软雅黑" panose="020B0503020204020204" charset="-122"/>
                <a:ea typeface="微软雅黑" panose="020B0503020204020204" charset="-122"/>
              </a:endParaRPr>
            </a:p>
          </p:txBody>
        </p:sp>
      </p:grpSp>
    </p:spTree>
    <p:custDataLst>
      <p:tags r:id="rId1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marL="571500" indent="-571500">
              <a:buFont typeface="Wingdings" panose="05000000000000000000" charset="0"/>
              <a:buChar char="Ø"/>
            </a:pPr>
            <a:r>
              <a:rPr lang="en-US" altLang="zh-CN" b="0" spc="0" dirty="0">
                <a:solidFill>
                  <a:schemeClr val="accent4">
                    <a:lumMod val="50000"/>
                  </a:schemeClr>
                </a:solidFill>
                <a:latin typeface="Impact" panose="020B0806030902050204" pitchFamily="34" charset="0"/>
                <a:ea typeface="方正舒体" panose="02010601030101010101" pitchFamily="2" charset="-122"/>
                <a:cs typeface="+mn-cs"/>
                <a:sym typeface="+mn-ea"/>
              </a:rPr>
              <a:t>02</a:t>
            </a:r>
            <a:r>
              <a:rPr lang="en-US" altLang="zh-CN">
                <a:sym typeface="+mn-ea"/>
              </a:rPr>
              <a:t> </a:t>
            </a:r>
            <a:r>
              <a:rPr lang="zh-CN" altLang="en-US">
                <a:solidFill>
                  <a:schemeClr val="accent4">
                    <a:lumMod val="50000"/>
                  </a:schemeClr>
                </a:solidFill>
                <a:latin typeface="微软雅黑" panose="020B0503020204020204" charset="-122"/>
                <a:ea typeface="微软雅黑" panose="020B0503020204020204" charset="-122"/>
                <a:sym typeface="+mn-ea"/>
              </a:rPr>
              <a:t>变压器</a:t>
            </a:r>
            <a:r>
              <a:rPr lang="zh-CN" altLang="en-US" dirty="0">
                <a:solidFill>
                  <a:schemeClr val="accent4">
                    <a:lumMod val="50000"/>
                  </a:schemeClr>
                </a:solidFill>
                <a:latin typeface="微软雅黑" panose="020B0503020204020204" charset="-122"/>
                <a:ea typeface="微软雅黑" panose="020B0503020204020204" charset="-122"/>
                <a:sym typeface="黑体" panose="02010609060101010101" charset="-122"/>
              </a:rPr>
              <a:t>组成</a:t>
            </a:r>
            <a:endParaRPr lang="zh-CN" altLang="en-US"/>
          </a:p>
        </p:txBody>
      </p:sp>
      <p:sp>
        <p:nvSpPr>
          <p:cNvPr id="51201" name="MH_SubTitle_1"/>
          <p:cNvSpPr/>
          <p:nvPr>
            <p:custDataLst>
              <p:tags r:id="rId1"/>
            </p:custDataLst>
          </p:nvPr>
        </p:nvSpPr>
        <p:spPr>
          <a:xfrm>
            <a:off x="4346575" y="1574483"/>
            <a:ext cx="1700213" cy="1695450"/>
          </a:xfrm>
          <a:custGeom>
            <a:avLst/>
            <a:gdLst>
              <a:gd name="txL" fmla="*/ 0 w 1426918"/>
              <a:gd name="txT" fmla="*/ 0 h 1426918"/>
              <a:gd name="txR" fmla="*/ 1426918 w 1426918"/>
              <a:gd name="txB" fmla="*/ 1426918 h 1426918"/>
            </a:gdLst>
            <a:ahLst/>
            <a:cxnLst>
              <a:cxn ang="0">
                <a:pos x="850106" y="0"/>
              </a:cxn>
              <a:cxn ang="0">
                <a:pos x="850106" y="1"/>
              </a:cxn>
              <a:cxn ang="0">
                <a:pos x="1700212" y="847726"/>
              </a:cxn>
              <a:cxn ang="0">
                <a:pos x="1700212" y="1695450"/>
              </a:cxn>
              <a:cxn ang="0">
                <a:pos x="850106" y="1695450"/>
              </a:cxn>
              <a:cxn ang="0">
                <a:pos x="0" y="847725"/>
              </a:cxn>
              <a:cxn ang="0">
                <a:pos x="850106" y="0"/>
              </a:cxn>
            </a:cxnLst>
            <a:rect l="txL" t="txT" r="txR" b="txB"/>
            <a:pathLst>
              <a:path w="1426918" h="1426918">
                <a:moveTo>
                  <a:pt x="713459" y="0"/>
                </a:moveTo>
                <a:lnTo>
                  <a:pt x="713459" y="1"/>
                </a:lnTo>
                <a:cubicBezTo>
                  <a:pt x="1107492" y="1"/>
                  <a:pt x="1426918" y="319427"/>
                  <a:pt x="1426918" y="713460"/>
                </a:cubicBezTo>
                <a:lnTo>
                  <a:pt x="1426918" y="1426918"/>
                </a:lnTo>
                <a:lnTo>
                  <a:pt x="713459" y="1426918"/>
                </a:lnTo>
                <a:cubicBezTo>
                  <a:pt x="319426" y="1426918"/>
                  <a:pt x="0" y="1107492"/>
                  <a:pt x="0" y="713459"/>
                </a:cubicBezTo>
                <a:cubicBezTo>
                  <a:pt x="0" y="319426"/>
                  <a:pt x="319426" y="0"/>
                  <a:pt x="713459" y="0"/>
                </a:cubicBezTo>
                <a:close/>
              </a:path>
            </a:pathLst>
          </a:custGeom>
          <a:solidFill>
            <a:srgbClr val="578B18"/>
          </a:solidFill>
          <a:ln w="12700">
            <a:noFill/>
          </a:ln>
        </p:spPr>
        <p:txBody>
          <a:bodyPr anchor="ctr" anchorCtr="0"/>
          <a:p>
            <a:pPr algn="ctr" defTabSz="685800"/>
            <a:r>
              <a:rPr lang="en-US" altLang="zh-CN" sz="2400" b="1" dirty="0">
                <a:solidFill>
                  <a:schemeClr val="bg1"/>
                </a:solidFill>
                <a:latin typeface="Times New Roman" panose="02020603050405020304"/>
                <a:ea typeface="幼圆" panose="02010509060101010101" charset="-122"/>
              </a:rPr>
              <a:t>Conser-vator</a:t>
            </a:r>
            <a:endParaRPr lang="en-US" altLang="zh-CN" sz="2400" b="1" dirty="0">
              <a:solidFill>
                <a:schemeClr val="bg1"/>
              </a:solidFill>
              <a:latin typeface="Times New Roman" panose="02020603050405020304"/>
              <a:ea typeface="幼圆" panose="02010509060101010101" charset="-122"/>
            </a:endParaRPr>
          </a:p>
        </p:txBody>
      </p:sp>
      <p:sp>
        <p:nvSpPr>
          <p:cNvPr id="51202" name="MH_SubTitle_2"/>
          <p:cNvSpPr/>
          <p:nvPr>
            <p:custDataLst>
              <p:tags r:id="rId2"/>
            </p:custDataLst>
          </p:nvPr>
        </p:nvSpPr>
        <p:spPr>
          <a:xfrm>
            <a:off x="6043613" y="1574483"/>
            <a:ext cx="1701800" cy="1695450"/>
          </a:xfrm>
          <a:custGeom>
            <a:avLst/>
            <a:gdLst>
              <a:gd name="txL" fmla="*/ 0 w 1426918"/>
              <a:gd name="txT" fmla="*/ 0 h 1426918"/>
              <a:gd name="txR" fmla="*/ 1426918 w 1426918"/>
              <a:gd name="txB" fmla="*/ 1426918 h 1426918"/>
            </a:gdLst>
            <a:ahLst/>
            <a:cxnLst>
              <a:cxn ang="0">
                <a:pos x="850900" y="0"/>
              </a:cxn>
              <a:cxn ang="0">
                <a:pos x="1701800" y="847725"/>
              </a:cxn>
              <a:cxn ang="0">
                <a:pos x="1701798" y="847725"/>
              </a:cxn>
              <a:cxn ang="0">
                <a:pos x="850898" y="1695450"/>
              </a:cxn>
              <a:cxn ang="0">
                <a:pos x="0" y="1695450"/>
              </a:cxn>
              <a:cxn ang="0">
                <a:pos x="0" y="847725"/>
              </a:cxn>
              <a:cxn ang="0">
                <a:pos x="850900" y="0"/>
              </a:cxn>
            </a:cxnLst>
            <a:rect l="txL" t="txT" r="txR" b="txB"/>
            <a:pathLst>
              <a:path w="1426918" h="1426918">
                <a:moveTo>
                  <a:pt x="713459" y="0"/>
                </a:moveTo>
                <a:cubicBezTo>
                  <a:pt x="1107492" y="0"/>
                  <a:pt x="1426918" y="319426"/>
                  <a:pt x="1426918" y="713459"/>
                </a:cubicBezTo>
                <a:lnTo>
                  <a:pt x="1426917" y="713459"/>
                </a:lnTo>
                <a:cubicBezTo>
                  <a:pt x="1426917" y="1107492"/>
                  <a:pt x="1107491" y="1426918"/>
                  <a:pt x="713458" y="1426918"/>
                </a:cubicBezTo>
                <a:lnTo>
                  <a:pt x="0" y="1426918"/>
                </a:lnTo>
                <a:lnTo>
                  <a:pt x="0" y="713459"/>
                </a:lnTo>
                <a:cubicBezTo>
                  <a:pt x="0" y="319426"/>
                  <a:pt x="319426" y="0"/>
                  <a:pt x="713459" y="0"/>
                </a:cubicBezTo>
                <a:close/>
              </a:path>
            </a:pathLst>
          </a:custGeom>
          <a:solidFill>
            <a:srgbClr val="BADA5C"/>
          </a:solidFill>
          <a:ln w="12700">
            <a:noFill/>
          </a:ln>
        </p:spPr>
        <p:txBody>
          <a:bodyPr anchor="ctr" anchorCtr="0"/>
          <a:p>
            <a:pPr algn="ctr" defTabSz="685800"/>
            <a:r>
              <a:rPr lang="en-US" altLang="zh-CN" sz="2400" b="1" dirty="0">
                <a:solidFill>
                  <a:schemeClr val="bg1"/>
                </a:solidFill>
                <a:latin typeface="Times New Roman" panose="02020603050405020304"/>
                <a:ea typeface="幼圆" panose="02010509060101010101" charset="-122"/>
              </a:rPr>
              <a:t>Insulation Bushing</a:t>
            </a:r>
            <a:endParaRPr lang="en-US" altLang="zh-CN" sz="2400" b="1" dirty="0">
              <a:solidFill>
                <a:schemeClr val="bg1"/>
              </a:solidFill>
              <a:latin typeface="Times New Roman" panose="02020603050405020304"/>
              <a:ea typeface="幼圆" panose="02010509060101010101" charset="-122"/>
            </a:endParaRPr>
          </a:p>
        </p:txBody>
      </p:sp>
      <p:sp>
        <p:nvSpPr>
          <p:cNvPr id="51203" name="MH_SubTitle_3"/>
          <p:cNvSpPr/>
          <p:nvPr>
            <p:custDataLst>
              <p:tags r:id="rId3"/>
            </p:custDataLst>
          </p:nvPr>
        </p:nvSpPr>
        <p:spPr>
          <a:xfrm>
            <a:off x="4346575" y="3269933"/>
            <a:ext cx="1700213" cy="1695450"/>
          </a:xfrm>
          <a:custGeom>
            <a:avLst/>
            <a:gdLst>
              <a:gd name="txL" fmla="*/ 0 w 1426918"/>
              <a:gd name="txT" fmla="*/ 0 h 1426918"/>
              <a:gd name="txR" fmla="*/ 1426918 w 1426918"/>
              <a:gd name="txB" fmla="*/ 1426918 h 1426918"/>
            </a:gdLst>
            <a:ahLst/>
            <a:cxnLst>
              <a:cxn ang="0">
                <a:pos x="850107" y="0"/>
              </a:cxn>
              <a:cxn ang="0">
                <a:pos x="1700212" y="0"/>
              </a:cxn>
              <a:cxn ang="0">
                <a:pos x="1700212" y="847725"/>
              </a:cxn>
              <a:cxn ang="0">
                <a:pos x="850106" y="1695450"/>
              </a:cxn>
              <a:cxn ang="0">
                <a:pos x="0" y="847725"/>
              </a:cxn>
              <a:cxn ang="0">
                <a:pos x="1" y="847725"/>
              </a:cxn>
              <a:cxn ang="0">
                <a:pos x="850107" y="0"/>
              </a:cxn>
            </a:cxnLst>
            <a:rect l="txL" t="txT" r="txR" b="txB"/>
            <a:pathLst>
              <a:path w="1426918" h="1426918">
                <a:moveTo>
                  <a:pt x="713460" y="0"/>
                </a:moveTo>
                <a:lnTo>
                  <a:pt x="1426918" y="0"/>
                </a:lnTo>
                <a:lnTo>
                  <a:pt x="1426918" y="713459"/>
                </a:lnTo>
                <a:cubicBezTo>
                  <a:pt x="1426918" y="1107492"/>
                  <a:pt x="1107492" y="1426918"/>
                  <a:pt x="713459" y="1426918"/>
                </a:cubicBezTo>
                <a:cubicBezTo>
                  <a:pt x="319426" y="1426918"/>
                  <a:pt x="0" y="1107492"/>
                  <a:pt x="0" y="713459"/>
                </a:cubicBezTo>
                <a:lnTo>
                  <a:pt x="1" y="713459"/>
                </a:lnTo>
                <a:cubicBezTo>
                  <a:pt x="1" y="319426"/>
                  <a:pt x="319427" y="0"/>
                  <a:pt x="713460" y="0"/>
                </a:cubicBezTo>
                <a:close/>
              </a:path>
            </a:pathLst>
          </a:custGeom>
          <a:solidFill>
            <a:srgbClr val="BADA5C"/>
          </a:solidFill>
          <a:ln w="12700">
            <a:noFill/>
          </a:ln>
        </p:spPr>
        <p:txBody>
          <a:bodyPr anchor="ctr" anchorCtr="0"/>
          <a:p>
            <a:pPr algn="ctr" defTabSz="685800"/>
            <a:r>
              <a:rPr lang="en-US" altLang="zh-CN" sz="2800" b="1" dirty="0">
                <a:solidFill>
                  <a:schemeClr val="bg1"/>
                </a:solidFill>
                <a:latin typeface="Times New Roman" panose="02020603050405020304"/>
                <a:ea typeface="幼圆" panose="02010509060101010101" charset="-122"/>
              </a:rPr>
              <a:t>Tap changer</a:t>
            </a:r>
            <a:endParaRPr lang="en-US" altLang="zh-CN" sz="2800" b="1" dirty="0">
              <a:solidFill>
                <a:schemeClr val="bg1"/>
              </a:solidFill>
              <a:latin typeface="Times New Roman" panose="02020603050405020304"/>
              <a:ea typeface="幼圆" panose="02010509060101010101" charset="-122"/>
            </a:endParaRPr>
          </a:p>
        </p:txBody>
      </p:sp>
      <p:sp>
        <p:nvSpPr>
          <p:cNvPr id="18" name="MH_SubTitle_4"/>
          <p:cNvSpPr/>
          <p:nvPr>
            <p:custDataLst>
              <p:tags r:id="rId4"/>
            </p:custDataLst>
          </p:nvPr>
        </p:nvSpPr>
        <p:spPr>
          <a:xfrm>
            <a:off x="6046788" y="3269933"/>
            <a:ext cx="1700213" cy="1695450"/>
          </a:xfrm>
          <a:custGeom>
            <a:avLst/>
            <a:gdLst>
              <a:gd name="connsiteX0" fmla="*/ 0 w 1426918"/>
              <a:gd name="connsiteY0" fmla="*/ 0 h 1426918"/>
              <a:gd name="connsiteX1" fmla="*/ 713459 w 1426918"/>
              <a:gd name="connsiteY1" fmla="*/ 0 h 1426918"/>
              <a:gd name="connsiteX2" fmla="*/ 1426918 w 1426918"/>
              <a:gd name="connsiteY2" fmla="*/ 713459 h 1426918"/>
              <a:gd name="connsiteX3" fmla="*/ 713459 w 1426918"/>
              <a:gd name="connsiteY3" fmla="*/ 1426918 h 1426918"/>
              <a:gd name="connsiteX4" fmla="*/ 713459 w 1426918"/>
              <a:gd name="connsiteY4" fmla="*/ 1426917 h 1426918"/>
              <a:gd name="connsiteX5" fmla="*/ 0 w 1426918"/>
              <a:gd name="connsiteY5" fmla="*/ 713458 h 1426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26918" h="1426918">
                <a:moveTo>
                  <a:pt x="0" y="0"/>
                </a:moveTo>
                <a:lnTo>
                  <a:pt x="713459" y="0"/>
                </a:lnTo>
                <a:cubicBezTo>
                  <a:pt x="1107492" y="0"/>
                  <a:pt x="1426918" y="319426"/>
                  <a:pt x="1426918" y="713459"/>
                </a:cubicBezTo>
                <a:cubicBezTo>
                  <a:pt x="1426918" y="1107492"/>
                  <a:pt x="1107492" y="1426918"/>
                  <a:pt x="713459" y="1426918"/>
                </a:cubicBezTo>
                <a:lnTo>
                  <a:pt x="713459" y="1426917"/>
                </a:lnTo>
                <a:cubicBezTo>
                  <a:pt x="319426" y="1426917"/>
                  <a:pt x="0" y="1107491"/>
                  <a:pt x="0" y="713458"/>
                </a:cubicBezTo>
                <a:close/>
              </a:path>
            </a:pathLst>
          </a:custGeom>
          <a:solidFill>
            <a:srgbClr val="578B18"/>
          </a:solidFill>
          <a:ln w="12700" cap="flat" cmpd="sng" algn="ctr">
            <a:noFill/>
            <a:prstDash val="solid"/>
            <a:miter lim="800000"/>
          </a:ln>
          <a:effectLst/>
        </p:spPr>
        <p:txBody>
          <a:bodyPr anchor="ctr"/>
          <a:p>
            <a:pPr algn="ctr" defTabSz="685800" fontAlgn="base">
              <a:defRPr/>
            </a:pPr>
            <a:r>
              <a:rPr lang="en-US" altLang="zh-CN" sz="4050" b="1" strike="noStrike" kern="0" noProof="1" dirty="0">
                <a:solidFill>
                  <a:schemeClr val="bg1"/>
                </a:solidFill>
                <a:latin typeface="Times New Roman" panose="02020603050405020304"/>
                <a:ea typeface="幼圆" panose="02010509060101010101" charset="-122"/>
                <a:cs typeface="+mn-cs"/>
              </a:rPr>
              <a:t>Gas Relay</a:t>
            </a:r>
            <a:endParaRPr lang="en-US" altLang="zh-CN" sz="4050" b="1" strike="noStrike" kern="0" noProof="1" dirty="0">
              <a:solidFill>
                <a:schemeClr val="bg1"/>
              </a:solidFill>
              <a:latin typeface="Times New Roman" panose="02020603050405020304"/>
              <a:ea typeface="幼圆" panose="02010509060101010101" charset="-122"/>
            </a:endParaRPr>
          </a:p>
        </p:txBody>
      </p:sp>
      <p:grpSp>
        <p:nvGrpSpPr>
          <p:cNvPr id="51205" name="组合 13"/>
          <p:cNvGrpSpPr/>
          <p:nvPr/>
        </p:nvGrpSpPr>
        <p:grpSpPr>
          <a:xfrm>
            <a:off x="1790700" y="1718945"/>
            <a:ext cx="2457450" cy="1133605"/>
            <a:chOff x="260999" y="1969293"/>
            <a:chExt cx="2456146" cy="1133805"/>
          </a:xfrm>
        </p:grpSpPr>
        <p:sp>
          <p:nvSpPr>
            <p:cNvPr id="51206" name="文本框 9"/>
            <p:cNvSpPr txBox="1"/>
            <p:nvPr>
              <p:custDataLst>
                <p:tags r:id="rId5"/>
              </p:custDataLst>
            </p:nvPr>
          </p:nvSpPr>
          <p:spPr>
            <a:xfrm>
              <a:off x="260999" y="2365733"/>
              <a:ext cx="2456146" cy="737365"/>
            </a:xfrm>
            <a:prstGeom prst="rect">
              <a:avLst/>
            </a:prstGeom>
            <a:noFill/>
            <a:ln w="9525">
              <a:noFill/>
            </a:ln>
          </p:spPr>
          <p:txBody>
            <a:bodyPr wrap="square" anchor="t" anchorCtr="0">
              <a:spAutoFit/>
            </a:bodyPr>
            <a:p>
              <a:pPr algn="r"/>
              <a:r>
                <a:rPr lang="zh-CN" altLang="en-US" sz="1400" dirty="0">
                  <a:solidFill>
                    <a:srgbClr val="595959"/>
                  </a:solidFill>
                  <a:latin typeface="微软雅黑" panose="020B0503020204020204" charset="-122"/>
                  <a:ea typeface="微软雅黑" panose="020B0503020204020204" charset="-122"/>
                  <a:cs typeface="微软雅黑" panose="020B0503020204020204" charset="-122"/>
                  <a:sym typeface="黑体" panose="02010609060101010101" charset="-122"/>
                </a:rPr>
                <a:t>储油，与油箱相通保证油箱中绝缘油的充足。装在油箱上，使油箱内部与外界隔绝。</a:t>
              </a:r>
              <a:endParaRPr lang="zh-CN" altLang="en-US" sz="1400" dirty="0">
                <a:solidFill>
                  <a:srgbClr val="595959"/>
                </a:solidFill>
                <a:latin typeface="微软雅黑" panose="020B0503020204020204" charset="-122"/>
                <a:ea typeface="微软雅黑" panose="020B0503020204020204" charset="-122"/>
                <a:cs typeface="微软雅黑" panose="020B0503020204020204" charset="-122"/>
                <a:sym typeface="黑体" panose="02010609060101010101" charset="-122"/>
              </a:endParaRPr>
            </a:p>
          </p:txBody>
        </p:sp>
        <p:sp>
          <p:nvSpPr>
            <p:cNvPr id="51207" name="文本框 10"/>
            <p:cNvSpPr txBox="1"/>
            <p:nvPr>
              <p:custDataLst>
                <p:tags r:id="rId6"/>
              </p:custDataLst>
            </p:nvPr>
          </p:nvSpPr>
          <p:spPr>
            <a:xfrm>
              <a:off x="1496693" y="1969293"/>
              <a:ext cx="1220452" cy="337185"/>
            </a:xfrm>
            <a:prstGeom prst="rect">
              <a:avLst/>
            </a:prstGeom>
            <a:noFill/>
            <a:ln w="9525">
              <a:noFill/>
            </a:ln>
          </p:spPr>
          <p:txBody>
            <a:bodyPr wrap="square" anchor="t" anchorCtr="0">
              <a:spAutoFit/>
            </a:bodyPr>
            <a:p>
              <a:pPr algn="r"/>
              <a:r>
                <a:rPr lang="zh-CN" altLang="da-DK" sz="1600" b="1" dirty="0">
                  <a:latin typeface="微软雅黑" panose="020B0503020204020204" charset="-122"/>
                  <a:ea typeface="微软雅黑" panose="020B0503020204020204" charset="-122"/>
                </a:rPr>
                <a:t>油枕</a:t>
              </a:r>
              <a:endParaRPr lang="zh-CN" altLang="da-DK" sz="1600" b="1" dirty="0">
                <a:latin typeface="微软雅黑" panose="020B0503020204020204" charset="-122"/>
                <a:ea typeface="微软雅黑" panose="020B0503020204020204" charset="-122"/>
              </a:endParaRPr>
            </a:p>
          </p:txBody>
        </p:sp>
      </p:grpSp>
      <p:grpSp>
        <p:nvGrpSpPr>
          <p:cNvPr id="51208" name="组合 12"/>
          <p:cNvGrpSpPr/>
          <p:nvPr/>
        </p:nvGrpSpPr>
        <p:grpSpPr>
          <a:xfrm>
            <a:off x="1160145" y="3622675"/>
            <a:ext cx="3088005" cy="2211689"/>
            <a:chOff x="211592" y="4074710"/>
            <a:chExt cx="2505553" cy="2212282"/>
          </a:xfrm>
        </p:grpSpPr>
        <p:sp>
          <p:nvSpPr>
            <p:cNvPr id="51209" name="文本框 4"/>
            <p:cNvSpPr txBox="1"/>
            <p:nvPr>
              <p:custDataLst>
                <p:tags r:id="rId7"/>
              </p:custDataLst>
            </p:nvPr>
          </p:nvSpPr>
          <p:spPr>
            <a:xfrm>
              <a:off x="211592" y="4471676"/>
              <a:ext cx="2505553" cy="1815316"/>
            </a:xfrm>
            <a:prstGeom prst="rect">
              <a:avLst/>
            </a:prstGeom>
            <a:noFill/>
            <a:ln w="9525">
              <a:noFill/>
            </a:ln>
          </p:spPr>
          <p:txBody>
            <a:bodyPr wrap="square" anchor="t" anchorCtr="0">
              <a:spAutoFit/>
            </a:bodyPr>
            <a:p>
              <a:pPr lvl="0" algn="r">
                <a:buClrTx/>
                <a:buSzTx/>
                <a:buFontTx/>
              </a:pPr>
              <a:r>
                <a:rPr lang="zh-CN" altLang="en-US" sz="1400" dirty="0">
                  <a:solidFill>
                    <a:srgbClr val="595959"/>
                  </a:solidFill>
                  <a:latin typeface="微软雅黑" panose="020B0503020204020204" charset="-122"/>
                  <a:ea typeface="微软雅黑" panose="020B0503020204020204" charset="-122"/>
                  <a:cs typeface="微软雅黑" panose="020B0503020204020204" charset="-122"/>
                  <a:sym typeface="黑体" panose="02010609060101010101" charset="-122"/>
                </a:rPr>
                <a:t>在电力系统，为了使变压器的输出电压控制在允许变化的范围内，变压器的原边绕组匝数要求在一定范围内调节，因而原绕组一般备有抽头，称为分接头。利用开关与不同接头连接，可改变原绕组的匝数，达到调节电压的目的。 分接开关分为有载调压分接开关和无载调压分接开关。</a:t>
              </a:r>
              <a:endParaRPr lang="zh-CN" altLang="en-US" sz="1400" dirty="0">
                <a:solidFill>
                  <a:srgbClr val="595959"/>
                </a:solidFill>
                <a:latin typeface="微软雅黑" panose="020B0503020204020204" charset="-122"/>
                <a:ea typeface="微软雅黑" panose="020B0503020204020204" charset="-122"/>
                <a:cs typeface="微软雅黑" panose="020B0503020204020204" charset="-122"/>
                <a:sym typeface="黑体" panose="02010609060101010101" charset="-122"/>
              </a:endParaRPr>
            </a:p>
          </p:txBody>
        </p:sp>
        <p:sp>
          <p:nvSpPr>
            <p:cNvPr id="51210" name="文本框 2"/>
            <p:cNvSpPr txBox="1"/>
            <p:nvPr>
              <p:custDataLst>
                <p:tags r:id="rId8"/>
              </p:custDataLst>
            </p:nvPr>
          </p:nvSpPr>
          <p:spPr>
            <a:xfrm>
              <a:off x="1600237" y="4074710"/>
              <a:ext cx="1116908" cy="337275"/>
            </a:xfrm>
            <a:prstGeom prst="rect">
              <a:avLst/>
            </a:prstGeom>
            <a:noFill/>
            <a:ln w="9525">
              <a:noFill/>
            </a:ln>
          </p:spPr>
          <p:txBody>
            <a:bodyPr wrap="square" anchor="t" anchorCtr="0">
              <a:spAutoFit/>
            </a:bodyPr>
            <a:p>
              <a:pPr algn="r"/>
              <a:r>
                <a:rPr lang="zh-CN" altLang="da-DK" sz="1600" b="1" dirty="0">
                  <a:latin typeface="微软雅黑" panose="020B0503020204020204" charset="-122"/>
                  <a:ea typeface="微软雅黑" panose="020B0503020204020204" charset="-122"/>
                </a:rPr>
                <a:t>分接开关</a:t>
              </a:r>
              <a:endParaRPr lang="zh-CN" altLang="da-DK" sz="1600" b="1" dirty="0">
                <a:latin typeface="微软雅黑" panose="020B0503020204020204" charset="-122"/>
                <a:ea typeface="微软雅黑" panose="020B0503020204020204" charset="-122"/>
              </a:endParaRPr>
            </a:p>
          </p:txBody>
        </p:sp>
      </p:grpSp>
      <p:grpSp>
        <p:nvGrpSpPr>
          <p:cNvPr id="51214" name="组合 8"/>
          <p:cNvGrpSpPr/>
          <p:nvPr/>
        </p:nvGrpSpPr>
        <p:grpSpPr>
          <a:xfrm>
            <a:off x="7745730" y="1718945"/>
            <a:ext cx="3317240" cy="1564800"/>
            <a:chOff x="6214511" y="1936333"/>
            <a:chExt cx="2456146" cy="1564957"/>
          </a:xfrm>
        </p:grpSpPr>
        <p:sp>
          <p:nvSpPr>
            <p:cNvPr id="51215" name="文本框 21"/>
            <p:cNvSpPr txBox="1"/>
            <p:nvPr>
              <p:custDataLst>
                <p:tags r:id="rId9"/>
              </p:custDataLst>
            </p:nvPr>
          </p:nvSpPr>
          <p:spPr>
            <a:xfrm>
              <a:off x="6214511" y="2332773"/>
              <a:ext cx="2456146" cy="1168517"/>
            </a:xfrm>
            <a:prstGeom prst="rect">
              <a:avLst/>
            </a:prstGeom>
            <a:noFill/>
            <a:ln w="9525">
              <a:noFill/>
            </a:ln>
          </p:spPr>
          <p:txBody>
            <a:bodyPr wrap="square" anchor="t" anchorCtr="0">
              <a:spAutoFit/>
            </a:bodyPr>
            <a:p>
              <a:pPr lvl="0" algn="l">
                <a:buClrTx/>
                <a:buSzTx/>
                <a:buFontTx/>
              </a:pPr>
              <a:r>
                <a:rPr lang="zh-CN" altLang="en-US" sz="1400" dirty="0">
                  <a:solidFill>
                    <a:srgbClr val="595959"/>
                  </a:solidFill>
                  <a:latin typeface="微软雅黑" panose="020B0503020204020204" charset="-122"/>
                  <a:ea typeface="微软雅黑" panose="020B0503020204020204" charset="-122"/>
                  <a:cs typeface="微软雅黑" panose="020B0503020204020204" charset="-122"/>
                  <a:sym typeface="黑体" panose="02010609060101010101" charset="-122"/>
                </a:rPr>
                <a:t>装在变压器的油箱盖上作用是把线圈引线端头从油箱中引出，并使引线与油箱绝缘。电压低于1KV采用瓷质绝缘套管，电压在10-35KV采用充气或充油套管，电压高于110KV采用电容式套管。</a:t>
              </a:r>
              <a:endParaRPr lang="zh-CN" altLang="en-US" sz="1400" dirty="0">
                <a:solidFill>
                  <a:srgbClr val="595959"/>
                </a:solidFill>
                <a:latin typeface="微软雅黑" panose="020B0503020204020204" charset="-122"/>
                <a:ea typeface="微软雅黑" panose="020B0503020204020204" charset="-122"/>
                <a:cs typeface="微软雅黑" panose="020B0503020204020204" charset="-122"/>
                <a:sym typeface="黑体" panose="02010609060101010101" charset="-122"/>
              </a:endParaRPr>
            </a:p>
          </p:txBody>
        </p:sp>
        <p:sp>
          <p:nvSpPr>
            <p:cNvPr id="51216" name="文本框 22"/>
            <p:cNvSpPr txBox="1"/>
            <p:nvPr>
              <p:custDataLst>
                <p:tags r:id="rId10"/>
              </p:custDataLst>
            </p:nvPr>
          </p:nvSpPr>
          <p:spPr>
            <a:xfrm>
              <a:off x="6214511" y="1936333"/>
              <a:ext cx="1220452" cy="337219"/>
            </a:xfrm>
            <a:prstGeom prst="rect">
              <a:avLst/>
            </a:prstGeom>
            <a:noFill/>
            <a:ln w="9525">
              <a:noFill/>
            </a:ln>
          </p:spPr>
          <p:txBody>
            <a:bodyPr wrap="square" anchor="t" anchorCtr="0">
              <a:spAutoFit/>
            </a:bodyPr>
            <a:p>
              <a:r>
                <a:rPr lang="zh-CN" altLang="da-DK" sz="1600" b="1" dirty="0">
                  <a:latin typeface="微软雅黑" panose="020B0503020204020204" charset="-122"/>
                  <a:ea typeface="微软雅黑" panose="020B0503020204020204" charset="-122"/>
                </a:rPr>
                <a:t>绝缘套管</a:t>
              </a:r>
              <a:endParaRPr lang="zh-CN" altLang="da-DK" sz="1600" b="1" dirty="0">
                <a:latin typeface="微软雅黑" panose="020B0503020204020204" charset="-122"/>
                <a:ea typeface="微软雅黑" panose="020B0503020204020204" charset="-122"/>
              </a:endParaRPr>
            </a:p>
          </p:txBody>
        </p:sp>
      </p:grpSp>
      <p:grpSp>
        <p:nvGrpSpPr>
          <p:cNvPr id="51217" name="组合 11"/>
          <p:cNvGrpSpPr/>
          <p:nvPr/>
        </p:nvGrpSpPr>
        <p:grpSpPr>
          <a:xfrm>
            <a:off x="7795260" y="3773805"/>
            <a:ext cx="2555875" cy="919034"/>
            <a:chOff x="6164346" y="4041750"/>
            <a:chExt cx="2555718" cy="918807"/>
          </a:xfrm>
        </p:grpSpPr>
        <p:sp>
          <p:nvSpPr>
            <p:cNvPr id="51218" name="文本框 23"/>
            <p:cNvSpPr txBox="1"/>
            <p:nvPr>
              <p:custDataLst>
                <p:tags r:id="rId11"/>
              </p:custDataLst>
            </p:nvPr>
          </p:nvSpPr>
          <p:spPr>
            <a:xfrm>
              <a:off x="6214511" y="4438716"/>
              <a:ext cx="2505553" cy="521841"/>
            </a:xfrm>
            <a:prstGeom prst="rect">
              <a:avLst/>
            </a:prstGeom>
            <a:noFill/>
            <a:ln w="9525">
              <a:noFill/>
            </a:ln>
          </p:spPr>
          <p:txBody>
            <a:bodyPr wrap="square" anchor="t" anchorCtr="0">
              <a:spAutoFit/>
            </a:bodyPr>
            <a:p>
              <a:pPr lvl="0" algn="l">
                <a:buClrTx/>
                <a:buSzTx/>
                <a:buFontTx/>
              </a:pPr>
              <a:r>
                <a:rPr lang="zh-CN" altLang="en-US" sz="1400" dirty="0">
                  <a:solidFill>
                    <a:srgbClr val="595959"/>
                  </a:solidFill>
                  <a:latin typeface="微软雅黑" panose="020B0503020204020204" charset="-122"/>
                  <a:ea typeface="微软雅黑" panose="020B0503020204020204" charset="-122"/>
                  <a:cs typeface="微软雅黑" panose="020B0503020204020204" charset="-122"/>
                  <a:sym typeface="黑体" panose="02010609060101010101" charset="-122"/>
                </a:rPr>
                <a:t>装在变压器的油箱和储油柜间的管道中，主要保护装置。</a:t>
              </a:r>
              <a:endParaRPr lang="zh-CN" altLang="en-US" sz="1400" dirty="0">
                <a:solidFill>
                  <a:srgbClr val="595959"/>
                </a:solidFill>
                <a:latin typeface="微软雅黑" panose="020B0503020204020204" charset="-122"/>
                <a:ea typeface="微软雅黑" panose="020B0503020204020204" charset="-122"/>
                <a:cs typeface="微软雅黑" panose="020B0503020204020204" charset="-122"/>
                <a:sym typeface="黑体" panose="02010609060101010101" charset="-122"/>
              </a:endParaRPr>
            </a:p>
          </p:txBody>
        </p:sp>
        <p:sp>
          <p:nvSpPr>
            <p:cNvPr id="51219" name="文本框 24"/>
            <p:cNvSpPr txBox="1"/>
            <p:nvPr>
              <p:custDataLst>
                <p:tags r:id="rId12"/>
              </p:custDataLst>
            </p:nvPr>
          </p:nvSpPr>
          <p:spPr>
            <a:xfrm>
              <a:off x="6164346" y="4041750"/>
              <a:ext cx="1575435" cy="337185"/>
            </a:xfrm>
            <a:prstGeom prst="rect">
              <a:avLst/>
            </a:prstGeom>
            <a:noFill/>
            <a:ln w="9525">
              <a:noFill/>
            </a:ln>
          </p:spPr>
          <p:txBody>
            <a:bodyPr wrap="square" anchor="t" anchorCtr="0">
              <a:spAutoFit/>
            </a:bodyPr>
            <a:p>
              <a:r>
                <a:rPr lang="zh-CN" altLang="da-DK" sz="1600" b="1" dirty="0">
                  <a:latin typeface="微软雅黑" panose="020B0503020204020204" charset="-122"/>
                  <a:ea typeface="微软雅黑" panose="020B0503020204020204" charset="-122"/>
                </a:rPr>
                <a:t>气体继电器</a:t>
              </a:r>
              <a:endParaRPr lang="zh-CN" altLang="da-DK" sz="1600" b="1" dirty="0">
                <a:latin typeface="微软雅黑" panose="020B0503020204020204" charset="-122"/>
                <a:ea typeface="微软雅黑" panose="020B0503020204020204" charset="-122"/>
              </a:endParaRPr>
            </a:p>
          </p:txBody>
        </p:sp>
      </p:grpSp>
    </p:spTree>
    <p:custDataLst>
      <p:tags r:id="rId1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marL="571500" indent="-571500">
              <a:buFont typeface="Wingdings" panose="05000000000000000000" charset="0"/>
              <a:buChar char="Ø"/>
            </a:pPr>
            <a:r>
              <a:rPr lang="en-US" altLang="zh-CN" b="0" spc="0" dirty="0">
                <a:solidFill>
                  <a:schemeClr val="accent4">
                    <a:lumMod val="50000"/>
                  </a:schemeClr>
                </a:solidFill>
                <a:latin typeface="Impact" panose="020B0806030902050204" pitchFamily="34" charset="0"/>
                <a:ea typeface="方正舒体" panose="02010601030101010101" pitchFamily="2" charset="-122"/>
                <a:cs typeface="+mn-cs"/>
                <a:sym typeface="+mn-ea"/>
              </a:rPr>
              <a:t>02</a:t>
            </a:r>
            <a:r>
              <a:rPr lang="en-US" altLang="zh-CN">
                <a:sym typeface="+mn-ea"/>
              </a:rPr>
              <a:t> </a:t>
            </a:r>
            <a:r>
              <a:rPr lang="zh-CN" altLang="en-US">
                <a:solidFill>
                  <a:schemeClr val="accent4">
                    <a:lumMod val="50000"/>
                  </a:schemeClr>
                </a:solidFill>
                <a:latin typeface="微软雅黑" panose="020B0503020204020204" charset="-122"/>
                <a:ea typeface="微软雅黑" panose="020B0503020204020204" charset="-122"/>
                <a:sym typeface="+mn-ea"/>
              </a:rPr>
              <a:t>变压器</a:t>
            </a:r>
            <a:r>
              <a:rPr lang="zh-CN" altLang="en-US" dirty="0">
                <a:solidFill>
                  <a:schemeClr val="accent4">
                    <a:lumMod val="50000"/>
                  </a:schemeClr>
                </a:solidFill>
                <a:latin typeface="微软雅黑" panose="020B0503020204020204" charset="-122"/>
                <a:ea typeface="微软雅黑" panose="020B0503020204020204" charset="-122"/>
                <a:sym typeface="黑体" panose="02010609060101010101" charset="-122"/>
              </a:rPr>
              <a:t>组成</a:t>
            </a:r>
            <a:endParaRPr lang="zh-CN" altLang="en-US"/>
          </a:p>
        </p:txBody>
      </p:sp>
      <p:sp>
        <p:nvSpPr>
          <p:cNvPr id="52225" name="MH_Other_1"/>
          <p:cNvSpPr/>
          <p:nvPr>
            <p:custDataLst>
              <p:tags r:id="rId1"/>
            </p:custDataLst>
          </p:nvPr>
        </p:nvSpPr>
        <p:spPr>
          <a:xfrm>
            <a:off x="4872355" y="1786890"/>
            <a:ext cx="1223010" cy="1299845"/>
          </a:xfrm>
          <a:custGeom>
            <a:avLst/>
            <a:gdLst/>
            <a:ahLst/>
            <a:cxnLst>
              <a:cxn ang="0">
                <a:pos x="0" y="649715"/>
              </a:cxn>
              <a:cxn ang="0">
                <a:pos x="245438" y="0"/>
              </a:cxn>
              <a:cxn ang="0">
                <a:pos x="883014" y="0"/>
              </a:cxn>
              <a:cxn ang="0">
                <a:pos x="1128452" y="649715"/>
              </a:cxn>
              <a:cxn ang="0">
                <a:pos x="883014" y="1299430"/>
              </a:cxn>
              <a:cxn ang="0">
                <a:pos x="245438" y="1299430"/>
              </a:cxn>
              <a:cxn ang="0">
                <a:pos x="0" y="649715"/>
              </a:cxn>
            </a:cxnLst>
            <a:pathLst>
              <a:path w="2008628" h="1747506">
                <a:moveTo>
                  <a:pt x="1004314" y="0"/>
                </a:moveTo>
                <a:lnTo>
                  <a:pt x="2008627" y="380083"/>
                </a:lnTo>
                <a:lnTo>
                  <a:pt x="2008627" y="1367424"/>
                </a:lnTo>
                <a:lnTo>
                  <a:pt x="1004314" y="1747506"/>
                </a:lnTo>
                <a:lnTo>
                  <a:pt x="1" y="1367424"/>
                </a:lnTo>
                <a:lnTo>
                  <a:pt x="1" y="380083"/>
                </a:lnTo>
                <a:lnTo>
                  <a:pt x="1004314" y="0"/>
                </a:lnTo>
                <a:close/>
              </a:path>
            </a:pathLst>
          </a:custGeom>
          <a:solidFill>
            <a:srgbClr val="469F26"/>
          </a:solidFill>
          <a:ln w="12700">
            <a:noFill/>
          </a:ln>
        </p:spPr>
        <p:txBody>
          <a:bodyPr anchor="t" anchorCtr="0">
            <a:noAutofit/>
          </a:bodyPr>
          <a:p>
            <a:pPr lvl="0" algn="ctr">
              <a:buClrTx/>
              <a:buSzTx/>
              <a:buFontTx/>
            </a:pPr>
            <a:endParaRPr lang="zh-CN" altLang="en-US" sz="2000">
              <a:solidFill>
                <a:schemeClr val="bg1"/>
              </a:solidFill>
              <a:latin typeface="Times New Roman" panose="02020603050405020304" charset="0"/>
              <a:cs typeface="Times New Roman" panose="02020603050405020304" charset="0"/>
              <a:sym typeface="+mn-ea"/>
            </a:endParaRPr>
          </a:p>
          <a:p>
            <a:pPr lvl="0" algn="ctr">
              <a:buClrTx/>
              <a:buSzTx/>
              <a:buFontTx/>
            </a:pPr>
            <a:r>
              <a:rPr lang="zh-CN" altLang="en-US" sz="2000">
                <a:solidFill>
                  <a:schemeClr val="bg1"/>
                </a:solidFill>
                <a:latin typeface="Times New Roman" panose="02020603050405020304" charset="0"/>
                <a:cs typeface="Times New Roman" panose="02020603050405020304" charset="0"/>
                <a:sym typeface="+mn-ea"/>
              </a:rPr>
              <a:t>I</a:t>
            </a:r>
            <a:r>
              <a:rPr lang="zh-CN" altLang="en-US" sz="2000">
                <a:solidFill>
                  <a:schemeClr val="bg1"/>
                </a:solidFill>
                <a:latin typeface="Times New Roman" panose="02020603050405020304" charset="0"/>
                <a:cs typeface="Times New Roman" panose="02020603050405020304" charset="0"/>
                <a:sym typeface="+mn-ea"/>
              </a:rPr>
              <a:t>nsulating</a:t>
            </a:r>
            <a:endParaRPr lang="zh-CN" altLang="en-US" sz="2000">
              <a:solidFill>
                <a:schemeClr val="bg1"/>
              </a:solidFill>
              <a:latin typeface="Times New Roman" panose="02020603050405020304" charset="0"/>
              <a:cs typeface="Times New Roman" panose="02020603050405020304" charset="0"/>
              <a:sym typeface="+mn-ea"/>
            </a:endParaRPr>
          </a:p>
          <a:p>
            <a:pPr lvl="0" algn="ctr">
              <a:buClrTx/>
              <a:buSzTx/>
              <a:buFontTx/>
            </a:pPr>
            <a:r>
              <a:rPr lang="zh-CN" altLang="en-US" sz="2000">
                <a:solidFill>
                  <a:schemeClr val="bg1"/>
                </a:solidFill>
                <a:latin typeface="Times New Roman" panose="02020603050405020304" charset="0"/>
                <a:cs typeface="Times New Roman" panose="02020603050405020304" charset="0"/>
                <a:sym typeface="+mn-ea"/>
              </a:rPr>
              <a:t>O</a:t>
            </a:r>
            <a:r>
              <a:rPr lang="zh-CN" altLang="en-US" sz="2000">
                <a:solidFill>
                  <a:schemeClr val="bg1"/>
                </a:solidFill>
                <a:latin typeface="Times New Roman" panose="02020603050405020304" charset="0"/>
                <a:cs typeface="Times New Roman" panose="02020603050405020304" charset="0"/>
                <a:sym typeface="+mn-ea"/>
              </a:rPr>
              <a:t>il</a:t>
            </a:r>
            <a:endParaRPr lang="zh-CN" altLang="en-US" sz="2000">
              <a:solidFill>
                <a:schemeClr val="bg1"/>
              </a:solidFill>
              <a:latin typeface="Times New Roman" panose="02020603050405020304" charset="0"/>
              <a:cs typeface="Times New Roman" panose="02020603050405020304" charset="0"/>
              <a:sym typeface="+mn-ea"/>
            </a:endParaRPr>
          </a:p>
        </p:txBody>
      </p:sp>
      <p:sp>
        <p:nvSpPr>
          <p:cNvPr id="52226" name="MH_Other_2"/>
          <p:cNvSpPr/>
          <p:nvPr>
            <p:custDataLst>
              <p:tags r:id="rId2"/>
            </p:custDataLst>
          </p:nvPr>
        </p:nvSpPr>
        <p:spPr>
          <a:xfrm>
            <a:off x="6796088" y="2889885"/>
            <a:ext cx="1128712" cy="1298575"/>
          </a:xfrm>
          <a:custGeom>
            <a:avLst/>
            <a:gdLst/>
            <a:ahLst/>
            <a:cxnLst>
              <a:cxn ang="0">
                <a:pos x="0" y="649715"/>
              </a:cxn>
              <a:cxn ang="0">
                <a:pos x="245438" y="0"/>
              </a:cxn>
              <a:cxn ang="0">
                <a:pos x="883014" y="0"/>
              </a:cxn>
              <a:cxn ang="0">
                <a:pos x="1128452" y="649715"/>
              </a:cxn>
              <a:cxn ang="0">
                <a:pos x="883014" y="1299430"/>
              </a:cxn>
              <a:cxn ang="0">
                <a:pos x="245438" y="1299430"/>
              </a:cxn>
              <a:cxn ang="0">
                <a:pos x="0" y="649715"/>
              </a:cxn>
            </a:cxnLst>
            <a:pathLst>
              <a:path w="2008628" h="1747506">
                <a:moveTo>
                  <a:pt x="1004314" y="0"/>
                </a:moveTo>
                <a:lnTo>
                  <a:pt x="2008627" y="380083"/>
                </a:lnTo>
                <a:lnTo>
                  <a:pt x="2008627" y="1367424"/>
                </a:lnTo>
                <a:lnTo>
                  <a:pt x="1004314" y="1747506"/>
                </a:lnTo>
                <a:lnTo>
                  <a:pt x="1" y="1367424"/>
                </a:lnTo>
                <a:lnTo>
                  <a:pt x="1" y="380083"/>
                </a:lnTo>
                <a:lnTo>
                  <a:pt x="1004314" y="0"/>
                </a:lnTo>
                <a:close/>
              </a:path>
            </a:pathLst>
          </a:custGeom>
          <a:solidFill>
            <a:srgbClr val="469F26"/>
          </a:solidFill>
          <a:ln w="12700">
            <a:noFill/>
          </a:ln>
        </p:spPr>
        <p:txBody>
          <a:bodyPr/>
          <a:p>
            <a:pPr algn="ctr">
              <a:lnSpc>
                <a:spcPct val="300000"/>
              </a:lnSpc>
            </a:pPr>
            <a:r>
              <a:rPr lang="zh-CN" altLang="en-US">
                <a:solidFill>
                  <a:schemeClr val="bg1"/>
                </a:solidFill>
              </a:rPr>
              <a:t>Arrester</a:t>
            </a:r>
            <a:endParaRPr lang="zh-CN" altLang="en-US">
              <a:solidFill>
                <a:schemeClr val="bg1"/>
              </a:solidFill>
            </a:endParaRPr>
          </a:p>
        </p:txBody>
      </p:sp>
      <p:sp>
        <p:nvSpPr>
          <p:cNvPr id="52227" name="MH_Other_3"/>
          <p:cNvSpPr/>
          <p:nvPr>
            <p:custDataLst>
              <p:tags r:id="rId3"/>
            </p:custDataLst>
          </p:nvPr>
        </p:nvSpPr>
        <p:spPr>
          <a:xfrm>
            <a:off x="4968875" y="3991610"/>
            <a:ext cx="1127125" cy="1298575"/>
          </a:xfrm>
          <a:custGeom>
            <a:avLst/>
            <a:gdLst/>
            <a:ahLst/>
            <a:cxnLst>
              <a:cxn ang="0">
                <a:pos x="0" y="649017"/>
              </a:cxn>
              <a:cxn ang="0">
                <a:pos x="245438" y="0"/>
              </a:cxn>
              <a:cxn ang="0">
                <a:pos x="883014" y="0"/>
              </a:cxn>
              <a:cxn ang="0">
                <a:pos x="1128452" y="649017"/>
              </a:cxn>
              <a:cxn ang="0">
                <a:pos x="883014" y="1298034"/>
              </a:cxn>
              <a:cxn ang="0">
                <a:pos x="245438" y="1298034"/>
              </a:cxn>
              <a:cxn ang="0">
                <a:pos x="0" y="649017"/>
              </a:cxn>
            </a:cxnLst>
            <a:pathLst>
              <a:path w="2008628" h="1747506">
                <a:moveTo>
                  <a:pt x="1004314" y="0"/>
                </a:moveTo>
                <a:lnTo>
                  <a:pt x="2008627" y="380083"/>
                </a:lnTo>
                <a:lnTo>
                  <a:pt x="2008627" y="1367424"/>
                </a:lnTo>
                <a:lnTo>
                  <a:pt x="1004314" y="1747506"/>
                </a:lnTo>
                <a:lnTo>
                  <a:pt x="1" y="1367424"/>
                </a:lnTo>
                <a:lnTo>
                  <a:pt x="1" y="380083"/>
                </a:lnTo>
                <a:lnTo>
                  <a:pt x="1004314" y="0"/>
                </a:lnTo>
                <a:close/>
              </a:path>
            </a:pathLst>
          </a:custGeom>
          <a:solidFill>
            <a:srgbClr val="469F26"/>
          </a:solidFill>
          <a:ln w="12700">
            <a:noFill/>
          </a:ln>
        </p:spPr>
        <p:txBody>
          <a:bodyPr anchor="t" anchorCtr="0">
            <a:noAutofit/>
          </a:bodyPr>
          <a:p>
            <a:pPr lvl="0" algn="ctr">
              <a:lnSpc>
                <a:spcPct val="280000"/>
              </a:lnSpc>
              <a:buClrTx/>
              <a:buSzTx/>
              <a:buFontTx/>
            </a:pPr>
            <a:r>
              <a:rPr lang="zh-CN" altLang="en-US" sz="2000">
                <a:solidFill>
                  <a:schemeClr val="bg1"/>
                </a:solidFill>
                <a:latin typeface="Times New Roman" panose="02020603050405020304" charset="0"/>
                <a:cs typeface="Times New Roman" panose="02020603050405020304" charset="0"/>
                <a:sym typeface="+mn-ea"/>
              </a:rPr>
              <a:t>F</a:t>
            </a:r>
            <a:r>
              <a:rPr lang="zh-CN" altLang="en-US" sz="2000">
                <a:solidFill>
                  <a:schemeClr val="bg1"/>
                </a:solidFill>
                <a:latin typeface="Times New Roman" panose="02020603050405020304" charset="0"/>
                <a:cs typeface="Times New Roman" panose="02020603050405020304" charset="0"/>
                <a:sym typeface="+mn-ea"/>
              </a:rPr>
              <a:t>an</a:t>
            </a:r>
            <a:endParaRPr lang="zh-CN" altLang="en-US" sz="2000">
              <a:solidFill>
                <a:schemeClr val="bg1"/>
              </a:solidFill>
              <a:latin typeface="Times New Roman" panose="02020603050405020304" charset="0"/>
              <a:cs typeface="Times New Roman" panose="02020603050405020304" charset="0"/>
              <a:sym typeface="+mn-ea"/>
            </a:endParaRPr>
          </a:p>
        </p:txBody>
      </p:sp>
      <p:sp>
        <p:nvSpPr>
          <p:cNvPr id="52231" name="MH_Other_7"/>
          <p:cNvSpPr/>
          <p:nvPr>
            <p:custDataLst>
              <p:tags r:id="rId4"/>
            </p:custDataLst>
          </p:nvPr>
        </p:nvSpPr>
        <p:spPr>
          <a:xfrm>
            <a:off x="6181725" y="1786890"/>
            <a:ext cx="1170305" cy="1299845"/>
          </a:xfrm>
          <a:custGeom>
            <a:avLst/>
            <a:gdLst/>
            <a:ahLst/>
            <a:cxnLst>
              <a:cxn ang="0">
                <a:pos x="0" y="649715"/>
              </a:cxn>
              <a:cxn ang="0">
                <a:pos x="245893" y="0"/>
              </a:cxn>
              <a:cxn ang="0">
                <a:pos x="884652" y="0"/>
              </a:cxn>
              <a:cxn ang="0">
                <a:pos x="1130546" y="649715"/>
              </a:cxn>
              <a:cxn ang="0">
                <a:pos x="884652" y="1299430"/>
              </a:cxn>
              <a:cxn ang="0">
                <a:pos x="245893" y="1299430"/>
              </a:cxn>
              <a:cxn ang="0">
                <a:pos x="0" y="649715"/>
              </a:cxn>
            </a:cxnLst>
            <a:pathLst>
              <a:path w="2008628" h="1747506">
                <a:moveTo>
                  <a:pt x="1004314" y="0"/>
                </a:moveTo>
                <a:lnTo>
                  <a:pt x="2008627" y="380083"/>
                </a:lnTo>
                <a:lnTo>
                  <a:pt x="2008627" y="1367424"/>
                </a:lnTo>
                <a:lnTo>
                  <a:pt x="1004314" y="1747506"/>
                </a:lnTo>
                <a:lnTo>
                  <a:pt x="1" y="1367424"/>
                </a:lnTo>
                <a:lnTo>
                  <a:pt x="1" y="380083"/>
                </a:lnTo>
                <a:lnTo>
                  <a:pt x="1004314" y="0"/>
                </a:lnTo>
                <a:close/>
              </a:path>
            </a:pathLst>
          </a:custGeom>
          <a:solidFill>
            <a:srgbClr val="70B327"/>
          </a:solidFill>
          <a:ln w="12700">
            <a:noFill/>
          </a:ln>
        </p:spPr>
        <p:txBody>
          <a:bodyPr>
            <a:noAutofit/>
          </a:bodyPr>
          <a:p>
            <a:pPr lvl="0" algn="ctr">
              <a:buClrTx/>
              <a:buSzTx/>
              <a:buFontTx/>
            </a:pPr>
            <a:endParaRPr lang="zh-CN" altLang="en-US" sz="1600">
              <a:solidFill>
                <a:schemeClr val="bg1"/>
              </a:solidFill>
              <a:latin typeface="Times New Roman" panose="02020603050405020304" charset="0"/>
              <a:cs typeface="Times New Roman" panose="02020603050405020304" charset="0"/>
              <a:sym typeface="+mn-ea"/>
            </a:endParaRPr>
          </a:p>
          <a:p>
            <a:pPr lvl="0" algn="ctr">
              <a:lnSpc>
                <a:spcPct val="70000"/>
              </a:lnSpc>
              <a:buClrTx/>
              <a:buSzTx/>
              <a:buFontTx/>
            </a:pPr>
            <a:endParaRPr lang="zh-CN" altLang="en-US" sz="2000">
              <a:solidFill>
                <a:schemeClr val="bg1"/>
              </a:solidFill>
              <a:latin typeface="Times New Roman" panose="02020603050405020304" charset="0"/>
              <a:cs typeface="Times New Roman" panose="02020603050405020304" charset="0"/>
              <a:sym typeface="+mn-ea"/>
            </a:endParaRPr>
          </a:p>
          <a:p>
            <a:pPr lvl="0" algn="ctr">
              <a:lnSpc>
                <a:spcPct val="70000"/>
              </a:lnSpc>
              <a:buClrTx/>
              <a:buSzTx/>
              <a:buFontTx/>
            </a:pPr>
            <a:r>
              <a:rPr lang="zh-CN" altLang="en-US" sz="2000">
                <a:solidFill>
                  <a:schemeClr val="bg1"/>
                </a:solidFill>
                <a:latin typeface="Times New Roman" panose="02020603050405020304" charset="0"/>
                <a:cs typeface="Times New Roman" panose="02020603050405020304" charset="0"/>
                <a:sym typeface="+mn-ea"/>
              </a:rPr>
              <a:t>Thermometer</a:t>
            </a:r>
            <a:endParaRPr lang="zh-CN" altLang="en-US" sz="2000">
              <a:solidFill>
                <a:schemeClr val="bg1"/>
              </a:solidFill>
              <a:latin typeface="Times New Roman" panose="02020603050405020304" charset="0"/>
              <a:cs typeface="Times New Roman" panose="02020603050405020304" charset="0"/>
              <a:sym typeface="+mn-ea"/>
            </a:endParaRPr>
          </a:p>
        </p:txBody>
      </p:sp>
      <p:sp>
        <p:nvSpPr>
          <p:cNvPr id="52232" name="MH_Other_8"/>
          <p:cNvSpPr/>
          <p:nvPr>
            <p:custDataLst>
              <p:tags r:id="rId5"/>
            </p:custDataLst>
          </p:nvPr>
        </p:nvSpPr>
        <p:spPr>
          <a:xfrm>
            <a:off x="6181725" y="3985260"/>
            <a:ext cx="1131888" cy="1300163"/>
          </a:xfrm>
          <a:custGeom>
            <a:avLst/>
            <a:gdLst/>
            <a:ahLst/>
            <a:cxnLst>
              <a:cxn ang="0">
                <a:pos x="0" y="649715"/>
              </a:cxn>
              <a:cxn ang="0">
                <a:pos x="245893" y="0"/>
              </a:cxn>
              <a:cxn ang="0">
                <a:pos x="884652" y="0"/>
              </a:cxn>
              <a:cxn ang="0">
                <a:pos x="1130546" y="649715"/>
              </a:cxn>
              <a:cxn ang="0">
                <a:pos x="884652" y="1299430"/>
              </a:cxn>
              <a:cxn ang="0">
                <a:pos x="245893" y="1299430"/>
              </a:cxn>
              <a:cxn ang="0">
                <a:pos x="0" y="649715"/>
              </a:cxn>
            </a:cxnLst>
            <a:pathLst>
              <a:path w="2008628" h="1747506">
                <a:moveTo>
                  <a:pt x="1004314" y="0"/>
                </a:moveTo>
                <a:lnTo>
                  <a:pt x="2008627" y="380083"/>
                </a:lnTo>
                <a:lnTo>
                  <a:pt x="2008627" y="1367424"/>
                </a:lnTo>
                <a:lnTo>
                  <a:pt x="1004314" y="1747506"/>
                </a:lnTo>
                <a:lnTo>
                  <a:pt x="1" y="1367424"/>
                </a:lnTo>
                <a:lnTo>
                  <a:pt x="1" y="380083"/>
                </a:lnTo>
                <a:lnTo>
                  <a:pt x="1004314" y="0"/>
                </a:lnTo>
                <a:close/>
              </a:path>
            </a:pathLst>
          </a:custGeom>
          <a:solidFill>
            <a:srgbClr val="70B327"/>
          </a:solidFill>
          <a:ln w="12700">
            <a:noFill/>
          </a:ln>
        </p:spPr>
        <p:txBody>
          <a:bodyPr/>
          <a:p>
            <a:pPr algn="ctr">
              <a:lnSpc>
                <a:spcPct val="100000"/>
              </a:lnSpc>
            </a:pPr>
            <a:endParaRPr lang="zh-CN" altLang="en-US" sz="1600">
              <a:solidFill>
                <a:schemeClr val="bg1"/>
              </a:solidFill>
              <a:latin typeface="Times New Roman" panose="02020603050405020304" charset="0"/>
              <a:cs typeface="Times New Roman" panose="02020603050405020304" charset="0"/>
            </a:endParaRPr>
          </a:p>
          <a:p>
            <a:pPr algn="ctr">
              <a:lnSpc>
                <a:spcPct val="100000"/>
              </a:lnSpc>
            </a:pPr>
            <a:r>
              <a:rPr lang="zh-CN" altLang="en-US">
                <a:solidFill>
                  <a:schemeClr val="bg1"/>
                </a:solidFill>
                <a:latin typeface="Times New Roman" panose="02020603050405020304" charset="0"/>
                <a:cs typeface="Times New Roman" panose="02020603050405020304" charset="0"/>
              </a:rPr>
              <a:t>Air</a:t>
            </a:r>
            <a:r>
              <a:rPr lang="en-US" altLang="zh-CN">
                <a:solidFill>
                  <a:schemeClr val="bg1"/>
                </a:solidFill>
                <a:latin typeface="Times New Roman" panose="02020603050405020304" charset="0"/>
                <a:cs typeface="Times New Roman" panose="02020603050405020304" charset="0"/>
              </a:rPr>
              <a:t> </a:t>
            </a:r>
            <a:r>
              <a:rPr lang="zh-CN" altLang="en-US">
                <a:solidFill>
                  <a:schemeClr val="bg1"/>
                </a:solidFill>
                <a:latin typeface="Times New Roman" panose="02020603050405020304" charset="0"/>
                <a:cs typeface="Times New Roman" panose="02020603050405020304" charset="0"/>
              </a:rPr>
              <a:t>control</a:t>
            </a:r>
            <a:endParaRPr lang="zh-CN" altLang="en-US">
              <a:solidFill>
                <a:schemeClr val="bg1"/>
              </a:solidFill>
              <a:latin typeface="Times New Roman" panose="02020603050405020304" charset="0"/>
              <a:cs typeface="Times New Roman" panose="02020603050405020304" charset="0"/>
            </a:endParaRPr>
          </a:p>
          <a:p>
            <a:pPr algn="ctr">
              <a:lnSpc>
                <a:spcPct val="100000"/>
              </a:lnSpc>
            </a:pPr>
            <a:r>
              <a:rPr lang="zh-CN" altLang="en-US">
                <a:solidFill>
                  <a:schemeClr val="bg1"/>
                </a:solidFill>
                <a:latin typeface="Times New Roman" panose="02020603050405020304" charset="0"/>
                <a:cs typeface="Times New Roman" panose="02020603050405020304" charset="0"/>
              </a:rPr>
              <a:t>box</a:t>
            </a:r>
            <a:endParaRPr lang="zh-CN" altLang="en-US">
              <a:solidFill>
                <a:schemeClr val="bg1"/>
              </a:solidFill>
              <a:latin typeface="Times New Roman" panose="02020603050405020304" charset="0"/>
              <a:cs typeface="Times New Roman" panose="02020603050405020304" charset="0"/>
            </a:endParaRPr>
          </a:p>
        </p:txBody>
      </p:sp>
      <p:sp>
        <p:nvSpPr>
          <p:cNvPr id="52233" name="MH_Other_9"/>
          <p:cNvSpPr/>
          <p:nvPr>
            <p:custDataLst>
              <p:tags r:id="rId6"/>
            </p:custDataLst>
          </p:nvPr>
        </p:nvSpPr>
        <p:spPr>
          <a:xfrm>
            <a:off x="4356100" y="2889885"/>
            <a:ext cx="1128713" cy="1298575"/>
          </a:xfrm>
          <a:custGeom>
            <a:avLst/>
            <a:gdLst/>
            <a:ahLst/>
            <a:cxnLst>
              <a:cxn ang="0">
                <a:pos x="0" y="649715"/>
              </a:cxn>
              <a:cxn ang="0">
                <a:pos x="245590" y="0"/>
              </a:cxn>
              <a:cxn ang="0">
                <a:pos x="883560" y="0"/>
              </a:cxn>
              <a:cxn ang="0">
                <a:pos x="1129151" y="649715"/>
              </a:cxn>
              <a:cxn ang="0">
                <a:pos x="883560" y="1299430"/>
              </a:cxn>
              <a:cxn ang="0">
                <a:pos x="245590" y="1299430"/>
              </a:cxn>
              <a:cxn ang="0">
                <a:pos x="0" y="649715"/>
              </a:cxn>
            </a:cxnLst>
            <a:pathLst>
              <a:path w="2008628" h="1747506">
                <a:moveTo>
                  <a:pt x="1004314" y="0"/>
                </a:moveTo>
                <a:lnTo>
                  <a:pt x="2008627" y="380083"/>
                </a:lnTo>
                <a:lnTo>
                  <a:pt x="2008627" y="1367424"/>
                </a:lnTo>
                <a:lnTo>
                  <a:pt x="1004314" y="1747506"/>
                </a:lnTo>
                <a:lnTo>
                  <a:pt x="1" y="1367424"/>
                </a:lnTo>
                <a:lnTo>
                  <a:pt x="1" y="380083"/>
                </a:lnTo>
                <a:lnTo>
                  <a:pt x="1004314" y="0"/>
                </a:lnTo>
                <a:close/>
              </a:path>
            </a:pathLst>
          </a:custGeom>
          <a:solidFill>
            <a:srgbClr val="70B327"/>
          </a:solidFill>
          <a:ln w="12700">
            <a:noFill/>
          </a:ln>
        </p:spPr>
        <p:txBody>
          <a:bodyPr>
            <a:noAutofit/>
          </a:bodyPr>
          <a:p>
            <a:pPr lvl="0" algn="ctr">
              <a:lnSpc>
                <a:spcPct val="270000"/>
              </a:lnSpc>
              <a:buClrTx/>
              <a:buSzTx/>
              <a:buFontTx/>
            </a:pPr>
            <a:r>
              <a:rPr lang="zh-CN" altLang="en-US" sz="2000">
                <a:solidFill>
                  <a:schemeClr val="bg1"/>
                </a:solidFill>
                <a:latin typeface="Times New Roman" panose="02020603050405020304" charset="0"/>
                <a:cs typeface="Times New Roman" panose="02020603050405020304" charset="0"/>
                <a:sym typeface="+mn-ea"/>
              </a:rPr>
              <a:t>Airway</a:t>
            </a:r>
            <a:endParaRPr lang="zh-CN" altLang="en-US" sz="2000">
              <a:solidFill>
                <a:schemeClr val="bg1"/>
              </a:solidFill>
              <a:latin typeface="Times New Roman" panose="02020603050405020304" charset="0"/>
              <a:cs typeface="Times New Roman" panose="02020603050405020304" charset="0"/>
              <a:sym typeface="+mn-ea"/>
            </a:endParaRPr>
          </a:p>
        </p:txBody>
      </p:sp>
      <p:sp>
        <p:nvSpPr>
          <p:cNvPr id="52234" name="MH_SubTitle_1"/>
          <p:cNvSpPr/>
          <p:nvPr>
            <p:custDataLst>
              <p:tags r:id="rId7"/>
            </p:custDataLst>
          </p:nvPr>
        </p:nvSpPr>
        <p:spPr>
          <a:xfrm>
            <a:off x="2322513" y="2073910"/>
            <a:ext cx="2538412" cy="711200"/>
          </a:xfrm>
          <a:prstGeom prst="rect">
            <a:avLst/>
          </a:prstGeom>
          <a:noFill/>
          <a:ln w="9525">
            <a:noFill/>
          </a:ln>
        </p:spPr>
        <p:txBody>
          <a:bodyPr lIns="90000" tIns="46800" rIns="90000" bIns="46800" anchor="t" anchorCtr="0">
            <a:noAutofit/>
          </a:bodyPr>
          <a:p>
            <a:pPr lvl="0" algn="r">
              <a:buClrTx/>
              <a:buSzTx/>
              <a:buFontTx/>
            </a:pPr>
            <a:r>
              <a:rPr lang="zh-CN" altLang="da-DK" sz="1600" b="1" dirty="0">
                <a:latin typeface="微软雅黑" panose="020B0503020204020204" charset="-122"/>
                <a:ea typeface="微软雅黑" panose="020B0503020204020204" charset="-122"/>
                <a:sym typeface="黑体" panose="02010609060101010101" charset="-122"/>
              </a:rPr>
              <a:t>绝缘油</a:t>
            </a:r>
            <a:r>
              <a:rPr lang="zh-CN" altLang="en-US" sz="1600" dirty="0">
                <a:solidFill>
                  <a:srgbClr val="595959"/>
                </a:solidFill>
                <a:latin typeface="微软雅黑" panose="020B0503020204020204" charset="-122"/>
                <a:ea typeface="微软雅黑" panose="020B0503020204020204" charset="-122"/>
                <a:cs typeface="微软雅黑" panose="020B0503020204020204" charset="-122"/>
                <a:sym typeface="黑体" panose="02010609060101010101" charset="-122"/>
              </a:rPr>
              <a:t>：绝缘、散热。</a:t>
            </a:r>
            <a:endParaRPr lang="zh-CN" altLang="en-US" sz="1600" dirty="0">
              <a:solidFill>
                <a:srgbClr val="595959"/>
              </a:solidFill>
              <a:latin typeface="微软雅黑" panose="020B0503020204020204" charset="-122"/>
              <a:ea typeface="微软雅黑" panose="020B0503020204020204" charset="-122"/>
              <a:cs typeface="微软雅黑" panose="020B0503020204020204" charset="-122"/>
              <a:sym typeface="黑体" panose="02010609060101010101" charset="-122"/>
            </a:endParaRPr>
          </a:p>
        </p:txBody>
      </p:sp>
      <p:sp>
        <p:nvSpPr>
          <p:cNvPr id="52235" name="MH_SubTitle_2"/>
          <p:cNvSpPr/>
          <p:nvPr>
            <p:custDataLst>
              <p:tags r:id="rId8"/>
            </p:custDataLst>
          </p:nvPr>
        </p:nvSpPr>
        <p:spPr>
          <a:xfrm>
            <a:off x="1716088" y="2785110"/>
            <a:ext cx="2538412" cy="709613"/>
          </a:xfrm>
          <a:prstGeom prst="rect">
            <a:avLst/>
          </a:prstGeom>
          <a:noFill/>
          <a:ln w="9525">
            <a:noFill/>
          </a:ln>
        </p:spPr>
        <p:txBody>
          <a:bodyPr lIns="90000" tIns="46800" rIns="90000" bIns="46800" anchor="t" anchorCtr="0">
            <a:noAutofit/>
          </a:bodyPr>
          <a:p>
            <a:pPr lvl="0" algn="r">
              <a:buClrTx/>
              <a:buSzTx/>
              <a:buFontTx/>
            </a:pPr>
            <a:r>
              <a:rPr lang="zh-CN" altLang="da-DK" sz="1600" b="1" dirty="0">
                <a:latin typeface="微软雅黑" panose="020B0503020204020204" charset="-122"/>
                <a:ea typeface="微软雅黑" panose="020B0503020204020204" charset="-122"/>
                <a:sym typeface="+mn-ea"/>
              </a:rPr>
              <a:t>安全气道</a:t>
            </a:r>
            <a:r>
              <a:rPr lang="zh-CN" altLang="en-US" sz="1600" dirty="0">
                <a:solidFill>
                  <a:srgbClr val="595959"/>
                </a:solidFill>
                <a:latin typeface="微软雅黑" panose="020B0503020204020204" charset="-122"/>
                <a:ea typeface="微软雅黑" panose="020B0503020204020204" charset="-122"/>
                <a:cs typeface="微软雅黑" panose="020B0503020204020204" charset="-122"/>
                <a:sym typeface="+mn-ea"/>
              </a:rPr>
              <a:t>（防爆管） 装在油箱顶盖上，保护设备，防止出现故障时损坏油箱。当变压器发生故障而产生大量气体时，油箱内的压强增大，气体和油将冲破防爆膜向外喷出，避免油箱爆裂。</a:t>
            </a:r>
            <a:endParaRPr lang="zh-CN" altLang="en-US" sz="1600" dirty="0">
              <a:solidFill>
                <a:srgbClr val="595959"/>
              </a:solidFill>
              <a:latin typeface="微软雅黑" panose="020B0503020204020204" charset="-122"/>
              <a:ea typeface="微软雅黑" panose="020B0503020204020204" charset="-122"/>
              <a:cs typeface="微软雅黑" panose="020B0503020204020204" charset="-122"/>
              <a:sym typeface="+mn-ea"/>
            </a:endParaRPr>
          </a:p>
        </p:txBody>
      </p:sp>
      <p:sp>
        <p:nvSpPr>
          <p:cNvPr id="52236" name="MH_SubTitle_3"/>
          <p:cNvSpPr/>
          <p:nvPr>
            <p:custDataLst>
              <p:tags r:id="rId9"/>
            </p:custDataLst>
          </p:nvPr>
        </p:nvSpPr>
        <p:spPr>
          <a:xfrm>
            <a:off x="2328863" y="5150485"/>
            <a:ext cx="2538412" cy="709613"/>
          </a:xfrm>
          <a:prstGeom prst="rect">
            <a:avLst/>
          </a:prstGeom>
          <a:noFill/>
          <a:ln w="9525">
            <a:noFill/>
          </a:ln>
        </p:spPr>
        <p:txBody>
          <a:bodyPr lIns="90000" tIns="46800" rIns="90000" bIns="46800" anchor="t" anchorCtr="0">
            <a:noAutofit/>
          </a:bodyPr>
          <a:p>
            <a:pPr lvl="0" algn="r">
              <a:buClrTx/>
              <a:buSzTx/>
              <a:buFontTx/>
            </a:pPr>
            <a:r>
              <a:rPr lang="zh-CN" altLang="da-DK" sz="1600" b="1" dirty="0">
                <a:latin typeface="微软雅黑" panose="020B0503020204020204" charset="-122"/>
                <a:ea typeface="微软雅黑" panose="020B0503020204020204" charset="-122"/>
                <a:sym typeface="黑体" panose="02010609060101010101" charset="-122"/>
              </a:rPr>
              <a:t>风扇</a:t>
            </a:r>
            <a:r>
              <a:rPr lang="zh-CN" altLang="en-US" sz="1600" dirty="0">
                <a:solidFill>
                  <a:srgbClr val="595959"/>
                </a:solidFill>
                <a:latin typeface="微软雅黑" panose="020B0503020204020204" charset="-122"/>
                <a:ea typeface="微软雅黑" panose="020B0503020204020204" charset="-122"/>
                <a:cs typeface="微软雅黑" panose="020B0503020204020204" charset="-122"/>
                <a:sym typeface="黑体" panose="02010609060101010101" charset="-122"/>
              </a:rPr>
              <a:t> </a:t>
            </a:r>
            <a:endParaRPr lang="zh-CN" altLang="en-US" sz="1600" dirty="0">
              <a:solidFill>
                <a:srgbClr val="595959"/>
              </a:solidFill>
              <a:latin typeface="微软雅黑" panose="020B0503020204020204" charset="-122"/>
              <a:ea typeface="微软雅黑" panose="020B0503020204020204" charset="-122"/>
              <a:cs typeface="微软雅黑" panose="020B0503020204020204" charset="-122"/>
              <a:sym typeface="黑体" panose="02010609060101010101" charset="-122"/>
            </a:endParaRPr>
          </a:p>
        </p:txBody>
      </p:sp>
      <p:sp>
        <p:nvSpPr>
          <p:cNvPr id="52237" name="MH_SubTitle_4"/>
          <p:cNvSpPr/>
          <p:nvPr>
            <p:custDataLst>
              <p:tags r:id="rId10"/>
            </p:custDataLst>
          </p:nvPr>
        </p:nvSpPr>
        <p:spPr>
          <a:xfrm>
            <a:off x="7418388" y="2073910"/>
            <a:ext cx="2536825" cy="711200"/>
          </a:xfrm>
          <a:prstGeom prst="rect">
            <a:avLst/>
          </a:prstGeom>
          <a:noFill/>
          <a:ln w="9525">
            <a:noFill/>
          </a:ln>
        </p:spPr>
        <p:txBody>
          <a:bodyPr lIns="90000" tIns="46800" rIns="90000" bIns="46800" anchor="t" anchorCtr="0">
            <a:noAutofit/>
          </a:bodyPr>
          <a:p>
            <a:pPr lvl="0" algn="l">
              <a:buClrTx/>
              <a:buSzTx/>
              <a:buFontTx/>
            </a:pPr>
            <a:r>
              <a:rPr lang="zh-CN" altLang="da-DK" sz="1600" b="1" dirty="0">
                <a:latin typeface="微软雅黑" panose="020B0503020204020204" charset="-122"/>
                <a:ea typeface="微软雅黑" panose="020B0503020204020204" charset="-122"/>
                <a:sym typeface="黑体" panose="02010609060101010101" charset="-122"/>
              </a:rPr>
              <a:t>测温装置</a:t>
            </a:r>
            <a:r>
              <a:rPr lang="zh-CN" altLang="en-US" sz="1600" dirty="0">
                <a:solidFill>
                  <a:srgbClr val="595959"/>
                </a:solidFill>
                <a:latin typeface="微软雅黑" panose="020B0503020204020204" charset="-122"/>
                <a:ea typeface="微软雅黑" panose="020B0503020204020204" charset="-122"/>
                <a:cs typeface="微软雅黑" panose="020B0503020204020204" charset="-122"/>
                <a:sym typeface="黑体" panose="02010609060101010101" charset="-122"/>
              </a:rPr>
              <a:t>：监测变压器油面、绕组温度；</a:t>
            </a:r>
            <a:endParaRPr lang="zh-CN" altLang="en-US" sz="1600" dirty="0">
              <a:solidFill>
                <a:srgbClr val="595959"/>
              </a:solidFill>
              <a:latin typeface="微软雅黑" panose="020B0503020204020204" charset="-122"/>
              <a:ea typeface="微软雅黑" panose="020B0503020204020204" charset="-122"/>
              <a:cs typeface="微软雅黑" panose="020B0503020204020204" charset="-122"/>
              <a:sym typeface="黑体" panose="02010609060101010101" charset="-122"/>
            </a:endParaRPr>
          </a:p>
        </p:txBody>
      </p:sp>
      <p:sp>
        <p:nvSpPr>
          <p:cNvPr id="52238" name="MH_SubTitle_5"/>
          <p:cNvSpPr/>
          <p:nvPr>
            <p:custDataLst>
              <p:tags r:id="rId11"/>
            </p:custDataLst>
          </p:nvPr>
        </p:nvSpPr>
        <p:spPr>
          <a:xfrm>
            <a:off x="8034338" y="3281998"/>
            <a:ext cx="2538412" cy="709612"/>
          </a:xfrm>
          <a:prstGeom prst="rect">
            <a:avLst/>
          </a:prstGeom>
          <a:noFill/>
          <a:ln w="9525">
            <a:noFill/>
          </a:ln>
        </p:spPr>
        <p:txBody>
          <a:bodyPr lIns="90000" tIns="46800" rIns="90000" bIns="46800" anchor="t" anchorCtr="0">
            <a:noAutofit/>
          </a:bodyPr>
          <a:p>
            <a:pPr lvl="0" algn="l">
              <a:buClrTx/>
              <a:buSzTx/>
              <a:buFontTx/>
            </a:pPr>
            <a:r>
              <a:rPr lang="zh-CN" altLang="da-DK" sz="1600" b="1" dirty="0">
                <a:latin typeface="微软雅黑" panose="020B0503020204020204" charset="-122"/>
                <a:ea typeface="微软雅黑" panose="020B0503020204020204" charset="-122"/>
                <a:sym typeface="黑体" panose="02010609060101010101" charset="-122"/>
              </a:rPr>
              <a:t>避雷器 电流互感器</a:t>
            </a:r>
            <a:r>
              <a:rPr lang="zh-CN" altLang="en-US" sz="1600" dirty="0">
                <a:solidFill>
                  <a:srgbClr val="595959"/>
                </a:solidFill>
                <a:latin typeface="微软雅黑" panose="020B0503020204020204" charset="-122"/>
                <a:ea typeface="微软雅黑" panose="020B0503020204020204" charset="-122"/>
                <a:cs typeface="微软雅黑" panose="020B0503020204020204" charset="-122"/>
                <a:sym typeface="黑体" panose="02010609060101010101" charset="-122"/>
              </a:rPr>
              <a:t> </a:t>
            </a:r>
            <a:endParaRPr lang="zh-CN" altLang="en-US" sz="1600" dirty="0">
              <a:solidFill>
                <a:srgbClr val="595959"/>
              </a:solidFill>
              <a:latin typeface="微软雅黑" panose="020B0503020204020204" charset="-122"/>
              <a:ea typeface="微软雅黑" panose="020B0503020204020204" charset="-122"/>
              <a:cs typeface="微软雅黑" panose="020B0503020204020204" charset="-122"/>
              <a:sym typeface="黑体" panose="02010609060101010101" charset="-122"/>
            </a:endParaRPr>
          </a:p>
        </p:txBody>
      </p:sp>
      <p:sp>
        <p:nvSpPr>
          <p:cNvPr id="52239" name="MH_SubTitle_6"/>
          <p:cNvSpPr/>
          <p:nvPr>
            <p:custDataLst>
              <p:tags r:id="rId12"/>
            </p:custDataLst>
          </p:nvPr>
        </p:nvSpPr>
        <p:spPr>
          <a:xfrm>
            <a:off x="7370128" y="4950143"/>
            <a:ext cx="2536825" cy="709612"/>
          </a:xfrm>
          <a:prstGeom prst="rect">
            <a:avLst/>
          </a:prstGeom>
          <a:noFill/>
          <a:ln w="9525">
            <a:noFill/>
          </a:ln>
        </p:spPr>
        <p:txBody>
          <a:bodyPr lIns="90000" tIns="46800" rIns="90000" bIns="46800" anchor="t" anchorCtr="0">
            <a:noAutofit/>
          </a:bodyPr>
          <a:p>
            <a:pPr lvl="0" algn="l">
              <a:buClrTx/>
              <a:buSzTx/>
              <a:buFontTx/>
            </a:pPr>
            <a:r>
              <a:rPr lang="zh-CN" altLang="da-DK" sz="1600" b="1" dirty="0">
                <a:latin typeface="微软雅黑" panose="020B0503020204020204" charset="-122"/>
                <a:ea typeface="微软雅黑" panose="020B0503020204020204" charset="-122"/>
                <a:sym typeface="+mn-ea"/>
              </a:rPr>
              <a:t>风控箱</a:t>
            </a:r>
            <a:r>
              <a:rPr lang="zh-CN" altLang="en-US" sz="1600" dirty="0">
                <a:solidFill>
                  <a:srgbClr val="595959"/>
                </a:solidFill>
                <a:latin typeface="微软雅黑" panose="020B0503020204020204" charset="-122"/>
                <a:ea typeface="微软雅黑" panose="020B0503020204020204" charset="-122"/>
                <a:cs typeface="微软雅黑" panose="020B0503020204020204" charset="-122"/>
                <a:sym typeface="+mn-ea"/>
              </a:rPr>
              <a:t> 气体在线监测系统  </a:t>
            </a:r>
            <a:endParaRPr lang="zh-CN" altLang="en-US" sz="1600" dirty="0">
              <a:solidFill>
                <a:srgbClr val="595959"/>
              </a:solidFill>
              <a:latin typeface="微软雅黑" panose="020B0503020204020204" charset="-122"/>
              <a:ea typeface="微软雅黑" panose="020B0503020204020204" charset="-122"/>
              <a:cs typeface="微软雅黑" panose="020B0503020204020204" charset="-122"/>
              <a:sym typeface="+mn-ea"/>
            </a:endParaRPr>
          </a:p>
        </p:txBody>
      </p:sp>
      <p:sp>
        <p:nvSpPr>
          <p:cNvPr id="52240" name="MH_Title_1"/>
          <p:cNvSpPr/>
          <p:nvPr>
            <p:custDataLst>
              <p:tags r:id="rId13"/>
            </p:custDataLst>
          </p:nvPr>
        </p:nvSpPr>
        <p:spPr>
          <a:xfrm>
            <a:off x="5580063" y="2889885"/>
            <a:ext cx="1128712" cy="1298575"/>
          </a:xfrm>
          <a:custGeom>
            <a:avLst/>
            <a:gdLst>
              <a:gd name="txL" fmla="*/ 0 w 2008628"/>
              <a:gd name="txT" fmla="*/ 0 h 1747506"/>
              <a:gd name="txR" fmla="*/ 2008628 w 2008628"/>
              <a:gd name="txB" fmla="*/ 1747506 h 1747506"/>
            </a:gdLst>
            <a:ahLst/>
            <a:cxnLst>
              <a:cxn ang="0">
                <a:pos x="0" y="649715"/>
              </a:cxn>
              <a:cxn ang="0">
                <a:pos x="245590" y="0"/>
              </a:cxn>
              <a:cxn ang="0">
                <a:pos x="883560" y="0"/>
              </a:cxn>
              <a:cxn ang="0">
                <a:pos x="1129151" y="649715"/>
              </a:cxn>
              <a:cxn ang="0">
                <a:pos x="883560" y="1299430"/>
              </a:cxn>
              <a:cxn ang="0">
                <a:pos x="245590" y="1299430"/>
              </a:cxn>
              <a:cxn ang="0">
                <a:pos x="0" y="649715"/>
              </a:cxn>
            </a:cxnLst>
            <a:rect l="txL" t="txT" r="txR" b="txB"/>
            <a:pathLst>
              <a:path w="2008628" h="1747506">
                <a:moveTo>
                  <a:pt x="1004314" y="0"/>
                </a:moveTo>
                <a:lnTo>
                  <a:pt x="2008627" y="380083"/>
                </a:lnTo>
                <a:lnTo>
                  <a:pt x="2008627" y="1367424"/>
                </a:lnTo>
                <a:lnTo>
                  <a:pt x="1004314" y="1747506"/>
                </a:lnTo>
                <a:lnTo>
                  <a:pt x="1" y="1367424"/>
                </a:lnTo>
                <a:lnTo>
                  <a:pt x="1" y="380083"/>
                </a:lnTo>
                <a:lnTo>
                  <a:pt x="1004314" y="0"/>
                </a:lnTo>
                <a:close/>
              </a:path>
            </a:pathLst>
          </a:custGeom>
          <a:solidFill>
            <a:srgbClr val="70B327"/>
          </a:solidFill>
          <a:ln w="12700">
            <a:noFill/>
          </a:ln>
        </p:spPr>
        <p:txBody>
          <a:bodyPr lIns="90000" tIns="46800" rIns="90000" bIns="46800" anchor="ctr" anchorCtr="0"/>
          <a:p>
            <a:pPr algn="ctr" defTabSz="1200150">
              <a:lnSpc>
                <a:spcPct val="90000"/>
              </a:lnSpc>
              <a:spcAft>
                <a:spcPct val="35000"/>
              </a:spcAft>
            </a:pPr>
            <a:endParaRPr lang="zh-CN" altLang="en-US" sz="2700">
              <a:solidFill>
                <a:schemeClr val="bg1"/>
              </a:solidFill>
              <a:latin typeface="Times New Roman" panose="02020603050405020304"/>
              <a:ea typeface="幼圆" panose="02010509060101010101" charset="-122"/>
              <a:sym typeface="黑体" panose="02010609060101010101" charset="-122"/>
            </a:endParaRPr>
          </a:p>
        </p:txBody>
      </p:sp>
    </p:spTree>
    <p:custDataLst>
      <p:tags r:id="rId1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marL="571500" indent="-571500">
              <a:buFont typeface="Wingdings" panose="05000000000000000000" charset="0"/>
              <a:buChar char="Ø"/>
            </a:pPr>
            <a:r>
              <a:rPr lang="en-US" altLang="zh-CN" b="0" spc="0" dirty="0">
                <a:solidFill>
                  <a:schemeClr val="accent4">
                    <a:lumMod val="50000"/>
                  </a:schemeClr>
                </a:solidFill>
                <a:latin typeface="Impact" panose="020B0806030902050204" pitchFamily="34" charset="0"/>
                <a:ea typeface="方正舒体" panose="02010601030101010101" pitchFamily="2" charset="-122"/>
                <a:cs typeface="+mn-cs"/>
                <a:sym typeface="+mn-ea"/>
              </a:rPr>
              <a:t>02</a:t>
            </a:r>
            <a:r>
              <a:rPr lang="en-US" altLang="zh-CN">
                <a:sym typeface="+mn-ea"/>
              </a:rPr>
              <a:t> </a:t>
            </a:r>
            <a:r>
              <a:rPr lang="zh-CN" altLang="en-US">
                <a:solidFill>
                  <a:schemeClr val="accent4">
                    <a:lumMod val="50000"/>
                  </a:schemeClr>
                </a:solidFill>
                <a:latin typeface="微软雅黑" panose="020B0503020204020204" charset="-122"/>
                <a:ea typeface="微软雅黑" panose="020B0503020204020204" charset="-122"/>
                <a:sym typeface="+mn-ea"/>
              </a:rPr>
              <a:t>变压器</a:t>
            </a:r>
            <a:r>
              <a:rPr lang="zh-CN" altLang="en-US" dirty="0">
                <a:solidFill>
                  <a:schemeClr val="accent4">
                    <a:lumMod val="50000"/>
                  </a:schemeClr>
                </a:solidFill>
                <a:latin typeface="微软雅黑" panose="020B0503020204020204" charset="-122"/>
                <a:ea typeface="微软雅黑" panose="020B0503020204020204" charset="-122"/>
                <a:sym typeface="黑体" panose="02010609060101010101" charset="-122"/>
              </a:rPr>
              <a:t>组成</a:t>
            </a:r>
            <a:endParaRPr lang="zh-CN" altLang="en-US"/>
          </a:p>
        </p:txBody>
      </p:sp>
      <p:pic>
        <p:nvPicPr>
          <p:cNvPr id="53258" name="图片 2"/>
          <p:cNvPicPr>
            <a:picLocks noChangeAspect="1"/>
          </p:cNvPicPr>
          <p:nvPr>
            <p:custDataLst>
              <p:tags r:id="rId1"/>
            </p:custDataLst>
          </p:nvPr>
        </p:nvPicPr>
        <p:blipFill>
          <a:blip r:embed="rId2"/>
          <a:stretch>
            <a:fillRect/>
          </a:stretch>
        </p:blipFill>
        <p:spPr>
          <a:xfrm>
            <a:off x="2533015" y="1236345"/>
            <a:ext cx="6811645" cy="5132070"/>
          </a:xfrm>
          <a:prstGeom prst="rect">
            <a:avLst/>
          </a:prstGeom>
          <a:noFill/>
          <a:ln w="9525">
            <a:noFill/>
          </a:ln>
        </p:spPr>
      </p:pic>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marL="571500" indent="-571500">
              <a:buFont typeface="Wingdings" panose="05000000000000000000" charset="0"/>
              <a:buChar char="Ø"/>
            </a:pPr>
            <a:r>
              <a:rPr lang="en-US" altLang="zh-CN" b="0" spc="0" dirty="0">
                <a:solidFill>
                  <a:schemeClr val="accent4">
                    <a:lumMod val="50000"/>
                  </a:schemeClr>
                </a:solidFill>
                <a:latin typeface="Impact" panose="020B0806030902050204" pitchFamily="34" charset="0"/>
                <a:ea typeface="方正舒体" panose="02010601030101010101" pitchFamily="2" charset="-122"/>
                <a:cs typeface="+mn-cs"/>
                <a:sym typeface="+mn-ea"/>
              </a:rPr>
              <a:t>02</a:t>
            </a:r>
            <a:r>
              <a:rPr lang="en-US" altLang="zh-CN">
                <a:sym typeface="+mn-ea"/>
              </a:rPr>
              <a:t> </a:t>
            </a:r>
            <a:r>
              <a:rPr lang="zh-CN" altLang="en-US">
                <a:solidFill>
                  <a:schemeClr val="accent4">
                    <a:lumMod val="50000"/>
                  </a:schemeClr>
                </a:solidFill>
                <a:latin typeface="微软雅黑" panose="020B0503020204020204" charset="-122"/>
                <a:ea typeface="微软雅黑" panose="020B0503020204020204" charset="-122"/>
                <a:sym typeface="+mn-ea"/>
              </a:rPr>
              <a:t>变压器</a:t>
            </a:r>
            <a:r>
              <a:rPr lang="zh-CN" altLang="en-US" dirty="0">
                <a:solidFill>
                  <a:schemeClr val="accent4">
                    <a:lumMod val="50000"/>
                  </a:schemeClr>
                </a:solidFill>
                <a:latin typeface="微软雅黑" panose="020B0503020204020204" charset="-122"/>
                <a:ea typeface="微软雅黑" panose="020B0503020204020204" charset="-122"/>
                <a:sym typeface="黑体" panose="02010609060101010101" charset="-122"/>
              </a:rPr>
              <a:t>组成</a:t>
            </a:r>
            <a:endParaRPr lang="zh-CN" altLang="en-US"/>
          </a:p>
        </p:txBody>
      </p:sp>
      <p:pic>
        <p:nvPicPr>
          <p:cNvPr id="55306" name="图片 2"/>
          <p:cNvPicPr>
            <a:picLocks noChangeAspect="1"/>
          </p:cNvPicPr>
          <p:nvPr>
            <p:custDataLst>
              <p:tags r:id="rId1"/>
            </p:custDataLst>
          </p:nvPr>
        </p:nvPicPr>
        <p:blipFill>
          <a:blip r:embed="rId2"/>
          <a:stretch>
            <a:fillRect/>
          </a:stretch>
        </p:blipFill>
        <p:spPr>
          <a:xfrm>
            <a:off x="1864043" y="1313498"/>
            <a:ext cx="8205787" cy="4918075"/>
          </a:xfrm>
          <a:prstGeom prst="rect">
            <a:avLst/>
          </a:prstGeom>
          <a:noFill/>
          <a:ln w="9525">
            <a:noFill/>
          </a:ln>
        </p:spPr>
      </p:pic>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3011" name="图片 1"/>
          <p:cNvPicPr>
            <a:picLocks noChangeAspect="1"/>
          </p:cNvPicPr>
          <p:nvPr>
            <p:custDataLst>
              <p:tags r:id="rId1"/>
            </p:custDataLst>
          </p:nvPr>
        </p:nvPicPr>
        <p:blipFill>
          <a:blip r:embed="rId2"/>
          <a:stretch>
            <a:fillRect/>
          </a:stretch>
        </p:blipFill>
        <p:spPr>
          <a:xfrm>
            <a:off x="5672455" y="1390650"/>
            <a:ext cx="2295525" cy="3064510"/>
          </a:xfrm>
          <a:prstGeom prst="rect">
            <a:avLst/>
          </a:prstGeom>
          <a:noFill/>
          <a:ln w="9525">
            <a:noFill/>
          </a:ln>
        </p:spPr>
      </p:pic>
      <p:pic>
        <p:nvPicPr>
          <p:cNvPr id="19459" name="内容占位符 259076" descr="IMG_3055"/>
          <p:cNvPicPr>
            <a:picLocks noGrp="1" noChangeAspect="1"/>
          </p:cNvPicPr>
          <p:nvPr>
            <p:custDataLst>
              <p:tags r:id="rId3"/>
            </p:custDataLst>
          </p:nvPr>
        </p:nvPicPr>
        <p:blipFill>
          <a:blip r:embed="rId4">
            <a:clrChange>
              <a:clrFrom>
                <a:srgbClr val="FFFFFF"/>
              </a:clrFrom>
              <a:clrTo>
                <a:srgbClr val="FFFFFF">
                  <a:alpha val="0"/>
                </a:srgbClr>
              </a:clrTo>
            </a:clrChange>
          </a:blip>
          <a:stretch>
            <a:fillRect/>
          </a:stretch>
        </p:blipFill>
        <p:spPr>
          <a:xfrm>
            <a:off x="2916238" y="1391285"/>
            <a:ext cx="2693987" cy="3063875"/>
          </a:xfrm>
          <a:prstGeom prst="rect">
            <a:avLst/>
          </a:prstGeom>
          <a:noFill/>
          <a:ln w="9525">
            <a:noFill/>
          </a:ln>
        </p:spPr>
      </p:pic>
      <p:sp>
        <p:nvSpPr>
          <p:cNvPr id="19460" name="圆角矩形标注 259078"/>
          <p:cNvSpPr/>
          <p:nvPr>
            <p:custDataLst>
              <p:tags r:id="rId5"/>
            </p:custDataLst>
          </p:nvPr>
        </p:nvSpPr>
        <p:spPr>
          <a:xfrm>
            <a:off x="1874838" y="1718628"/>
            <a:ext cx="865187" cy="431800"/>
          </a:xfrm>
          <a:prstGeom prst="wedgeRoundRectCallout">
            <a:avLst>
              <a:gd name="adj1" fmla="val 73852"/>
              <a:gd name="adj2" fmla="val 95954"/>
              <a:gd name="adj3" fmla="val 16667"/>
            </a:avLst>
          </a:prstGeom>
          <a:solidFill>
            <a:schemeClr val="bg1"/>
          </a:solidFill>
          <a:ln w="9525" cap="flat" cmpd="sng">
            <a:solidFill>
              <a:schemeClr val="folHlink"/>
            </a:solidFill>
            <a:prstDash val="solid"/>
            <a:miter/>
            <a:headEnd type="none" w="med" len="med"/>
            <a:tailEnd type="none" w="med" len="med"/>
          </a:ln>
        </p:spPr>
        <p:txBody>
          <a:bodyPr anchor="t" anchorCtr="0"/>
          <a:p>
            <a:pPr algn="ctr"/>
            <a:r>
              <a:rPr lang="zh-CN" altLang="en-US" dirty="0">
                <a:latin typeface="Tahoma" panose="020B0604030504040204" charset="0"/>
                <a:ea typeface="宋体" panose="02010600030101010101" pitchFamily="2" charset="-122"/>
              </a:rPr>
              <a:t>线圈</a:t>
            </a:r>
            <a:endParaRPr lang="zh-CN" altLang="en-US" dirty="0">
              <a:latin typeface="Tahoma" panose="020B0604030504040204" charset="0"/>
              <a:ea typeface="宋体" panose="02010600030101010101" pitchFamily="2" charset="-122"/>
            </a:endParaRPr>
          </a:p>
        </p:txBody>
      </p:sp>
      <p:grpSp>
        <p:nvGrpSpPr>
          <p:cNvPr id="19461" name="组合 259082"/>
          <p:cNvGrpSpPr/>
          <p:nvPr/>
        </p:nvGrpSpPr>
        <p:grpSpPr>
          <a:xfrm>
            <a:off x="7717473" y="3613150"/>
            <a:ext cx="3602037" cy="3257550"/>
            <a:chOff x="2336" y="1933"/>
            <a:chExt cx="2269" cy="2052"/>
          </a:xfrm>
        </p:grpSpPr>
        <p:pic>
          <p:nvPicPr>
            <p:cNvPr id="19462" name="图片 259077" descr="IMG_3052"/>
            <p:cNvPicPr>
              <a:picLocks noChangeAspect="1"/>
            </p:cNvPicPr>
            <p:nvPr>
              <p:custDataLst>
                <p:tags r:id="rId6"/>
              </p:custDataLst>
            </p:nvPr>
          </p:nvPicPr>
          <p:blipFill>
            <a:blip r:embed="rId7"/>
            <a:stretch>
              <a:fillRect/>
            </a:stretch>
          </p:blipFill>
          <p:spPr>
            <a:xfrm>
              <a:off x="2336" y="1933"/>
              <a:ext cx="2269" cy="1802"/>
            </a:xfrm>
            <a:prstGeom prst="rect">
              <a:avLst/>
            </a:prstGeom>
            <a:noFill/>
            <a:ln w="9525">
              <a:noFill/>
            </a:ln>
          </p:spPr>
        </p:pic>
        <p:sp>
          <p:nvSpPr>
            <p:cNvPr id="19463" name="文本框 259079"/>
            <p:cNvSpPr txBox="1"/>
            <p:nvPr>
              <p:custDataLst>
                <p:tags r:id="rId8"/>
              </p:custDataLst>
            </p:nvPr>
          </p:nvSpPr>
          <p:spPr>
            <a:xfrm>
              <a:off x="3107" y="3793"/>
              <a:ext cx="409" cy="192"/>
            </a:xfrm>
            <a:prstGeom prst="rect">
              <a:avLst/>
            </a:prstGeom>
            <a:noFill/>
            <a:ln w="9525">
              <a:noFill/>
            </a:ln>
          </p:spPr>
          <p:txBody>
            <a:bodyPr anchor="t" anchorCtr="0">
              <a:spAutoFit/>
            </a:bodyPr>
            <a:p>
              <a:pPr>
                <a:spcBef>
                  <a:spcPct val="50000"/>
                </a:spcBef>
              </a:pPr>
              <a:r>
                <a:rPr lang="zh-CN" altLang="en-US" sz="1400" dirty="0">
                  <a:latin typeface="Tahoma" panose="020B0604030504040204" charset="0"/>
                  <a:ea typeface="宋体" panose="02010600030101010101" pitchFamily="2" charset="-122"/>
                </a:rPr>
                <a:t>图</a:t>
              </a:r>
              <a:r>
                <a:rPr lang="en-US" altLang="zh-CN" sz="1400">
                  <a:latin typeface="Tahoma" panose="020B0604030504040204" charset="0"/>
                  <a:ea typeface="宋体" panose="02010600030101010101" pitchFamily="2" charset="-122"/>
                </a:rPr>
                <a:t>1-7</a:t>
              </a:r>
              <a:endParaRPr lang="en-US" altLang="zh-CN" sz="1400">
                <a:latin typeface="Tahoma" panose="020B0604030504040204" charset="0"/>
                <a:ea typeface="宋体" panose="02010600030101010101" pitchFamily="2" charset="-122"/>
              </a:endParaRPr>
            </a:p>
          </p:txBody>
        </p:sp>
      </p:grpSp>
      <p:grpSp>
        <p:nvGrpSpPr>
          <p:cNvPr id="19464" name="组合 259083"/>
          <p:cNvGrpSpPr/>
          <p:nvPr/>
        </p:nvGrpSpPr>
        <p:grpSpPr>
          <a:xfrm>
            <a:off x="8836660" y="2808923"/>
            <a:ext cx="2032000" cy="1052512"/>
            <a:chOff x="4286" y="1815"/>
            <a:chExt cx="1280" cy="663"/>
          </a:xfrm>
        </p:grpSpPr>
        <p:sp>
          <p:nvSpPr>
            <p:cNvPr id="19465" name="直接连接符 259080"/>
            <p:cNvSpPr/>
            <p:nvPr>
              <p:custDataLst>
                <p:tags r:id="rId9"/>
              </p:custDataLst>
            </p:nvPr>
          </p:nvSpPr>
          <p:spPr>
            <a:xfrm flipH="1">
              <a:off x="4286" y="1933"/>
              <a:ext cx="681" cy="545"/>
            </a:xfrm>
            <a:prstGeom prst="line">
              <a:avLst/>
            </a:prstGeom>
            <a:ln w="28575" cap="flat" cmpd="sng">
              <a:solidFill>
                <a:schemeClr val="folHlink"/>
              </a:solidFill>
              <a:prstDash val="solid"/>
              <a:round/>
              <a:headEnd type="none" w="med" len="med"/>
              <a:tailEnd type="triangle" w="med" len="med"/>
            </a:ln>
          </p:spPr>
        </p:sp>
        <p:sp>
          <p:nvSpPr>
            <p:cNvPr id="19466" name="文本框 259081"/>
            <p:cNvSpPr txBox="1"/>
            <p:nvPr>
              <p:custDataLst>
                <p:tags r:id="rId10"/>
              </p:custDataLst>
            </p:nvPr>
          </p:nvSpPr>
          <p:spPr>
            <a:xfrm>
              <a:off x="4931" y="1815"/>
              <a:ext cx="635" cy="192"/>
            </a:xfrm>
            <a:prstGeom prst="rect">
              <a:avLst/>
            </a:prstGeom>
            <a:noFill/>
            <a:ln w="9525">
              <a:noFill/>
            </a:ln>
          </p:spPr>
          <p:txBody>
            <a:bodyPr anchor="t" anchorCtr="0">
              <a:spAutoFit/>
            </a:bodyPr>
            <a:p>
              <a:pPr>
                <a:spcBef>
                  <a:spcPct val="50000"/>
                </a:spcBef>
              </a:pPr>
              <a:r>
                <a:rPr lang="zh-CN" altLang="en-US" sz="1400" dirty="0">
                  <a:solidFill>
                    <a:schemeClr val="folHlink"/>
                  </a:solidFill>
                  <a:latin typeface="Tahoma" panose="020B0604030504040204" charset="0"/>
                  <a:ea typeface="宋体" panose="02010600030101010101" pitchFamily="2" charset="-122"/>
                </a:rPr>
                <a:t>纸包铜线</a:t>
              </a:r>
              <a:endParaRPr lang="zh-CN" altLang="en-US" sz="1400" dirty="0">
                <a:solidFill>
                  <a:schemeClr val="folHlink"/>
                </a:solidFill>
                <a:latin typeface="Tahoma" panose="020B0604030504040204" charset="0"/>
                <a:ea typeface="宋体" panose="02010600030101010101" pitchFamily="2" charset="-122"/>
              </a:endParaRPr>
            </a:p>
          </p:txBody>
        </p:sp>
      </p:grpSp>
      <p:pic>
        <p:nvPicPr>
          <p:cNvPr id="43010" name="图片 7"/>
          <p:cNvPicPr>
            <a:picLocks noChangeAspect="1"/>
          </p:cNvPicPr>
          <p:nvPr>
            <p:custDataLst>
              <p:tags r:id="rId11"/>
            </p:custDataLst>
          </p:nvPr>
        </p:nvPicPr>
        <p:blipFill>
          <a:blip r:embed="rId12"/>
          <a:stretch>
            <a:fillRect/>
          </a:stretch>
        </p:blipFill>
        <p:spPr>
          <a:xfrm>
            <a:off x="711835" y="4197985"/>
            <a:ext cx="2598420" cy="1949450"/>
          </a:xfrm>
          <a:prstGeom prst="rect">
            <a:avLst/>
          </a:prstGeom>
          <a:noFill/>
          <a:ln w="9525">
            <a:noFill/>
          </a:ln>
        </p:spPr>
      </p:pic>
      <p:sp>
        <p:nvSpPr>
          <p:cNvPr id="4" name="标题 3"/>
          <p:cNvSpPr>
            <a:spLocks noGrp="1"/>
          </p:cNvSpPr>
          <p:nvPr>
            <p:ph type="title"/>
            <p:custDataLst>
              <p:tags r:id="rId13"/>
            </p:custDataLst>
          </p:nvPr>
        </p:nvSpPr>
        <p:spPr/>
        <p:txBody>
          <a:bodyPr/>
          <a:p>
            <a:pPr marL="571500" indent="-571500">
              <a:buFont typeface="Wingdings" panose="05000000000000000000" charset="0"/>
              <a:buChar char="Ø"/>
            </a:pPr>
            <a:r>
              <a:rPr lang="en-US" altLang="zh-CN" b="0" spc="0" dirty="0">
                <a:solidFill>
                  <a:schemeClr val="accent4">
                    <a:lumMod val="50000"/>
                  </a:schemeClr>
                </a:solidFill>
                <a:latin typeface="Impact" panose="020B0806030902050204" pitchFamily="34" charset="0"/>
                <a:ea typeface="方正舒体" panose="02010601030101010101" pitchFamily="2" charset="-122"/>
                <a:cs typeface="+mn-cs"/>
                <a:sym typeface="+mn-ea"/>
              </a:rPr>
              <a:t>02</a:t>
            </a:r>
            <a:r>
              <a:rPr lang="en-US" altLang="zh-CN">
                <a:sym typeface="+mn-ea"/>
              </a:rPr>
              <a:t> </a:t>
            </a:r>
            <a:r>
              <a:rPr lang="zh-CN" altLang="en-US">
                <a:solidFill>
                  <a:schemeClr val="accent4">
                    <a:lumMod val="50000"/>
                  </a:schemeClr>
                </a:solidFill>
                <a:latin typeface="微软雅黑" panose="020B0503020204020204" charset="-122"/>
                <a:ea typeface="微软雅黑" panose="020B0503020204020204" charset="-122"/>
                <a:sym typeface="+mn-ea"/>
              </a:rPr>
              <a:t>变压器</a:t>
            </a:r>
            <a:r>
              <a:rPr lang="zh-CN" altLang="en-US" dirty="0">
                <a:solidFill>
                  <a:schemeClr val="accent4">
                    <a:lumMod val="50000"/>
                  </a:schemeClr>
                </a:solidFill>
                <a:latin typeface="微软雅黑" panose="020B0503020204020204" charset="-122"/>
                <a:ea typeface="微软雅黑" panose="020B0503020204020204" charset="-122"/>
                <a:sym typeface="黑体" panose="02010609060101010101" charset="-122"/>
              </a:rPr>
              <a:t>组成</a:t>
            </a:r>
            <a:endParaRPr lang="zh-CN" altLang="en-US"/>
          </a:p>
        </p:txBody>
      </p:sp>
    </p:spTree>
    <p:custDataLst>
      <p:tags r:id="rId14"/>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marL="571500" indent="-571500">
              <a:buFont typeface="Wingdings" panose="05000000000000000000" charset="0"/>
              <a:buChar char="Ø"/>
            </a:pPr>
            <a:r>
              <a:rPr lang="en-US" altLang="zh-CN" b="0" spc="0" dirty="0">
                <a:solidFill>
                  <a:schemeClr val="accent4">
                    <a:lumMod val="50000"/>
                  </a:schemeClr>
                </a:solidFill>
                <a:latin typeface="Impact" panose="020B0806030902050204" pitchFamily="34" charset="0"/>
                <a:ea typeface="方正舒体" panose="02010601030101010101" pitchFamily="2" charset="-122"/>
                <a:cs typeface="+mn-cs"/>
                <a:sym typeface="+mn-ea"/>
              </a:rPr>
              <a:t>02</a:t>
            </a:r>
            <a:r>
              <a:rPr lang="en-US" altLang="zh-CN">
                <a:sym typeface="+mn-ea"/>
              </a:rPr>
              <a:t> </a:t>
            </a:r>
            <a:r>
              <a:rPr lang="zh-CN" altLang="en-US">
                <a:solidFill>
                  <a:schemeClr val="accent4">
                    <a:lumMod val="50000"/>
                  </a:schemeClr>
                </a:solidFill>
                <a:latin typeface="微软雅黑" panose="020B0503020204020204" charset="-122"/>
                <a:ea typeface="微软雅黑" panose="020B0503020204020204" charset="-122"/>
                <a:sym typeface="+mn-ea"/>
              </a:rPr>
              <a:t>变压器</a:t>
            </a:r>
            <a:r>
              <a:rPr lang="zh-CN" altLang="en-US" dirty="0">
                <a:solidFill>
                  <a:schemeClr val="accent4">
                    <a:lumMod val="50000"/>
                  </a:schemeClr>
                </a:solidFill>
                <a:latin typeface="微软雅黑" panose="020B0503020204020204" charset="-122"/>
                <a:ea typeface="微软雅黑" panose="020B0503020204020204" charset="-122"/>
                <a:sym typeface="黑体" panose="02010609060101010101" charset="-122"/>
              </a:rPr>
              <a:t>组成</a:t>
            </a:r>
            <a:endParaRPr lang="zh-CN" altLang="en-US"/>
          </a:p>
        </p:txBody>
      </p:sp>
      <p:pic>
        <p:nvPicPr>
          <p:cNvPr id="45057" name="图片 3" descr="1"/>
          <p:cNvPicPr>
            <a:picLocks noChangeAspect="1"/>
          </p:cNvPicPr>
          <p:nvPr>
            <p:custDataLst>
              <p:tags r:id="rId1"/>
            </p:custDataLst>
          </p:nvPr>
        </p:nvPicPr>
        <p:blipFill>
          <a:blip r:embed="rId2"/>
          <a:stretch>
            <a:fillRect/>
          </a:stretch>
        </p:blipFill>
        <p:spPr>
          <a:xfrm>
            <a:off x="2179955" y="1564005"/>
            <a:ext cx="5974080" cy="5168900"/>
          </a:xfrm>
          <a:prstGeom prst="rect">
            <a:avLst/>
          </a:prstGeom>
          <a:noFill/>
          <a:ln w="9525">
            <a:noFill/>
          </a:ln>
        </p:spPr>
      </p:pic>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481" name="内容占位符 226311" descr="IMG_3054"/>
          <p:cNvPicPr>
            <a:picLocks noGrp="1" noChangeAspect="1"/>
          </p:cNvPicPr>
          <p:nvPr>
            <p:custDataLst>
              <p:tags r:id="rId1"/>
            </p:custDataLst>
          </p:nvPr>
        </p:nvPicPr>
        <p:blipFill>
          <a:blip r:embed="rId2"/>
          <a:stretch>
            <a:fillRect/>
          </a:stretch>
        </p:blipFill>
        <p:spPr>
          <a:xfrm>
            <a:off x="1658620" y="1722120"/>
            <a:ext cx="3935730" cy="3311525"/>
          </a:xfrm>
          <a:prstGeom prst="rect">
            <a:avLst/>
          </a:prstGeom>
          <a:noFill/>
          <a:ln w="9525">
            <a:noFill/>
          </a:ln>
        </p:spPr>
      </p:pic>
      <p:pic>
        <p:nvPicPr>
          <p:cNvPr id="20482" name="内容占位符 226314" descr="IMG_3285"/>
          <p:cNvPicPr>
            <a:picLocks noGrp="1" noChangeAspect="1"/>
          </p:cNvPicPr>
          <p:nvPr>
            <p:custDataLst>
              <p:tags r:id="rId3"/>
            </p:custDataLst>
          </p:nvPr>
        </p:nvPicPr>
        <p:blipFill>
          <a:blip r:embed="rId4"/>
          <a:stretch>
            <a:fillRect/>
          </a:stretch>
        </p:blipFill>
        <p:spPr>
          <a:xfrm>
            <a:off x="5332095" y="1722755"/>
            <a:ext cx="4410075" cy="3308985"/>
          </a:xfrm>
          <a:prstGeom prst="rect">
            <a:avLst/>
          </a:prstGeom>
          <a:noFill/>
          <a:ln w="9525">
            <a:noFill/>
          </a:ln>
        </p:spPr>
      </p:pic>
      <p:sp>
        <p:nvSpPr>
          <p:cNvPr id="20484" name="直接连接符 226316"/>
          <p:cNvSpPr/>
          <p:nvPr>
            <p:custDataLst>
              <p:tags r:id="rId5"/>
            </p:custDataLst>
          </p:nvPr>
        </p:nvSpPr>
        <p:spPr>
          <a:xfrm flipV="1">
            <a:off x="1947545" y="3601720"/>
            <a:ext cx="471805" cy="1644650"/>
          </a:xfrm>
          <a:prstGeom prst="line">
            <a:avLst/>
          </a:prstGeom>
          <a:ln w="9525" cap="flat" cmpd="sng">
            <a:solidFill>
              <a:schemeClr val="folHlink"/>
            </a:solidFill>
            <a:prstDash val="solid"/>
            <a:round/>
            <a:headEnd type="none" w="med" len="med"/>
            <a:tailEnd type="triangle" w="med" len="med"/>
          </a:ln>
        </p:spPr>
      </p:sp>
      <p:sp>
        <p:nvSpPr>
          <p:cNvPr id="20485" name="文本框 226317"/>
          <p:cNvSpPr txBox="1"/>
          <p:nvPr>
            <p:custDataLst>
              <p:tags r:id="rId6"/>
            </p:custDataLst>
          </p:nvPr>
        </p:nvSpPr>
        <p:spPr>
          <a:xfrm>
            <a:off x="1588770" y="5057775"/>
            <a:ext cx="1337945" cy="475615"/>
          </a:xfrm>
          <a:prstGeom prst="rect">
            <a:avLst/>
          </a:prstGeom>
          <a:noFill/>
          <a:ln w="9525">
            <a:noFill/>
          </a:ln>
        </p:spPr>
        <p:txBody>
          <a:bodyPr anchor="t" anchorCtr="0">
            <a:noAutofit/>
          </a:bodyPr>
          <a:p>
            <a:pPr marL="609600" indent="-609600">
              <a:lnSpc>
                <a:spcPct val="150000"/>
              </a:lnSpc>
              <a:spcBef>
                <a:spcPct val="50000"/>
              </a:spcBef>
              <a:buClr>
                <a:schemeClr val="folHlink"/>
              </a:buClr>
              <a:buSzPct val="55000"/>
              <a:buFont typeface="Wingdings" panose="05000000000000000000" pitchFamily="2" charset="2"/>
            </a:pPr>
            <a:r>
              <a:rPr lang="zh-CN" altLang="en-US" sz="1600" dirty="0">
                <a:solidFill>
                  <a:schemeClr val="folHlink"/>
                </a:solidFill>
                <a:latin typeface="Tahoma" panose="020B0604030504040204" charset="0"/>
                <a:ea typeface="宋体" panose="02010600030101010101" pitchFamily="2" charset="-122"/>
              </a:rPr>
              <a:t>玻璃纤纬带</a:t>
            </a:r>
            <a:endParaRPr lang="zh-CN" altLang="en-US" sz="1600" dirty="0">
              <a:solidFill>
                <a:schemeClr val="folHlink"/>
              </a:solidFill>
              <a:latin typeface="Tahoma" panose="020B0604030504040204" charset="0"/>
              <a:ea typeface="宋体" panose="02010600030101010101" pitchFamily="2" charset="-122"/>
            </a:endParaRPr>
          </a:p>
        </p:txBody>
      </p:sp>
      <p:sp>
        <p:nvSpPr>
          <p:cNvPr id="20486" name="直接连接符 226318"/>
          <p:cNvSpPr/>
          <p:nvPr>
            <p:custDataLst>
              <p:tags r:id="rId7"/>
            </p:custDataLst>
          </p:nvPr>
        </p:nvSpPr>
        <p:spPr>
          <a:xfrm flipH="1" flipV="1">
            <a:off x="6555740" y="4418330"/>
            <a:ext cx="630555" cy="970915"/>
          </a:xfrm>
          <a:prstGeom prst="line">
            <a:avLst/>
          </a:prstGeom>
          <a:ln w="9525" cap="flat" cmpd="sng">
            <a:solidFill>
              <a:schemeClr val="folHlink"/>
            </a:solidFill>
            <a:prstDash val="solid"/>
            <a:round/>
            <a:headEnd type="none" w="med" len="med"/>
            <a:tailEnd type="triangle" w="med" len="med"/>
          </a:ln>
        </p:spPr>
      </p:sp>
      <p:sp>
        <p:nvSpPr>
          <p:cNvPr id="20487" name="文本框 226319"/>
          <p:cNvSpPr txBox="1"/>
          <p:nvPr>
            <p:custDataLst>
              <p:tags r:id="rId8"/>
            </p:custDataLst>
          </p:nvPr>
        </p:nvSpPr>
        <p:spPr>
          <a:xfrm>
            <a:off x="6730365" y="5229225"/>
            <a:ext cx="1102360" cy="475615"/>
          </a:xfrm>
          <a:prstGeom prst="rect">
            <a:avLst/>
          </a:prstGeom>
          <a:noFill/>
          <a:ln w="9525">
            <a:noFill/>
          </a:ln>
        </p:spPr>
        <p:txBody>
          <a:bodyPr anchor="t" anchorCtr="0">
            <a:noAutofit/>
          </a:bodyPr>
          <a:p>
            <a:pPr marL="609600" indent="-609600">
              <a:lnSpc>
                <a:spcPct val="150000"/>
              </a:lnSpc>
              <a:spcBef>
                <a:spcPct val="50000"/>
              </a:spcBef>
              <a:buClr>
                <a:schemeClr val="folHlink"/>
              </a:buClr>
              <a:buSzPct val="55000"/>
              <a:buFont typeface="Wingdings" panose="05000000000000000000" pitchFamily="2" charset="2"/>
            </a:pPr>
            <a:r>
              <a:rPr lang="zh-CN" altLang="en-US" sz="1600" dirty="0">
                <a:solidFill>
                  <a:schemeClr val="folHlink"/>
                </a:solidFill>
                <a:latin typeface="Tahoma" panose="020B0604030504040204" charset="0"/>
                <a:ea typeface="宋体" panose="02010600030101010101" pitchFamily="2" charset="-122"/>
              </a:rPr>
              <a:t>低压端圈</a:t>
            </a:r>
            <a:endParaRPr lang="zh-CN" altLang="en-US" sz="1600" dirty="0">
              <a:solidFill>
                <a:schemeClr val="folHlink"/>
              </a:solidFill>
              <a:latin typeface="Tahoma" panose="020B0604030504040204" charset="0"/>
              <a:ea typeface="宋体" panose="02010600030101010101" pitchFamily="2" charset="-122"/>
            </a:endParaRPr>
          </a:p>
        </p:txBody>
      </p:sp>
      <p:sp>
        <p:nvSpPr>
          <p:cNvPr id="7" name="标题 1"/>
          <p:cNvSpPr>
            <a:spLocks noGrp="1"/>
          </p:cNvSpPr>
          <p:nvPr>
            <p:custDataLst>
              <p:tags r:id="rId9"/>
            </p:custDataLst>
          </p:nvPr>
        </p:nvSpPr>
        <p:spPr>
          <a:xfrm>
            <a:off x="608400" y="608400"/>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pPr marL="571500" indent="-571500">
              <a:buFont typeface="Wingdings" panose="05000000000000000000" charset="0"/>
              <a:buChar char="Ø"/>
            </a:pPr>
            <a:r>
              <a:rPr lang="en-US" altLang="zh-CN" b="0" spc="0" dirty="0">
                <a:solidFill>
                  <a:schemeClr val="accent4">
                    <a:lumMod val="50000"/>
                  </a:schemeClr>
                </a:solidFill>
                <a:latin typeface="Impact" panose="020B0806030902050204" pitchFamily="34" charset="0"/>
                <a:ea typeface="方正舒体" panose="02010601030101010101" pitchFamily="2" charset="-122"/>
                <a:cs typeface="+mn-cs"/>
                <a:sym typeface="+mn-ea"/>
              </a:rPr>
              <a:t>02</a:t>
            </a:r>
            <a:r>
              <a:rPr lang="en-US" altLang="zh-CN">
                <a:sym typeface="+mn-ea"/>
              </a:rPr>
              <a:t> </a:t>
            </a:r>
            <a:r>
              <a:rPr lang="zh-CN" altLang="en-US">
                <a:solidFill>
                  <a:schemeClr val="accent4">
                    <a:lumMod val="50000"/>
                  </a:schemeClr>
                </a:solidFill>
                <a:latin typeface="微软雅黑" panose="020B0503020204020204" charset="-122"/>
                <a:ea typeface="微软雅黑" panose="020B0503020204020204" charset="-122"/>
                <a:sym typeface="+mn-ea"/>
              </a:rPr>
              <a:t>变压器</a:t>
            </a:r>
            <a:r>
              <a:rPr lang="zh-CN" altLang="en-US" dirty="0">
                <a:solidFill>
                  <a:schemeClr val="accent4">
                    <a:lumMod val="50000"/>
                  </a:schemeClr>
                </a:solidFill>
                <a:latin typeface="微软雅黑" panose="020B0503020204020204" charset="-122"/>
                <a:ea typeface="微软雅黑" panose="020B0503020204020204" charset="-122"/>
                <a:sym typeface="黑体" panose="02010609060101010101" charset="-122"/>
              </a:rPr>
              <a:t>组成</a:t>
            </a:r>
            <a:endParaRPr lang="zh-CN" altLang="en-US"/>
          </a:p>
        </p:txBody>
      </p:sp>
    </p:spTree>
    <p:custDataLst>
      <p:tags r:id="rId10"/>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marL="571500" indent="-571500">
              <a:buFont typeface="Wingdings" panose="05000000000000000000" charset="0"/>
              <a:buChar char="Ø"/>
            </a:pPr>
            <a:r>
              <a:rPr lang="en-US" altLang="zh-CN" b="0" spc="0" dirty="0">
                <a:solidFill>
                  <a:schemeClr val="accent4">
                    <a:lumMod val="50000"/>
                  </a:schemeClr>
                </a:solidFill>
                <a:latin typeface="Impact" panose="020B0806030902050204" pitchFamily="34" charset="0"/>
                <a:ea typeface="方正舒体" panose="02010601030101010101" pitchFamily="2" charset="-122"/>
                <a:cs typeface="+mn-cs"/>
                <a:sym typeface="+mn-ea"/>
              </a:rPr>
              <a:t>02</a:t>
            </a:r>
            <a:r>
              <a:rPr lang="en-US" altLang="zh-CN">
                <a:sym typeface="+mn-ea"/>
              </a:rPr>
              <a:t> </a:t>
            </a:r>
            <a:r>
              <a:rPr lang="zh-CN" altLang="en-US">
                <a:solidFill>
                  <a:schemeClr val="accent4">
                    <a:lumMod val="50000"/>
                  </a:schemeClr>
                </a:solidFill>
                <a:latin typeface="微软雅黑" panose="020B0503020204020204" charset="-122"/>
                <a:ea typeface="微软雅黑" panose="020B0503020204020204" charset="-122"/>
                <a:sym typeface="+mn-ea"/>
              </a:rPr>
              <a:t>变压器</a:t>
            </a:r>
            <a:r>
              <a:rPr lang="zh-CN" altLang="en-US" dirty="0">
                <a:solidFill>
                  <a:schemeClr val="accent4">
                    <a:lumMod val="50000"/>
                  </a:schemeClr>
                </a:solidFill>
                <a:latin typeface="微软雅黑" panose="020B0503020204020204" charset="-122"/>
                <a:ea typeface="微软雅黑" panose="020B0503020204020204" charset="-122"/>
                <a:sym typeface="黑体" panose="02010609060101010101" charset="-122"/>
              </a:rPr>
              <a:t>组成</a:t>
            </a:r>
            <a:endParaRPr lang="zh-CN" altLang="en-US"/>
          </a:p>
        </p:txBody>
      </p:sp>
      <p:pic>
        <p:nvPicPr>
          <p:cNvPr id="4" name="内容占位符 3"/>
          <p:cNvPicPr>
            <a:picLocks noChangeAspect="1"/>
          </p:cNvPicPr>
          <p:nvPr>
            <p:ph idx="1"/>
          </p:nvPr>
        </p:nvPicPr>
        <p:blipFill>
          <a:blip r:embed="rId1"/>
          <a:srcRect t="28606" b="17425"/>
          <a:stretch>
            <a:fillRect/>
          </a:stretch>
        </p:blipFill>
        <p:spPr>
          <a:xfrm>
            <a:off x="1594485" y="1466215"/>
            <a:ext cx="3586480" cy="3441700"/>
          </a:xfrm>
          <a:prstGeom prst="rect">
            <a:avLst/>
          </a:prstGeom>
        </p:spPr>
      </p:pic>
      <p:pic>
        <p:nvPicPr>
          <p:cNvPr id="5" name="图片 4"/>
          <p:cNvPicPr>
            <a:picLocks noChangeAspect="1"/>
          </p:cNvPicPr>
          <p:nvPr/>
        </p:nvPicPr>
        <p:blipFill>
          <a:blip r:embed="rId2"/>
          <a:srcRect l="11386" b="17184"/>
          <a:stretch>
            <a:fillRect/>
          </a:stretch>
        </p:blipFill>
        <p:spPr>
          <a:xfrm>
            <a:off x="5727065" y="1640205"/>
            <a:ext cx="5457825" cy="2869565"/>
          </a:xfrm>
          <a:prstGeom prst="rect">
            <a:avLst/>
          </a:prstGeom>
        </p:spPr>
      </p:pic>
      <p:sp>
        <p:nvSpPr>
          <p:cNvPr id="3" name="文本框 2"/>
          <p:cNvSpPr txBox="1"/>
          <p:nvPr/>
        </p:nvSpPr>
        <p:spPr>
          <a:xfrm>
            <a:off x="2419350" y="5180330"/>
            <a:ext cx="1226820" cy="368300"/>
          </a:xfrm>
          <a:prstGeom prst="rect">
            <a:avLst/>
          </a:prstGeom>
          <a:noFill/>
        </p:spPr>
        <p:txBody>
          <a:bodyPr wrap="square" rtlCol="0">
            <a:spAutoFit/>
          </a:bodyPr>
          <a:p>
            <a:pPr algn="ctr"/>
            <a:r>
              <a:rPr lang="zh-CN" altLang="en-US">
                <a:solidFill>
                  <a:schemeClr val="accent4">
                    <a:lumMod val="50000"/>
                  </a:schemeClr>
                </a:solidFill>
              </a:rPr>
              <a:t>铁芯</a:t>
            </a:r>
            <a:endParaRPr lang="zh-CN" altLang="en-US">
              <a:solidFill>
                <a:schemeClr val="accent4">
                  <a:lumMod val="50000"/>
                </a:schemeClr>
              </a:solidFill>
            </a:endParaRPr>
          </a:p>
        </p:txBody>
      </p:sp>
      <p:sp>
        <p:nvSpPr>
          <p:cNvPr id="6" name="文本框 5"/>
          <p:cNvSpPr txBox="1"/>
          <p:nvPr/>
        </p:nvSpPr>
        <p:spPr>
          <a:xfrm>
            <a:off x="7953375" y="5180330"/>
            <a:ext cx="1226820" cy="368300"/>
          </a:xfrm>
          <a:prstGeom prst="rect">
            <a:avLst/>
          </a:prstGeom>
          <a:noFill/>
        </p:spPr>
        <p:txBody>
          <a:bodyPr wrap="square" rtlCol="0">
            <a:spAutoFit/>
          </a:bodyPr>
          <a:p>
            <a:pPr algn="ctr"/>
            <a:r>
              <a:rPr lang="zh-CN" altLang="en-US">
                <a:solidFill>
                  <a:schemeClr val="accent4">
                    <a:lumMod val="50000"/>
                  </a:schemeClr>
                </a:solidFill>
              </a:rPr>
              <a:t>散热片</a:t>
            </a:r>
            <a:endParaRPr lang="zh-CN" altLang="en-US">
              <a:solidFill>
                <a:schemeClr val="accent4">
                  <a:lumMod val="50000"/>
                </a:schemeClr>
              </a:solidFill>
            </a:endParaRPr>
          </a:p>
        </p:txBody>
      </p:sp>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custDataLst>
              <p:tags r:id="rId1"/>
            </p:custDataLst>
          </p:nvPr>
        </p:nvSpPr>
        <p:spPr>
          <a:xfrm>
            <a:off x="1203008" y="2021523"/>
            <a:ext cx="8491538" cy="1104900"/>
          </a:xfrm>
          <a:prstGeom prst="rect">
            <a:avLst/>
          </a:prstGeom>
        </p:spPr>
        <p:txBody>
          <a:bodyPr vert="horz" lIns="90000" tIns="46800" rIns="90000" bIns="46800" rtlCol="0" anchor="ctr">
            <a:normAutofit fontScale="70000"/>
          </a:bodyPr>
          <a:lstStyle>
            <a:defPPr>
              <a:defRPr lang="zh-CN"/>
            </a:defPPr>
            <a:lvl1pPr lvl="0">
              <a:lnSpc>
                <a:spcPct val="90000"/>
              </a:lnSpc>
              <a:spcBef>
                <a:spcPct val="0"/>
              </a:spcBef>
              <a:buNone/>
              <a:defRPr sz="4800">
                <a:solidFill>
                  <a:srgbClr val="00B0F0"/>
                </a:solidFill>
                <a:latin typeface="+mj-lt"/>
                <a:ea typeface="+mj-ea"/>
                <a:cs typeface="+mj-cs"/>
              </a:defRPr>
            </a:lvl1pPr>
          </a:lstStyle>
          <a:p>
            <a:pPr lvl="0" fontAlgn="base">
              <a:defRPr/>
            </a:pPr>
            <a:r>
              <a:rPr lang="zh-CN" altLang="en-US" sz="8000" strike="noStrike" noProof="1" dirty="0">
                <a:solidFill>
                  <a:srgbClr val="578B18"/>
                </a:solidFill>
                <a:latin typeface="+mj-lt"/>
                <a:ea typeface="+mj-ea"/>
                <a:cs typeface="+mj-cs"/>
              </a:rPr>
              <a:t>总结：</a:t>
            </a:r>
            <a:endParaRPr lang="zh-CN" altLang="en-US" sz="8000" strike="noStrike" noProof="1" dirty="0">
              <a:solidFill>
                <a:srgbClr val="578B18"/>
              </a:solidFill>
            </a:endParaRPr>
          </a:p>
        </p:txBody>
      </p:sp>
      <p:sp>
        <p:nvSpPr>
          <p:cNvPr id="5" name="文本框 4"/>
          <p:cNvSpPr txBox="1"/>
          <p:nvPr>
            <p:custDataLst>
              <p:tags r:id="rId2"/>
            </p:custDataLst>
          </p:nvPr>
        </p:nvSpPr>
        <p:spPr>
          <a:xfrm>
            <a:off x="1203008" y="3361373"/>
            <a:ext cx="8491538" cy="1401763"/>
          </a:xfrm>
          <a:prstGeom prst="rect">
            <a:avLst/>
          </a:prstGeom>
        </p:spPr>
        <p:txBody>
          <a:bodyPr vert="horz" lIns="90000" tIns="46800" rIns="90000" bIns="46800" rtlCol="0">
            <a:normAutofit fontScale="90000"/>
          </a:bodyPr>
          <a:lstStyle>
            <a:defPPr>
              <a:defRPr lang="zh-CN"/>
            </a:defPPr>
            <a:lvl1pPr marR="0" lvl="0" indent="0" eaLnBrk="0" fontAlgn="base" hangingPunct="0">
              <a:lnSpc>
                <a:spcPct val="100000"/>
              </a:lnSpc>
              <a:spcBef>
                <a:spcPct val="0"/>
              </a:spcBef>
              <a:spcAft>
                <a:spcPct val="0"/>
              </a:spcAft>
              <a:buClrTx/>
              <a:buSzTx/>
              <a:buFont typeface="Arial" panose="020B0604020202020204" pitchFamily="34" charset="0"/>
              <a:buNone/>
              <a:defRPr kumimoji="0" sz="3600" b="0" i="0" u="none" strike="noStrike" cap="none" spc="0" normalizeH="0" baseline="0">
                <a:ln>
                  <a:noFill/>
                </a:ln>
                <a:effectLst/>
                <a:uLnTx/>
                <a:uFillTx/>
                <a:latin typeface="Calibri" panose="020F0502020204030204" charset="0"/>
                <a:ea typeface="微软雅黑" panose="020B0503020204020204" charset="-122"/>
              </a:defRPr>
            </a:lvl1pPr>
            <a:lvl2pPr marL="685800" indent="-228600">
              <a:lnSpc>
                <a:spcPct val="90000"/>
              </a:lnSpc>
              <a:spcBef>
                <a:spcPts val="500"/>
              </a:spcBef>
              <a:buFont typeface="Arial" panose="020B0604020202020204" pitchFamily="34" charset="0"/>
              <a:buChar char="•"/>
              <a:defRPr sz="2000">
                <a:solidFill>
                  <a:schemeClr val="bg1">
                    <a:lumMod val="85000"/>
                  </a:schemeClr>
                </a:solidFill>
              </a:defRPr>
            </a:lvl2pPr>
            <a:lvl3pPr marL="1143000" indent="-228600">
              <a:lnSpc>
                <a:spcPct val="90000"/>
              </a:lnSpc>
              <a:spcBef>
                <a:spcPts val="500"/>
              </a:spcBef>
              <a:buFont typeface="Arial" panose="020B0604020202020204" pitchFamily="34" charset="0"/>
              <a:buChar char="•"/>
              <a:defRPr>
                <a:solidFill>
                  <a:schemeClr val="bg1">
                    <a:lumMod val="85000"/>
                  </a:schemeClr>
                </a:solidFill>
              </a:defRPr>
            </a:lvl3pPr>
            <a:lvl4pPr marL="1600200" indent="-228600">
              <a:lnSpc>
                <a:spcPct val="90000"/>
              </a:lnSpc>
              <a:spcBef>
                <a:spcPts val="500"/>
              </a:spcBef>
              <a:buFont typeface="Arial" panose="020B0604020202020204" pitchFamily="34" charset="0"/>
              <a:buChar char="•"/>
              <a:defRPr>
                <a:solidFill>
                  <a:schemeClr val="bg1">
                    <a:lumMod val="85000"/>
                  </a:schemeClr>
                </a:solidFill>
              </a:defRPr>
            </a:lvl4pPr>
            <a:lvl5pPr marL="2057400" indent="-228600">
              <a:lnSpc>
                <a:spcPct val="90000"/>
              </a:lnSpc>
              <a:spcBef>
                <a:spcPts val="500"/>
              </a:spcBef>
              <a:buFont typeface="Arial" panose="020B0604020202020204" pitchFamily="34" charset="0"/>
              <a:buChar char="•"/>
              <a:defRPr>
                <a:solidFill>
                  <a:schemeClr val="bg1">
                    <a:lumMod val="85000"/>
                  </a:schemeClr>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fontAlgn="base">
              <a:defRPr/>
            </a:pPr>
            <a:r>
              <a:rPr lang="zh-CN" altLang="en-US" sz="2800" strike="noStrike" noProof="1" dirty="0">
                <a:solidFill>
                  <a:srgbClr val="578B18"/>
                </a:solidFill>
                <a:latin typeface="+mj-ea"/>
                <a:ea typeface="微软雅黑" panose="020B0503020204020204" charset="-122"/>
                <a:cs typeface="+mn-cs"/>
              </a:rPr>
              <a:t>变压器组成部件包括器身(铁芯、绕组、绝缘、引线)、变压器油、油箱和冷却装置、调压装置、保护装置(吸湿器、安全气道、气体继电器、储油柜及测温装置等)和出线套管</a:t>
            </a:r>
            <a:endParaRPr lang="zh-CN" altLang="en-US" sz="2800" strike="noStrike" noProof="1" dirty="0">
              <a:solidFill>
                <a:srgbClr val="578B18"/>
              </a:solidFill>
              <a:latin typeface="+mj-ea"/>
            </a:endParaRPr>
          </a:p>
        </p:txBody>
      </p:sp>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 name="文本框 34"/>
          <p:cNvSpPr txBox="1"/>
          <p:nvPr>
            <p:custDataLst>
              <p:tags r:id="rId1"/>
            </p:custDataLst>
          </p:nvPr>
        </p:nvSpPr>
        <p:spPr>
          <a:xfrm>
            <a:off x="2725103" y="2242185"/>
            <a:ext cx="1773238" cy="1419225"/>
          </a:xfrm>
          <a:prstGeom prst="rect">
            <a:avLst/>
          </a:prstGeom>
          <a:noFill/>
        </p:spPr>
        <p:txBody>
          <a:bodyPr wrap="square" lIns="90000" tIns="46800" rIns="90000" bIns="46800" rtlCol="0">
            <a:normAutofit/>
          </a:bodyPr>
          <a:p>
            <a:pPr algn="ctr" defTabSz="685800">
              <a:defRPr/>
            </a:pPr>
            <a:r>
              <a:rPr lang="en-US" altLang="zh-CN" sz="8625" noProof="1" dirty="0">
                <a:solidFill>
                  <a:schemeClr val="accent4">
                    <a:lumMod val="50000"/>
                  </a:schemeClr>
                </a:solidFill>
                <a:latin typeface="Impact" panose="020B0806030902050204" pitchFamily="34" charset="0"/>
                <a:ea typeface="方正舒体" panose="02010601030101010101" pitchFamily="2" charset="-122"/>
                <a:cs typeface="+mn-cs"/>
                <a:sym typeface="+mn-ea"/>
              </a:rPr>
              <a:t>03</a:t>
            </a:r>
            <a:endParaRPr lang="en-US" altLang="zh-CN" sz="8625" noProof="1" dirty="0">
              <a:solidFill>
                <a:schemeClr val="accent4">
                  <a:lumMod val="50000"/>
                </a:schemeClr>
              </a:solidFill>
              <a:latin typeface="Impact" panose="020B0806030902050204" pitchFamily="34" charset="0"/>
              <a:ea typeface="方正舒体" panose="02010601030101010101" pitchFamily="2" charset="-122"/>
              <a:cs typeface="+mn-cs"/>
              <a:sym typeface="+mn-ea"/>
            </a:endParaRPr>
          </a:p>
        </p:txBody>
      </p:sp>
      <p:sp>
        <p:nvSpPr>
          <p:cNvPr id="58370" name="标题 4"/>
          <p:cNvSpPr>
            <a:spLocks noGrp="1"/>
          </p:cNvSpPr>
          <p:nvPr>
            <p:custDataLst>
              <p:tags r:id="rId2"/>
            </p:custDataLst>
          </p:nvPr>
        </p:nvSpPr>
        <p:spPr>
          <a:xfrm>
            <a:off x="4370388" y="2355850"/>
            <a:ext cx="3840162" cy="1073150"/>
          </a:xfrm>
          <a:prstGeom prst="rect">
            <a:avLst/>
          </a:prstGeom>
          <a:noFill/>
          <a:ln w="9525">
            <a:noFill/>
          </a:ln>
        </p:spPr>
        <p:txBody>
          <a:bodyPr lIns="90000" tIns="46800" rIns="90000" bIns="46800" anchor="b" anchorCtr="0">
            <a:normAutofit/>
          </a:bodyPr>
          <a:lstStyle>
            <a:lvl1pPr algn="l" defTabSz="685800" rtl="0" eaLnBrk="1" latinLnBrk="0" hangingPunct="1">
              <a:lnSpc>
                <a:spcPct val="120000"/>
              </a:lnSpc>
              <a:spcBef>
                <a:spcPct val="0"/>
              </a:spcBef>
              <a:buNone/>
              <a:defRPr sz="3600" kern="1200">
                <a:solidFill>
                  <a:srgbClr val="578B18"/>
                </a:solidFill>
                <a:latin typeface="+mj-lt"/>
                <a:ea typeface="+mj-ea"/>
                <a:cs typeface="+mj-cs"/>
              </a:defRPr>
            </a:lvl1pPr>
          </a:lstStyle>
          <a:p>
            <a:pPr defTabSz="685800">
              <a:buNone/>
            </a:pPr>
            <a:r>
              <a:rPr lang="zh-CN" altLang="en-US" sz="4800" b="1" kern="1200">
                <a:solidFill>
                  <a:schemeClr val="accent4">
                    <a:lumMod val="50000"/>
                  </a:schemeClr>
                </a:solidFill>
                <a:latin typeface="微软雅黑" panose="020B0503020204020204" charset="-122"/>
                <a:ea typeface="微软雅黑" panose="020B0503020204020204" charset="-122"/>
                <a:cs typeface="+mj-cs"/>
                <a:sym typeface="黑体" panose="02010609060101010101" charset="-122"/>
              </a:rPr>
              <a:t>变压器分类</a:t>
            </a:r>
            <a:endParaRPr lang="zh-CN" altLang="en-US" sz="4800" b="1" kern="1200" dirty="0">
              <a:solidFill>
                <a:schemeClr val="accent4">
                  <a:lumMod val="50000"/>
                </a:schemeClr>
              </a:solidFill>
              <a:latin typeface="微软雅黑" panose="020B0503020204020204" charset="-122"/>
              <a:ea typeface="微软雅黑" panose="020B0503020204020204" charset="-122"/>
              <a:cs typeface="+mj-cs"/>
              <a:sym typeface="黑体" panose="02010609060101010101" charset="-122"/>
            </a:endParaRPr>
          </a:p>
        </p:txBody>
      </p:sp>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marL="571500" indent="-571500">
              <a:buFont typeface="Wingdings" panose="05000000000000000000" charset="0"/>
              <a:buChar char="Ø"/>
            </a:pPr>
            <a:r>
              <a:rPr lang="en-US" altLang="zh-CN" b="0" spc="0" dirty="0">
                <a:solidFill>
                  <a:schemeClr val="accent4">
                    <a:lumMod val="50000"/>
                  </a:schemeClr>
                </a:solidFill>
                <a:latin typeface="Impact" panose="020B0806030902050204" pitchFamily="34" charset="0"/>
                <a:ea typeface="方正舒体" panose="02010601030101010101" pitchFamily="2" charset="-122"/>
                <a:cs typeface="+mn-cs"/>
                <a:sym typeface="+mn-ea"/>
              </a:rPr>
              <a:t>03</a:t>
            </a:r>
            <a:r>
              <a:rPr lang="en-US" altLang="zh-CN">
                <a:sym typeface="+mn-ea"/>
              </a:rPr>
              <a:t> </a:t>
            </a:r>
            <a:r>
              <a:rPr lang="zh-CN" altLang="en-US">
                <a:solidFill>
                  <a:schemeClr val="accent4">
                    <a:lumMod val="50000"/>
                  </a:schemeClr>
                </a:solidFill>
                <a:latin typeface="微软雅黑" panose="020B0503020204020204" charset="-122"/>
                <a:ea typeface="微软雅黑" panose="020B0503020204020204" charset="-122"/>
                <a:sym typeface="+mn-ea"/>
              </a:rPr>
              <a:t>变压器分类</a:t>
            </a:r>
            <a:endParaRPr lang="zh-CN" altLang="en-US"/>
          </a:p>
        </p:txBody>
      </p:sp>
      <p:sp>
        <p:nvSpPr>
          <p:cNvPr id="3" name="内容占位符 2"/>
          <p:cNvSpPr>
            <a:spLocks noGrp="1"/>
          </p:cNvSpPr>
          <p:nvPr>
            <p:ph idx="1"/>
          </p:nvPr>
        </p:nvSpPr>
        <p:spPr/>
        <p:txBody>
          <a:bodyPr>
            <a:normAutofit/>
          </a:bodyPr>
          <a:p>
            <a:pPr defTabSz="685800">
              <a:lnSpc>
                <a:spcPct val="130000"/>
              </a:lnSpc>
            </a:pPr>
            <a:r>
              <a:rPr lang="zh-CN" altLang="en-US" b="1">
                <a:solidFill>
                  <a:srgbClr val="595959"/>
                </a:solidFill>
                <a:latin typeface="微软雅黑" panose="020B0503020204020204" charset="-122"/>
                <a:ea typeface="微软雅黑" panose="020B0503020204020204" charset="-122"/>
                <a:sym typeface="黑体" panose="02010609060101010101" charset="-122"/>
              </a:rPr>
              <a:t>按结构类型分类：</a:t>
            </a:r>
            <a:endParaRPr lang="zh-CN" altLang="en-US" b="1">
              <a:solidFill>
                <a:srgbClr val="595959"/>
              </a:solidFill>
              <a:latin typeface="微软雅黑" panose="020B0503020204020204" charset="-122"/>
              <a:ea typeface="微软雅黑" panose="020B0503020204020204" charset="-122"/>
              <a:sym typeface="黑体" panose="02010609060101010101" charset="-122"/>
            </a:endParaRPr>
          </a:p>
          <a:p>
            <a:pPr marL="0" indent="0" defTabSz="685800">
              <a:lnSpc>
                <a:spcPct val="100000"/>
              </a:lnSpc>
              <a:buNone/>
            </a:pPr>
            <a:r>
              <a:rPr lang="zh-CN" altLang="en-US" b="1">
                <a:solidFill>
                  <a:srgbClr val="595959"/>
                </a:solidFill>
                <a:latin typeface="微软雅黑" panose="020B0503020204020204" charset="-122"/>
                <a:ea typeface="微软雅黑" panose="020B0503020204020204" charset="-122"/>
                <a:sym typeface="黑体" panose="02010609060101010101" charset="-122"/>
              </a:rPr>
              <a:t>   </a:t>
            </a:r>
            <a:r>
              <a:rPr lang="zh-CN" altLang="en-US" sz="1400" u="sng">
                <a:solidFill>
                  <a:srgbClr val="00B0F0"/>
                </a:solidFill>
                <a:latin typeface="微软雅黑" panose="020B0503020204020204" charset="-122"/>
                <a:ea typeface="微软雅黑" panose="020B0503020204020204" charset="-122"/>
                <a:sym typeface="黑体" panose="02010609060101010101" charset="-122"/>
              </a:rPr>
              <a:t>单相变压器</a:t>
            </a:r>
            <a:r>
              <a:rPr lang="zh-CN" altLang="en-US" sz="1400">
                <a:solidFill>
                  <a:srgbClr val="595959"/>
                </a:solidFill>
                <a:latin typeface="微软雅黑" panose="020B0503020204020204" charset="-122"/>
                <a:ea typeface="微软雅黑" panose="020B0503020204020204" charset="-122"/>
                <a:sym typeface="黑体" panose="02010609060101010101" charset="-122"/>
              </a:rPr>
              <a:t> （用于单相负荷和三相变压器组）</a:t>
            </a:r>
            <a:endParaRPr lang="zh-CN" altLang="en-US" sz="1400">
              <a:solidFill>
                <a:srgbClr val="595959"/>
              </a:solidFill>
              <a:latin typeface="微软雅黑" panose="020B0503020204020204" charset="-122"/>
              <a:ea typeface="微软雅黑" panose="020B0503020204020204" charset="-122"/>
              <a:sym typeface="黑体" panose="02010609060101010101" charset="-122"/>
            </a:endParaRPr>
          </a:p>
          <a:p>
            <a:pPr marL="0" indent="0" defTabSz="685800">
              <a:lnSpc>
                <a:spcPct val="100000"/>
              </a:lnSpc>
              <a:buNone/>
            </a:pPr>
            <a:r>
              <a:rPr lang="zh-CN" altLang="en-US" sz="1400">
                <a:solidFill>
                  <a:srgbClr val="595959"/>
                </a:solidFill>
                <a:latin typeface="微软雅黑" panose="020B0503020204020204" charset="-122"/>
                <a:ea typeface="微软雅黑" panose="020B0503020204020204" charset="-122"/>
                <a:sym typeface="黑体" panose="02010609060101010101" charset="-122"/>
              </a:rPr>
              <a:t>   </a:t>
            </a:r>
            <a:r>
              <a:rPr lang="en-US" altLang="zh-CN" sz="1400">
                <a:solidFill>
                  <a:srgbClr val="595959"/>
                </a:solidFill>
                <a:latin typeface="微软雅黑" panose="020B0503020204020204" charset="-122"/>
                <a:ea typeface="微软雅黑" panose="020B0503020204020204" charset="-122"/>
                <a:sym typeface="黑体" panose="02010609060101010101" charset="-122"/>
              </a:rPr>
              <a:t> </a:t>
            </a:r>
            <a:r>
              <a:rPr lang="zh-CN" altLang="en-US" sz="1400" u="sng">
                <a:solidFill>
                  <a:srgbClr val="00B0F0"/>
                </a:solidFill>
                <a:latin typeface="微软雅黑" panose="020B0503020204020204" charset="-122"/>
                <a:ea typeface="微软雅黑" panose="020B0503020204020204" charset="-122"/>
                <a:sym typeface="黑体" panose="02010609060101010101" charset="-122"/>
              </a:rPr>
              <a:t>三相变压器</a:t>
            </a:r>
            <a:r>
              <a:rPr lang="zh-CN" altLang="en-US" sz="1400">
                <a:solidFill>
                  <a:srgbClr val="595959"/>
                </a:solidFill>
                <a:latin typeface="微软雅黑" panose="020B0503020204020204" charset="-122"/>
                <a:ea typeface="微软雅黑" panose="020B0503020204020204" charset="-122"/>
                <a:sym typeface="黑体" panose="02010609060101010101" charset="-122"/>
              </a:rPr>
              <a:t> （用于三相系统的升、降压）</a:t>
            </a:r>
            <a:endParaRPr lang="zh-CN" altLang="en-US" sz="1400">
              <a:solidFill>
                <a:srgbClr val="595959"/>
              </a:solidFill>
              <a:latin typeface="微软雅黑" panose="020B0503020204020204" charset="-122"/>
              <a:ea typeface="微软雅黑" panose="020B0503020204020204" charset="-122"/>
              <a:sym typeface="黑体" panose="02010609060101010101" charset="-122"/>
            </a:endParaRPr>
          </a:p>
          <a:p>
            <a:pPr marL="0" indent="0" defTabSz="685800">
              <a:lnSpc>
                <a:spcPct val="100000"/>
              </a:lnSpc>
              <a:buNone/>
            </a:pPr>
            <a:r>
              <a:rPr lang="zh-CN" altLang="en-US" sz="1400">
                <a:solidFill>
                  <a:srgbClr val="595959"/>
                </a:solidFill>
                <a:latin typeface="微软雅黑" panose="020B0503020204020204" charset="-122"/>
                <a:ea typeface="微软雅黑" panose="020B0503020204020204" charset="-122"/>
                <a:sym typeface="黑体" panose="02010609060101010101" charset="-122"/>
              </a:rPr>
              <a:t>   </a:t>
            </a:r>
            <a:r>
              <a:rPr lang="en-US" altLang="zh-CN" sz="1400">
                <a:solidFill>
                  <a:schemeClr val="tx2">
                    <a:lumMod val="75000"/>
                    <a:lumOff val="25000"/>
                  </a:schemeClr>
                </a:solidFill>
                <a:latin typeface="微软雅黑" panose="020B0503020204020204" charset="-122"/>
                <a:ea typeface="微软雅黑" panose="020B0503020204020204" charset="-122"/>
                <a:sym typeface="黑体" panose="02010609060101010101" charset="-122"/>
              </a:rPr>
              <a:t> </a:t>
            </a:r>
            <a:r>
              <a:rPr lang="zh-CN" altLang="en-US" sz="1400" u="sng">
                <a:solidFill>
                  <a:schemeClr val="tx2">
                    <a:lumMod val="75000"/>
                    <a:lumOff val="25000"/>
                  </a:schemeClr>
                </a:solidFill>
                <a:latin typeface="微软雅黑" panose="020B0503020204020204" charset="-122"/>
                <a:ea typeface="微软雅黑" panose="020B0503020204020204" charset="-122"/>
                <a:sym typeface="黑体" panose="02010609060101010101" charset="-122"/>
              </a:rPr>
              <a:t>多相变压器</a:t>
            </a:r>
            <a:r>
              <a:rPr lang="zh-CN" altLang="en-US" sz="1400">
                <a:solidFill>
                  <a:srgbClr val="595959"/>
                </a:solidFill>
                <a:latin typeface="微软雅黑" panose="020B0503020204020204" charset="-122"/>
                <a:ea typeface="微软雅黑" panose="020B0503020204020204" charset="-122"/>
                <a:sym typeface="黑体" panose="02010609060101010101" charset="-122"/>
              </a:rPr>
              <a:t>（基本都是整流变）</a:t>
            </a:r>
            <a:endParaRPr lang="zh-CN" altLang="en-US" sz="1400">
              <a:solidFill>
                <a:srgbClr val="595959"/>
              </a:solidFill>
              <a:latin typeface="微软雅黑" panose="020B0503020204020204" charset="-122"/>
              <a:ea typeface="微软雅黑" panose="020B0503020204020204" charset="-122"/>
              <a:sym typeface="黑体" panose="02010609060101010101" charset="-122"/>
            </a:endParaRPr>
          </a:p>
          <a:p>
            <a:pPr marL="0" indent="0" defTabSz="685800">
              <a:lnSpc>
                <a:spcPct val="100000"/>
              </a:lnSpc>
              <a:buNone/>
            </a:pPr>
            <a:endParaRPr lang="zh-CN" altLang="en-US" sz="1400">
              <a:solidFill>
                <a:srgbClr val="595959"/>
              </a:solidFill>
              <a:latin typeface="微软雅黑" panose="020B0503020204020204" charset="-122"/>
              <a:ea typeface="微软雅黑" panose="020B0503020204020204" charset="-122"/>
              <a:sym typeface="黑体" panose="02010609060101010101" charset="-122"/>
            </a:endParaRPr>
          </a:p>
          <a:p>
            <a:pPr marL="0" indent="0" defTabSz="685800">
              <a:lnSpc>
                <a:spcPct val="100000"/>
              </a:lnSpc>
              <a:buNone/>
            </a:pPr>
            <a:endParaRPr lang="zh-CN" altLang="en-US" sz="1400">
              <a:solidFill>
                <a:srgbClr val="595959"/>
              </a:solidFill>
              <a:latin typeface="微软雅黑" panose="020B0503020204020204" charset="-122"/>
              <a:ea typeface="微软雅黑" panose="020B0503020204020204" charset="-122"/>
              <a:sym typeface="黑体" panose="02010609060101010101" charset="-122"/>
            </a:endParaRPr>
          </a:p>
          <a:p>
            <a:pPr defTabSz="685800">
              <a:lnSpc>
                <a:spcPct val="130000"/>
              </a:lnSpc>
            </a:pPr>
            <a:r>
              <a:rPr lang="zh-CN" altLang="en-US" b="1">
                <a:solidFill>
                  <a:srgbClr val="595959"/>
                </a:solidFill>
                <a:latin typeface="微软雅黑" panose="020B0503020204020204" charset="-122"/>
                <a:ea typeface="微软雅黑" panose="020B0503020204020204" charset="-122"/>
                <a:sym typeface="黑体" panose="02010609060101010101" charset="-122"/>
              </a:rPr>
              <a:t>按电压等级：</a:t>
            </a:r>
            <a:endParaRPr lang="zh-CN" altLang="en-US" b="1">
              <a:solidFill>
                <a:srgbClr val="595959"/>
              </a:solidFill>
              <a:latin typeface="微软雅黑" panose="020B0503020204020204" charset="-122"/>
              <a:ea typeface="微软雅黑" panose="020B0503020204020204" charset="-122"/>
              <a:sym typeface="黑体" panose="02010609060101010101" charset="-122"/>
            </a:endParaRPr>
          </a:p>
          <a:p>
            <a:pPr marL="0" indent="0" algn="l" defTabSz="685800">
              <a:lnSpc>
                <a:spcPct val="60000"/>
              </a:lnSpc>
              <a:buNone/>
            </a:pPr>
            <a:r>
              <a:rPr lang="zh-CN" altLang="en-US" b="1">
                <a:solidFill>
                  <a:srgbClr val="595959"/>
                </a:solidFill>
                <a:latin typeface="微软雅黑" panose="020B0503020204020204" charset="-122"/>
                <a:ea typeface="微软雅黑" panose="020B0503020204020204" charset="-122"/>
                <a:sym typeface="黑体" panose="02010609060101010101" charset="-122"/>
              </a:rPr>
              <a:t> </a:t>
            </a:r>
            <a:r>
              <a:rPr lang="zh-CN" altLang="en-US" sz="1400">
                <a:solidFill>
                  <a:srgbClr val="595959"/>
                </a:solidFill>
                <a:latin typeface="微软雅黑" panose="020B0503020204020204" charset="-122"/>
                <a:ea typeface="微软雅黑" panose="020B0503020204020204" charset="-122"/>
                <a:sym typeface="黑体" panose="02010609060101010101" charset="-122"/>
              </a:rPr>
              <a:t> 10KV</a:t>
            </a:r>
            <a:r>
              <a:rPr lang="en-US" altLang="zh-CN" sz="1400">
                <a:solidFill>
                  <a:srgbClr val="595959"/>
                </a:solidFill>
                <a:latin typeface="微软雅黑" panose="020B0503020204020204" charset="-122"/>
                <a:ea typeface="微软雅黑" panose="020B0503020204020204" charset="-122"/>
                <a:sym typeface="黑体" panose="02010609060101010101" charset="-122"/>
              </a:rPr>
              <a:t>   </a:t>
            </a:r>
            <a:r>
              <a:rPr lang="zh-CN" altLang="en-US" sz="1400">
                <a:solidFill>
                  <a:srgbClr val="595959"/>
                </a:solidFill>
                <a:latin typeface="微软雅黑" panose="020B0503020204020204" charset="-122"/>
                <a:ea typeface="微软雅黑" panose="020B0503020204020204" charset="-122"/>
                <a:sym typeface="黑体" panose="02010609060101010101" charset="-122"/>
              </a:rPr>
              <a:t>（配变、干变、箱变）</a:t>
            </a:r>
            <a:endParaRPr lang="zh-CN" altLang="en-US" sz="1400">
              <a:solidFill>
                <a:srgbClr val="595959"/>
              </a:solidFill>
              <a:latin typeface="微软雅黑" panose="020B0503020204020204" charset="-122"/>
              <a:ea typeface="微软雅黑" panose="020B0503020204020204" charset="-122"/>
              <a:sym typeface="黑体" panose="02010609060101010101" charset="-122"/>
            </a:endParaRPr>
          </a:p>
          <a:p>
            <a:pPr marL="0" indent="0" algn="l" defTabSz="685800">
              <a:lnSpc>
                <a:spcPct val="60000"/>
              </a:lnSpc>
              <a:buNone/>
            </a:pPr>
            <a:r>
              <a:rPr lang="en-US" altLang="zh-CN" sz="1400">
                <a:solidFill>
                  <a:srgbClr val="595959"/>
                </a:solidFill>
                <a:latin typeface="微软雅黑" panose="020B0503020204020204" charset="-122"/>
                <a:ea typeface="微软雅黑" panose="020B0503020204020204" charset="-122"/>
                <a:sym typeface="黑体" panose="02010609060101010101" charset="-122"/>
              </a:rPr>
              <a:t>  </a:t>
            </a:r>
            <a:r>
              <a:rPr lang="zh-CN" altLang="en-US" sz="1400">
                <a:solidFill>
                  <a:srgbClr val="595959"/>
                </a:solidFill>
                <a:latin typeface="微软雅黑" panose="020B0503020204020204" charset="-122"/>
                <a:ea typeface="微软雅黑" panose="020B0503020204020204" charset="-122"/>
                <a:sym typeface="黑体" panose="02010609060101010101" charset="-122"/>
              </a:rPr>
              <a:t>35KV</a:t>
            </a:r>
            <a:r>
              <a:rPr lang="en-US" altLang="zh-CN" sz="1400">
                <a:solidFill>
                  <a:srgbClr val="595959"/>
                </a:solidFill>
                <a:latin typeface="微软雅黑" panose="020B0503020204020204" charset="-122"/>
                <a:ea typeface="微软雅黑" panose="020B0503020204020204" charset="-122"/>
                <a:sym typeface="黑体" panose="02010609060101010101" charset="-122"/>
              </a:rPr>
              <a:t>   </a:t>
            </a:r>
            <a:r>
              <a:rPr lang="zh-CN" altLang="en-US" sz="1400">
                <a:solidFill>
                  <a:srgbClr val="595959"/>
                </a:solidFill>
                <a:latin typeface="微软雅黑" panose="020B0503020204020204" charset="-122"/>
                <a:ea typeface="微软雅黑" panose="020B0503020204020204" charset="-122"/>
                <a:sym typeface="黑体" panose="02010609060101010101" charset="-122"/>
              </a:rPr>
              <a:t>（配变、电力变、干变、整流变、电炉变）</a:t>
            </a:r>
            <a:endParaRPr lang="zh-CN" altLang="en-US" sz="1400">
              <a:solidFill>
                <a:srgbClr val="595959"/>
              </a:solidFill>
              <a:latin typeface="微软雅黑" panose="020B0503020204020204" charset="-122"/>
              <a:ea typeface="微软雅黑" panose="020B0503020204020204" charset="-122"/>
              <a:sym typeface="黑体" panose="02010609060101010101" charset="-122"/>
            </a:endParaRPr>
          </a:p>
          <a:p>
            <a:pPr marL="0" indent="0" algn="l" defTabSz="685800">
              <a:lnSpc>
                <a:spcPct val="60000"/>
              </a:lnSpc>
              <a:buNone/>
            </a:pPr>
            <a:r>
              <a:rPr lang="en-US" altLang="zh-CN" sz="1400">
                <a:solidFill>
                  <a:srgbClr val="595959"/>
                </a:solidFill>
                <a:latin typeface="微软雅黑" panose="020B0503020204020204" charset="-122"/>
                <a:ea typeface="微软雅黑" panose="020B0503020204020204" charset="-122"/>
                <a:sym typeface="黑体" panose="02010609060101010101" charset="-122"/>
              </a:rPr>
              <a:t>  </a:t>
            </a:r>
            <a:r>
              <a:rPr lang="zh-CN" altLang="en-US" sz="1400">
                <a:solidFill>
                  <a:srgbClr val="595959"/>
                </a:solidFill>
                <a:latin typeface="微软雅黑" panose="020B0503020204020204" charset="-122"/>
                <a:ea typeface="微软雅黑" panose="020B0503020204020204" charset="-122"/>
                <a:sym typeface="黑体" panose="02010609060101010101" charset="-122"/>
              </a:rPr>
              <a:t>66KV</a:t>
            </a:r>
            <a:r>
              <a:rPr lang="en-US" altLang="zh-CN" sz="1400">
                <a:solidFill>
                  <a:srgbClr val="595959"/>
                </a:solidFill>
                <a:latin typeface="微软雅黑" panose="020B0503020204020204" charset="-122"/>
                <a:ea typeface="微软雅黑" panose="020B0503020204020204" charset="-122"/>
                <a:sym typeface="黑体" panose="02010609060101010101" charset="-122"/>
              </a:rPr>
              <a:t>   </a:t>
            </a:r>
            <a:r>
              <a:rPr lang="zh-CN" altLang="en-US" sz="1400">
                <a:solidFill>
                  <a:srgbClr val="595959"/>
                </a:solidFill>
                <a:latin typeface="微软雅黑" panose="020B0503020204020204" charset="-122"/>
                <a:ea typeface="微软雅黑" panose="020B0503020204020204" charset="-122"/>
                <a:sym typeface="黑体" panose="02010609060101010101" charset="-122"/>
              </a:rPr>
              <a:t>（电力变、电炉变）</a:t>
            </a:r>
            <a:endParaRPr lang="zh-CN" altLang="en-US" sz="1400">
              <a:solidFill>
                <a:srgbClr val="595959"/>
              </a:solidFill>
              <a:latin typeface="微软雅黑" panose="020B0503020204020204" charset="-122"/>
              <a:ea typeface="微软雅黑" panose="020B0503020204020204" charset="-122"/>
              <a:sym typeface="黑体" panose="02010609060101010101" charset="-122"/>
            </a:endParaRPr>
          </a:p>
          <a:p>
            <a:pPr marL="0" indent="0" algn="l" defTabSz="685800">
              <a:lnSpc>
                <a:spcPct val="60000"/>
              </a:lnSpc>
              <a:buNone/>
            </a:pPr>
            <a:r>
              <a:rPr lang="en-US" altLang="zh-CN" sz="1400">
                <a:solidFill>
                  <a:srgbClr val="595959"/>
                </a:solidFill>
                <a:latin typeface="微软雅黑" panose="020B0503020204020204" charset="-122"/>
                <a:ea typeface="微软雅黑" panose="020B0503020204020204" charset="-122"/>
                <a:sym typeface="黑体" panose="02010609060101010101" charset="-122"/>
              </a:rPr>
              <a:t>  </a:t>
            </a:r>
            <a:r>
              <a:rPr lang="zh-CN" altLang="en-US" sz="1400">
                <a:solidFill>
                  <a:srgbClr val="595959"/>
                </a:solidFill>
                <a:latin typeface="微软雅黑" panose="020B0503020204020204" charset="-122"/>
                <a:ea typeface="微软雅黑" panose="020B0503020204020204" charset="-122"/>
                <a:sym typeface="黑体" panose="02010609060101010101" charset="-122"/>
              </a:rPr>
              <a:t>110KV</a:t>
            </a:r>
            <a:r>
              <a:rPr lang="en-US" altLang="zh-CN" sz="1400">
                <a:solidFill>
                  <a:srgbClr val="595959"/>
                </a:solidFill>
                <a:latin typeface="微软雅黑" panose="020B0503020204020204" charset="-122"/>
                <a:ea typeface="微软雅黑" panose="020B0503020204020204" charset="-122"/>
                <a:sym typeface="黑体" panose="02010609060101010101" charset="-122"/>
              </a:rPr>
              <a:t> </a:t>
            </a:r>
            <a:r>
              <a:rPr lang="zh-CN" altLang="en-US" sz="1400">
                <a:solidFill>
                  <a:srgbClr val="595959"/>
                </a:solidFill>
                <a:latin typeface="微软雅黑" panose="020B0503020204020204" charset="-122"/>
                <a:ea typeface="微软雅黑" panose="020B0503020204020204" charset="-122"/>
                <a:sym typeface="黑体" panose="02010609060101010101" charset="-122"/>
              </a:rPr>
              <a:t>（电力变、电炉变）</a:t>
            </a:r>
            <a:endParaRPr lang="zh-CN" altLang="en-US" sz="1400">
              <a:solidFill>
                <a:srgbClr val="595959"/>
              </a:solidFill>
              <a:latin typeface="微软雅黑" panose="020B0503020204020204" charset="-122"/>
              <a:ea typeface="微软雅黑" panose="020B0503020204020204" charset="-122"/>
              <a:sym typeface="黑体" panose="02010609060101010101" charset="-122"/>
            </a:endParaRPr>
          </a:p>
          <a:p>
            <a:pPr marL="0" indent="0" algn="l" defTabSz="685800">
              <a:lnSpc>
                <a:spcPct val="60000"/>
              </a:lnSpc>
              <a:buNone/>
            </a:pPr>
            <a:r>
              <a:rPr lang="en-US" altLang="zh-CN" sz="1400">
                <a:solidFill>
                  <a:srgbClr val="595959"/>
                </a:solidFill>
                <a:latin typeface="微软雅黑" panose="020B0503020204020204" charset="-122"/>
                <a:ea typeface="微软雅黑" panose="020B0503020204020204" charset="-122"/>
                <a:sym typeface="黑体" panose="02010609060101010101" charset="-122"/>
              </a:rPr>
              <a:t>  </a:t>
            </a:r>
            <a:r>
              <a:rPr lang="zh-CN" altLang="en-US" sz="1400">
                <a:solidFill>
                  <a:srgbClr val="595959"/>
                </a:solidFill>
                <a:latin typeface="微软雅黑" panose="020B0503020204020204" charset="-122"/>
                <a:ea typeface="微软雅黑" panose="020B0503020204020204" charset="-122"/>
                <a:sym typeface="黑体" panose="02010609060101010101" charset="-122"/>
              </a:rPr>
              <a:t>220KV</a:t>
            </a:r>
            <a:r>
              <a:rPr lang="en-US" altLang="zh-CN" sz="1400">
                <a:solidFill>
                  <a:srgbClr val="595959"/>
                </a:solidFill>
                <a:latin typeface="微软雅黑" panose="020B0503020204020204" charset="-122"/>
                <a:ea typeface="微软雅黑" panose="020B0503020204020204" charset="-122"/>
                <a:sym typeface="黑体" panose="02010609060101010101" charset="-122"/>
              </a:rPr>
              <a:t> </a:t>
            </a:r>
            <a:r>
              <a:rPr lang="zh-CN" altLang="en-US" sz="1400">
                <a:solidFill>
                  <a:srgbClr val="595959"/>
                </a:solidFill>
                <a:latin typeface="微软雅黑" panose="020B0503020204020204" charset="-122"/>
                <a:ea typeface="微软雅黑" panose="020B0503020204020204" charset="-122"/>
                <a:sym typeface="黑体" panose="02010609060101010101" charset="-122"/>
              </a:rPr>
              <a:t>（电力变、自耦变）</a:t>
            </a:r>
            <a:endParaRPr lang="zh-CN" altLang="en-US" sz="1400">
              <a:solidFill>
                <a:srgbClr val="595959"/>
              </a:solidFill>
              <a:latin typeface="微软雅黑" panose="020B0503020204020204" charset="-122"/>
              <a:ea typeface="微软雅黑" panose="020B0503020204020204" charset="-122"/>
              <a:sym typeface="黑体" panose="02010609060101010101" charset="-122"/>
            </a:endParaRPr>
          </a:p>
          <a:p>
            <a:pPr marL="0" indent="0" algn="l" defTabSz="685800">
              <a:lnSpc>
                <a:spcPct val="60000"/>
              </a:lnSpc>
              <a:buNone/>
            </a:pPr>
            <a:r>
              <a:rPr lang="en-US" altLang="zh-CN" sz="1400">
                <a:solidFill>
                  <a:srgbClr val="595959"/>
                </a:solidFill>
                <a:latin typeface="微软雅黑" panose="020B0503020204020204" charset="-122"/>
                <a:ea typeface="微软雅黑" panose="020B0503020204020204" charset="-122"/>
                <a:sym typeface="黑体" panose="02010609060101010101" charset="-122"/>
              </a:rPr>
              <a:t>  </a:t>
            </a:r>
            <a:r>
              <a:rPr lang="zh-CN" altLang="en-US" sz="1400">
                <a:solidFill>
                  <a:srgbClr val="595959"/>
                </a:solidFill>
                <a:latin typeface="微软雅黑" panose="020B0503020204020204" charset="-122"/>
                <a:ea typeface="微软雅黑" panose="020B0503020204020204" charset="-122"/>
                <a:sym typeface="黑体" panose="02010609060101010101" charset="-122"/>
              </a:rPr>
              <a:t>330KV （电力变、自耦变）</a:t>
            </a:r>
            <a:endParaRPr lang="zh-CN" altLang="en-US" sz="1400">
              <a:solidFill>
                <a:srgbClr val="595959"/>
              </a:solidFill>
              <a:latin typeface="微软雅黑" panose="020B0503020204020204" charset="-122"/>
              <a:ea typeface="微软雅黑" panose="020B0503020204020204" charset="-122"/>
              <a:sym typeface="黑体" panose="02010609060101010101" charset="-122"/>
            </a:endParaRPr>
          </a:p>
          <a:p>
            <a:pPr marL="0" indent="0" algn="l" defTabSz="685800">
              <a:lnSpc>
                <a:spcPct val="60000"/>
              </a:lnSpc>
              <a:buNone/>
            </a:pPr>
            <a:r>
              <a:rPr lang="en-US" altLang="zh-CN" sz="1400">
                <a:solidFill>
                  <a:srgbClr val="595959"/>
                </a:solidFill>
                <a:latin typeface="微软雅黑" panose="020B0503020204020204" charset="-122"/>
                <a:ea typeface="微软雅黑" panose="020B0503020204020204" charset="-122"/>
                <a:sym typeface="黑体" panose="02010609060101010101" charset="-122"/>
              </a:rPr>
              <a:t>  </a:t>
            </a:r>
            <a:r>
              <a:rPr lang="zh-CN" altLang="en-US" sz="1400">
                <a:solidFill>
                  <a:srgbClr val="595959"/>
                </a:solidFill>
                <a:latin typeface="微软雅黑" panose="020B0503020204020204" charset="-122"/>
                <a:ea typeface="微软雅黑" panose="020B0503020204020204" charset="-122"/>
                <a:sym typeface="黑体" panose="02010609060101010101" charset="-122"/>
              </a:rPr>
              <a:t>500KV</a:t>
            </a:r>
            <a:r>
              <a:rPr lang="en-US" altLang="zh-CN" sz="1400">
                <a:solidFill>
                  <a:srgbClr val="595959"/>
                </a:solidFill>
                <a:latin typeface="微软雅黑" panose="020B0503020204020204" charset="-122"/>
                <a:ea typeface="微软雅黑" panose="020B0503020204020204" charset="-122"/>
                <a:sym typeface="黑体" panose="02010609060101010101" charset="-122"/>
              </a:rPr>
              <a:t> </a:t>
            </a:r>
            <a:r>
              <a:rPr lang="zh-CN" altLang="en-US" sz="1400">
                <a:solidFill>
                  <a:srgbClr val="595959"/>
                </a:solidFill>
                <a:latin typeface="微软雅黑" panose="020B0503020204020204" charset="-122"/>
                <a:ea typeface="微软雅黑" panose="020B0503020204020204" charset="-122"/>
                <a:sym typeface="黑体" panose="02010609060101010101" charset="-122"/>
              </a:rPr>
              <a:t>（电力变）</a:t>
            </a:r>
            <a:endParaRPr lang="zh-CN" altLang="en-US" sz="1400"/>
          </a:p>
        </p:txBody>
      </p:sp>
      <p:pic>
        <p:nvPicPr>
          <p:cNvPr id="5" name="图片 4"/>
          <p:cNvPicPr>
            <a:picLocks noChangeAspect="1"/>
          </p:cNvPicPr>
          <p:nvPr/>
        </p:nvPicPr>
        <p:blipFill>
          <a:blip r:embed="rId1"/>
          <a:srcRect l="9806" t="26817" r="29813" b="24954"/>
          <a:stretch>
            <a:fillRect/>
          </a:stretch>
        </p:blipFill>
        <p:spPr>
          <a:xfrm>
            <a:off x="5553075" y="964565"/>
            <a:ext cx="2080895" cy="2218055"/>
          </a:xfrm>
          <a:prstGeom prst="rect">
            <a:avLst/>
          </a:prstGeom>
        </p:spPr>
      </p:pic>
      <p:pic>
        <p:nvPicPr>
          <p:cNvPr id="6" name="图片 5"/>
          <p:cNvPicPr>
            <a:picLocks noChangeAspect="1"/>
          </p:cNvPicPr>
          <p:nvPr/>
        </p:nvPicPr>
        <p:blipFill>
          <a:blip r:embed="rId2"/>
          <a:srcRect l="15514" t="36189" r="14047"/>
          <a:stretch>
            <a:fillRect/>
          </a:stretch>
        </p:blipFill>
        <p:spPr>
          <a:xfrm>
            <a:off x="8120380" y="964565"/>
            <a:ext cx="3110865" cy="2113915"/>
          </a:xfrm>
          <a:prstGeom prst="rect">
            <a:avLst/>
          </a:prstGeom>
        </p:spPr>
      </p:pic>
      <p:pic>
        <p:nvPicPr>
          <p:cNvPr id="7" name="图片 6" descr="IMG_4977"/>
          <p:cNvPicPr>
            <a:picLocks noChangeAspect="1"/>
          </p:cNvPicPr>
          <p:nvPr/>
        </p:nvPicPr>
        <p:blipFill>
          <a:blip r:embed="rId3"/>
          <a:srcRect t="29287" b="12065"/>
          <a:stretch>
            <a:fillRect/>
          </a:stretch>
        </p:blipFill>
        <p:spPr>
          <a:xfrm>
            <a:off x="8021955" y="3366770"/>
            <a:ext cx="2953385" cy="2309495"/>
          </a:xfrm>
          <a:prstGeom prst="rect">
            <a:avLst/>
          </a:prstGeom>
        </p:spPr>
      </p:pic>
    </p:spTree>
    <p:custDataLst>
      <p:tags r:id="rId4"/>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nchor="t" anchorCtr="0">
            <a:normAutofit lnSpcReduction="20000"/>
          </a:bodyPr>
          <a:p>
            <a:pPr>
              <a:lnSpc>
                <a:spcPct val="100000"/>
              </a:lnSpc>
            </a:pPr>
            <a:r>
              <a:rPr lang="zh-CN" altLang="en-US" b="1">
                <a:solidFill>
                  <a:srgbClr val="595959"/>
                </a:solidFill>
                <a:latin typeface="微软雅黑" panose="020B0503020204020204" charset="-122"/>
                <a:ea typeface="微软雅黑" panose="020B0503020204020204" charset="-122"/>
                <a:sym typeface="+mn-ea"/>
              </a:rPr>
              <a:t>按冷却介质分：</a:t>
            </a:r>
            <a:endParaRPr lang="zh-CN" altLang="en-US" b="1">
              <a:solidFill>
                <a:srgbClr val="595959"/>
              </a:solidFill>
              <a:latin typeface="微软雅黑" panose="020B0503020204020204" charset="-122"/>
              <a:ea typeface="微软雅黑" panose="020B0503020204020204" charset="-122"/>
              <a:sym typeface="+mn-ea"/>
            </a:endParaRPr>
          </a:p>
          <a:p>
            <a:pPr marL="0" indent="0" algn="l">
              <a:lnSpc>
                <a:spcPct val="100000"/>
              </a:lnSpc>
              <a:buNone/>
            </a:pPr>
            <a:br>
              <a:rPr lang="zh-CN" altLang="en-US" b="1">
                <a:solidFill>
                  <a:srgbClr val="595959"/>
                </a:solidFill>
                <a:latin typeface="微软雅黑" panose="020B0503020204020204" charset="-122"/>
                <a:ea typeface="微软雅黑" panose="020B0503020204020204" charset="-122"/>
                <a:sym typeface="+mn-ea"/>
              </a:rPr>
            </a:br>
            <a:r>
              <a:rPr lang="en-US" altLang="zh-CN" b="1">
                <a:solidFill>
                  <a:srgbClr val="595959"/>
                </a:solidFill>
                <a:latin typeface="微软雅黑" panose="020B0503020204020204" charset="-122"/>
                <a:ea typeface="微软雅黑" panose="020B0503020204020204" charset="-122"/>
                <a:sym typeface="+mn-ea"/>
              </a:rPr>
              <a:t>  </a:t>
            </a:r>
            <a:r>
              <a:rPr lang="zh-CN" altLang="en-US" sz="1400" u="sng">
                <a:solidFill>
                  <a:srgbClr val="00B0F0"/>
                </a:solidFill>
                <a:latin typeface="微软雅黑" panose="020B0503020204020204" charset="-122"/>
                <a:ea typeface="微软雅黑" panose="020B0503020204020204" charset="-122"/>
                <a:sym typeface="+mn-ea"/>
              </a:rPr>
              <a:t>干式变压器</a:t>
            </a:r>
            <a:r>
              <a:rPr lang="zh-CN" altLang="en-US" sz="1400">
                <a:solidFill>
                  <a:srgbClr val="00B0F0"/>
                </a:solidFill>
                <a:latin typeface="微软雅黑" panose="020B0503020204020204" charset="-122"/>
                <a:ea typeface="微软雅黑" panose="020B0503020204020204" charset="-122"/>
                <a:sym typeface="+mn-ea"/>
              </a:rPr>
              <a:t>：</a:t>
            </a:r>
            <a:r>
              <a:rPr lang="en-US" altLang="zh-CN" sz="1400">
                <a:solidFill>
                  <a:srgbClr val="00B0F0"/>
                </a:solidFill>
                <a:latin typeface="微软雅黑" panose="020B0503020204020204" charset="-122"/>
                <a:ea typeface="微软雅黑" panose="020B0503020204020204" charset="-122"/>
                <a:sym typeface="+mn-ea"/>
              </a:rPr>
              <a:t>  </a:t>
            </a:r>
            <a:r>
              <a:rPr lang="zh-CN" altLang="en-US" sz="1400">
                <a:solidFill>
                  <a:srgbClr val="595959"/>
                </a:solidFill>
                <a:latin typeface="微软雅黑" panose="020B0503020204020204" charset="-122"/>
                <a:ea typeface="微软雅黑" panose="020B0503020204020204" charset="-122"/>
                <a:sym typeface="+mn-ea"/>
              </a:rPr>
              <a:t>铁心和器身不浸泡在绝缘液体中的产品为干式变压器。</a:t>
            </a:r>
            <a:endParaRPr lang="zh-CN" altLang="en-US" sz="1400">
              <a:solidFill>
                <a:srgbClr val="595959"/>
              </a:solidFill>
              <a:latin typeface="微软雅黑" panose="020B0503020204020204" charset="-122"/>
              <a:ea typeface="微软雅黑" panose="020B0503020204020204" charset="-122"/>
              <a:sym typeface="+mn-ea"/>
            </a:endParaRPr>
          </a:p>
          <a:p>
            <a:pPr marL="0" indent="0" algn="l">
              <a:lnSpc>
                <a:spcPct val="100000"/>
              </a:lnSpc>
              <a:buNone/>
            </a:pPr>
            <a:r>
              <a:rPr lang="en-US" altLang="zh-CN" sz="1400">
                <a:solidFill>
                  <a:srgbClr val="595959"/>
                </a:solidFill>
                <a:latin typeface="微软雅黑" panose="020B0503020204020204" charset="-122"/>
                <a:ea typeface="微软雅黑" panose="020B0503020204020204" charset="-122"/>
                <a:sym typeface="+mn-ea"/>
              </a:rPr>
              <a:t>                      </a:t>
            </a:r>
            <a:r>
              <a:rPr lang="zh-CN" altLang="en-US" sz="1400">
                <a:solidFill>
                  <a:srgbClr val="595959"/>
                </a:solidFill>
                <a:latin typeface="微软雅黑" panose="020B0503020204020204" charset="-122"/>
                <a:ea typeface="微软雅黑" panose="020B0503020204020204" charset="-122"/>
                <a:sym typeface="+mn-ea"/>
              </a:rPr>
              <a:t>浇注式干变的绝缘介质主要是树脂和空气</a:t>
            </a:r>
            <a:r>
              <a:rPr lang="zh-CN" altLang="en-US" sz="1400">
                <a:solidFill>
                  <a:srgbClr val="595959"/>
                </a:solidFill>
                <a:latin typeface="微软雅黑" panose="020B0503020204020204" charset="-122"/>
                <a:ea typeface="微软雅黑" panose="020B0503020204020204" charset="-122"/>
                <a:sym typeface="+mn-ea"/>
              </a:rPr>
              <a:t>。</a:t>
            </a:r>
            <a:endParaRPr lang="zh-CN" altLang="en-US" sz="1400">
              <a:solidFill>
                <a:srgbClr val="595959"/>
              </a:solidFill>
              <a:latin typeface="微软雅黑" panose="020B0503020204020204" charset="-122"/>
              <a:ea typeface="微软雅黑" panose="020B0503020204020204" charset="-122"/>
              <a:sym typeface="+mn-ea"/>
            </a:endParaRPr>
          </a:p>
          <a:p>
            <a:pPr marL="0" indent="0" algn="l">
              <a:lnSpc>
                <a:spcPct val="90000"/>
              </a:lnSpc>
              <a:buNone/>
            </a:pPr>
            <a:r>
              <a:rPr lang="zh-CN" altLang="en-US" sz="1400">
                <a:solidFill>
                  <a:srgbClr val="595959"/>
                </a:solidFill>
                <a:latin typeface="微软雅黑" panose="020B0503020204020204" charset="-122"/>
                <a:ea typeface="微软雅黑" panose="020B0503020204020204" charset="-122"/>
                <a:sym typeface="+mn-ea"/>
              </a:rPr>
              <a:t> </a:t>
            </a:r>
            <a:br>
              <a:rPr lang="zh-CN" altLang="en-US" sz="1400">
                <a:solidFill>
                  <a:srgbClr val="595959"/>
                </a:solidFill>
                <a:latin typeface="微软雅黑" panose="020B0503020204020204" charset="-122"/>
                <a:ea typeface="微软雅黑" panose="020B0503020204020204" charset="-122"/>
                <a:sym typeface="+mn-ea"/>
              </a:rPr>
            </a:br>
            <a:r>
              <a:rPr lang="en-US" altLang="zh-CN" sz="1400">
                <a:solidFill>
                  <a:srgbClr val="595959"/>
                </a:solidFill>
                <a:latin typeface="微软雅黑" panose="020B0503020204020204" charset="-122"/>
                <a:ea typeface="微软雅黑" panose="020B0503020204020204" charset="-122"/>
                <a:sym typeface="+mn-ea"/>
              </a:rPr>
              <a:t>   </a:t>
            </a:r>
            <a:r>
              <a:rPr lang="zh-CN" altLang="en-US" sz="1400" u="sng">
                <a:solidFill>
                  <a:srgbClr val="00B0F0"/>
                </a:solidFill>
                <a:latin typeface="微软雅黑" panose="020B0503020204020204" charset="-122"/>
                <a:ea typeface="微软雅黑" panose="020B0503020204020204" charset="-122"/>
                <a:sym typeface="+mn-ea"/>
              </a:rPr>
              <a:t>油浸式变压器</a:t>
            </a:r>
            <a:r>
              <a:rPr lang="zh-CN" altLang="en-US" sz="1400">
                <a:solidFill>
                  <a:srgbClr val="00B0F0"/>
                </a:solidFill>
                <a:latin typeface="微软雅黑" panose="020B0503020204020204" charset="-122"/>
                <a:ea typeface="微软雅黑" panose="020B0503020204020204" charset="-122"/>
                <a:sym typeface="+mn-ea"/>
              </a:rPr>
              <a:t>：</a:t>
            </a:r>
            <a:r>
              <a:rPr lang="zh-CN" altLang="en-US" sz="1400">
                <a:solidFill>
                  <a:srgbClr val="595959"/>
                </a:solidFill>
                <a:latin typeface="微软雅黑" panose="020B0503020204020204" charset="-122"/>
                <a:ea typeface="微软雅黑" panose="020B0503020204020204" charset="-122"/>
                <a:sym typeface="+mn-ea"/>
              </a:rPr>
              <a:t>铁心和器身浸泡在绝缘液体中的产品为油浸式变压器。</a:t>
            </a:r>
            <a:endParaRPr lang="zh-CN" altLang="en-US" sz="1400">
              <a:solidFill>
                <a:srgbClr val="595959"/>
              </a:solidFill>
              <a:latin typeface="微软雅黑" panose="020B0503020204020204" charset="-122"/>
              <a:ea typeface="微软雅黑" panose="020B0503020204020204" charset="-122"/>
              <a:sym typeface="+mn-ea"/>
            </a:endParaRPr>
          </a:p>
          <a:p>
            <a:pPr marL="0" indent="0" algn="l">
              <a:lnSpc>
                <a:spcPct val="90000"/>
              </a:lnSpc>
              <a:buNone/>
            </a:pPr>
            <a:r>
              <a:rPr lang="zh-CN" altLang="en-US" sz="1400">
                <a:solidFill>
                  <a:srgbClr val="595959"/>
                </a:solidFill>
                <a:latin typeface="微软雅黑" panose="020B0503020204020204" charset="-122"/>
                <a:ea typeface="微软雅黑" panose="020B0503020204020204" charset="-122"/>
                <a:sym typeface="+mn-ea"/>
              </a:rPr>
              <a:t> </a:t>
            </a:r>
            <a:r>
              <a:rPr lang="en-US" altLang="zh-CN" sz="1400">
                <a:solidFill>
                  <a:srgbClr val="595959"/>
                </a:solidFill>
                <a:latin typeface="微软雅黑" panose="020B0503020204020204" charset="-122"/>
                <a:ea typeface="微软雅黑" panose="020B0503020204020204" charset="-122"/>
                <a:sym typeface="+mn-ea"/>
              </a:rPr>
              <a:t>                     </a:t>
            </a:r>
            <a:r>
              <a:rPr lang="zh-CN" altLang="en-US" sz="1400">
                <a:solidFill>
                  <a:srgbClr val="595959"/>
                </a:solidFill>
                <a:latin typeface="微软雅黑" panose="020B0503020204020204" charset="-122"/>
                <a:ea typeface="微软雅黑" panose="020B0503020204020204" charset="-122"/>
                <a:sym typeface="+mn-ea"/>
              </a:rPr>
              <a:t>油变的绝缘介质主要是绝缘纸和变压器油。</a:t>
            </a:r>
            <a:endParaRPr lang="zh-CN" altLang="en-US" sz="1400">
              <a:solidFill>
                <a:srgbClr val="595959"/>
              </a:solidFill>
              <a:latin typeface="微软雅黑" panose="020B0503020204020204" charset="-122"/>
              <a:ea typeface="微软雅黑" panose="020B0503020204020204" charset="-122"/>
              <a:sym typeface="+mn-ea"/>
            </a:endParaRPr>
          </a:p>
          <a:p>
            <a:endParaRPr lang="zh-CN" altLang="en-US" sz="1400">
              <a:solidFill>
                <a:srgbClr val="595959"/>
              </a:solidFill>
              <a:latin typeface="微软雅黑" panose="020B0503020204020204" charset="-122"/>
              <a:ea typeface="微软雅黑" panose="020B0503020204020204" charset="-122"/>
            </a:endParaRPr>
          </a:p>
          <a:p>
            <a:pPr defTabSz="685800">
              <a:lnSpc>
                <a:spcPct val="130000"/>
              </a:lnSpc>
            </a:pPr>
            <a:r>
              <a:rPr lang="zh-CN" altLang="en-US" sz="1800" b="1">
                <a:solidFill>
                  <a:srgbClr val="595959"/>
                </a:solidFill>
                <a:latin typeface="微软雅黑" panose="020B0503020204020204" charset="-122"/>
                <a:ea typeface="微软雅黑" panose="020B0503020204020204" charset="-122"/>
                <a:sym typeface="黑体" panose="02010609060101010101" charset="-122"/>
              </a:rPr>
              <a:t>按冷却方式分类：</a:t>
            </a:r>
            <a:endParaRPr lang="zh-CN" altLang="en-US" sz="1800" b="1">
              <a:solidFill>
                <a:srgbClr val="595959"/>
              </a:solidFill>
              <a:latin typeface="微软雅黑" panose="020B0503020204020204" charset="-122"/>
              <a:ea typeface="微软雅黑" panose="020B0503020204020204" charset="-122"/>
              <a:sym typeface="黑体" panose="02010609060101010101" charset="-122"/>
            </a:endParaRPr>
          </a:p>
          <a:p>
            <a:pPr marL="0" indent="179705" defTabSz="685800">
              <a:lnSpc>
                <a:spcPct val="90000"/>
              </a:lnSpc>
              <a:buNone/>
            </a:pPr>
            <a:r>
              <a:rPr lang="zh-CN" altLang="en-US" sz="1400">
                <a:solidFill>
                  <a:srgbClr val="595959"/>
                </a:solidFill>
                <a:latin typeface="微软雅黑" panose="020B0503020204020204" charset="-122"/>
                <a:ea typeface="微软雅黑" panose="020B0503020204020204" charset="-122"/>
                <a:sym typeface="黑体" panose="02010609060101010101" charset="-122"/>
              </a:rPr>
              <a:t>自冷ONAN</a:t>
            </a:r>
            <a:endParaRPr lang="zh-CN" altLang="en-US" sz="1400">
              <a:solidFill>
                <a:srgbClr val="595959"/>
              </a:solidFill>
              <a:latin typeface="微软雅黑" panose="020B0503020204020204" charset="-122"/>
              <a:ea typeface="微软雅黑" panose="020B0503020204020204" charset="-122"/>
              <a:sym typeface="黑体" panose="02010609060101010101" charset="-122"/>
            </a:endParaRPr>
          </a:p>
          <a:p>
            <a:pPr marL="0" indent="179705" defTabSz="685800">
              <a:lnSpc>
                <a:spcPct val="90000"/>
              </a:lnSpc>
              <a:buNone/>
            </a:pPr>
            <a:r>
              <a:rPr lang="zh-CN" altLang="en-US" sz="1400">
                <a:solidFill>
                  <a:srgbClr val="595959"/>
                </a:solidFill>
                <a:latin typeface="微软雅黑" panose="020B0503020204020204" charset="-122"/>
                <a:ea typeface="微软雅黑" panose="020B0503020204020204" charset="-122"/>
                <a:sym typeface="黑体" panose="02010609060101010101" charset="-122"/>
              </a:rPr>
              <a:t>风冷ONAF</a:t>
            </a:r>
            <a:endParaRPr lang="zh-CN" altLang="en-US" sz="1400">
              <a:solidFill>
                <a:srgbClr val="595959"/>
              </a:solidFill>
              <a:latin typeface="微软雅黑" panose="020B0503020204020204" charset="-122"/>
              <a:ea typeface="微软雅黑" panose="020B0503020204020204" charset="-122"/>
              <a:sym typeface="黑体" panose="02010609060101010101" charset="-122"/>
            </a:endParaRPr>
          </a:p>
          <a:p>
            <a:pPr marL="0" indent="179705" defTabSz="685800">
              <a:lnSpc>
                <a:spcPct val="90000"/>
              </a:lnSpc>
              <a:buNone/>
            </a:pPr>
            <a:r>
              <a:rPr lang="zh-CN" altLang="en-US" sz="1400">
                <a:solidFill>
                  <a:srgbClr val="595959"/>
                </a:solidFill>
                <a:latin typeface="微软雅黑" panose="020B0503020204020204" charset="-122"/>
                <a:ea typeface="微软雅黑" panose="020B0503020204020204" charset="-122"/>
                <a:sym typeface="黑体" panose="02010609060101010101" charset="-122"/>
              </a:rPr>
              <a:t>强迫油循环风冷OFAF</a:t>
            </a:r>
            <a:endParaRPr lang="zh-CN" altLang="en-US" sz="1400">
              <a:solidFill>
                <a:srgbClr val="595959"/>
              </a:solidFill>
              <a:latin typeface="微软雅黑" panose="020B0503020204020204" charset="-122"/>
              <a:ea typeface="微软雅黑" panose="020B0503020204020204" charset="-122"/>
              <a:sym typeface="黑体" panose="02010609060101010101" charset="-122"/>
            </a:endParaRPr>
          </a:p>
          <a:p>
            <a:pPr marL="0" indent="179705" defTabSz="685800">
              <a:lnSpc>
                <a:spcPct val="90000"/>
              </a:lnSpc>
              <a:buNone/>
            </a:pPr>
            <a:r>
              <a:rPr lang="zh-CN" altLang="en-US" sz="1400">
                <a:solidFill>
                  <a:srgbClr val="595959"/>
                </a:solidFill>
                <a:latin typeface="微软雅黑" panose="020B0503020204020204" charset="-122"/>
                <a:ea typeface="微软雅黑" panose="020B0503020204020204" charset="-122"/>
                <a:sym typeface="黑体" panose="02010609060101010101" charset="-122"/>
              </a:rPr>
              <a:t>强迫油循环水冷式 OFWF</a:t>
            </a:r>
            <a:endParaRPr lang="zh-CN" altLang="en-US" sz="1400">
              <a:solidFill>
                <a:srgbClr val="595959"/>
              </a:solidFill>
              <a:latin typeface="微软雅黑" panose="020B0503020204020204" charset="-122"/>
              <a:ea typeface="微软雅黑" panose="020B0503020204020204" charset="-122"/>
              <a:sym typeface="黑体" panose="02010609060101010101" charset="-122"/>
            </a:endParaRPr>
          </a:p>
          <a:p>
            <a:pPr marL="0" indent="179705" defTabSz="685800">
              <a:lnSpc>
                <a:spcPct val="90000"/>
              </a:lnSpc>
              <a:buNone/>
            </a:pPr>
            <a:r>
              <a:rPr lang="zh-CN" altLang="en-US" sz="1400">
                <a:solidFill>
                  <a:srgbClr val="595959"/>
                </a:solidFill>
                <a:latin typeface="微软雅黑" panose="020B0503020204020204" charset="-122"/>
                <a:ea typeface="微软雅黑" panose="020B0503020204020204" charset="-122"/>
                <a:sym typeface="黑体" panose="02010609060101010101" charset="-122"/>
              </a:rPr>
              <a:t>强导向油循环风冷ODAF</a:t>
            </a:r>
            <a:endParaRPr lang="zh-CN" altLang="en-US" sz="1400">
              <a:solidFill>
                <a:srgbClr val="595959"/>
              </a:solidFill>
              <a:latin typeface="微软雅黑" panose="020B0503020204020204" charset="-122"/>
              <a:ea typeface="微软雅黑" panose="020B0503020204020204" charset="-122"/>
              <a:sym typeface="黑体" panose="02010609060101010101" charset="-122"/>
            </a:endParaRPr>
          </a:p>
          <a:p>
            <a:pPr marL="0" indent="179705" defTabSz="685800">
              <a:lnSpc>
                <a:spcPct val="90000"/>
              </a:lnSpc>
              <a:buNone/>
            </a:pPr>
            <a:r>
              <a:rPr lang="zh-CN" altLang="en-US" sz="1400">
                <a:solidFill>
                  <a:srgbClr val="595959"/>
                </a:solidFill>
                <a:latin typeface="微软雅黑" panose="020B0503020204020204" charset="-122"/>
                <a:ea typeface="微软雅黑" panose="020B0503020204020204" charset="-122"/>
                <a:sym typeface="黑体" panose="02010609060101010101" charset="-122"/>
              </a:rPr>
              <a:t>强迫导向油循环冷水 ODWF</a:t>
            </a:r>
            <a:endParaRPr lang="zh-CN" altLang="en-US" sz="1400">
              <a:solidFill>
                <a:srgbClr val="595959"/>
              </a:solidFill>
              <a:latin typeface="微软雅黑" panose="020B0503020204020204" charset="-122"/>
              <a:ea typeface="微软雅黑" panose="020B0503020204020204" charset="-122"/>
            </a:endParaRPr>
          </a:p>
          <a:p>
            <a:endParaRPr lang="zh-CN" altLang="en-US" sz="1400">
              <a:solidFill>
                <a:srgbClr val="595959"/>
              </a:solidFill>
              <a:latin typeface="微软雅黑" panose="020B0503020204020204" charset="-122"/>
              <a:ea typeface="微软雅黑" panose="020B0503020204020204" charset="-122"/>
            </a:endParaRPr>
          </a:p>
          <a:p>
            <a:endParaRPr lang="zh-CN" altLang="en-US" sz="1400">
              <a:solidFill>
                <a:srgbClr val="595959"/>
              </a:solidFill>
              <a:latin typeface="微软雅黑" panose="020B0503020204020204" charset="-122"/>
              <a:ea typeface="微软雅黑" panose="020B0503020204020204" charset="-122"/>
            </a:endParaRPr>
          </a:p>
        </p:txBody>
      </p:sp>
      <p:sp>
        <p:nvSpPr>
          <p:cNvPr id="4" name="标题 3"/>
          <p:cNvSpPr>
            <a:spLocks noGrp="1"/>
          </p:cNvSpPr>
          <p:nvPr>
            <p:ph type="title"/>
            <p:custDataLst>
              <p:tags r:id="rId1"/>
            </p:custDataLst>
          </p:nvPr>
        </p:nvSpPr>
        <p:spPr>
          <a:xfrm>
            <a:off x="511245" y="608400"/>
            <a:ext cx="10969200" cy="705600"/>
          </a:xfrm>
        </p:spPr>
        <p:txBody>
          <a:bodyPr/>
          <a:p>
            <a:pPr marL="571500" indent="-571500">
              <a:buFont typeface="Wingdings" panose="05000000000000000000" charset="0"/>
              <a:buChar char="Ø"/>
            </a:pPr>
            <a:r>
              <a:rPr lang="en-US" altLang="zh-CN" b="0" spc="0" dirty="0">
                <a:solidFill>
                  <a:schemeClr val="accent4">
                    <a:lumMod val="50000"/>
                  </a:schemeClr>
                </a:solidFill>
                <a:latin typeface="Impact" panose="020B0806030902050204" pitchFamily="34" charset="0"/>
                <a:ea typeface="方正舒体" panose="02010601030101010101" pitchFamily="2" charset="-122"/>
                <a:cs typeface="+mn-cs"/>
                <a:sym typeface="+mn-ea"/>
              </a:rPr>
              <a:t>03</a:t>
            </a:r>
            <a:r>
              <a:rPr lang="en-US" altLang="zh-CN">
                <a:sym typeface="+mn-ea"/>
              </a:rPr>
              <a:t> </a:t>
            </a:r>
            <a:r>
              <a:rPr lang="zh-CN" altLang="en-US">
                <a:solidFill>
                  <a:schemeClr val="accent4">
                    <a:lumMod val="50000"/>
                  </a:schemeClr>
                </a:solidFill>
                <a:latin typeface="微软雅黑" panose="020B0503020204020204" charset="-122"/>
                <a:ea typeface="微软雅黑" panose="020B0503020204020204" charset="-122"/>
                <a:sym typeface="+mn-ea"/>
              </a:rPr>
              <a:t>变压器分类</a:t>
            </a:r>
            <a:endParaRPr lang="zh-CN" altLang="en-US"/>
          </a:p>
        </p:txBody>
      </p:sp>
      <p:pic>
        <p:nvPicPr>
          <p:cNvPr id="5" name="图片 4" descr="IMG_20230225_115614"/>
          <p:cNvPicPr>
            <a:picLocks noChangeAspect="1"/>
          </p:cNvPicPr>
          <p:nvPr/>
        </p:nvPicPr>
        <p:blipFill>
          <a:blip r:embed="rId2"/>
          <a:srcRect l="20104" t="2861" r="8035" b="6694"/>
          <a:stretch>
            <a:fillRect/>
          </a:stretch>
        </p:blipFill>
        <p:spPr>
          <a:xfrm>
            <a:off x="7174865" y="4002405"/>
            <a:ext cx="2200275" cy="2077085"/>
          </a:xfrm>
          <a:prstGeom prst="rect">
            <a:avLst/>
          </a:prstGeom>
        </p:spPr>
      </p:pic>
      <p:pic>
        <p:nvPicPr>
          <p:cNvPr id="6" name="图片 5"/>
          <p:cNvPicPr>
            <a:picLocks noChangeAspect="1"/>
          </p:cNvPicPr>
          <p:nvPr>
            <p:custDataLst>
              <p:tags r:id="rId3"/>
            </p:custDataLst>
          </p:nvPr>
        </p:nvPicPr>
        <p:blipFill>
          <a:blip r:embed="rId4"/>
          <a:stretch>
            <a:fillRect/>
          </a:stretch>
        </p:blipFill>
        <p:spPr>
          <a:xfrm>
            <a:off x="7175500" y="1490345"/>
            <a:ext cx="2199640" cy="1909445"/>
          </a:xfrm>
          <a:prstGeom prst="rect">
            <a:avLst/>
          </a:prstGeom>
        </p:spPr>
      </p:pic>
      <p:pic>
        <p:nvPicPr>
          <p:cNvPr id="69634" name="图片 2"/>
          <p:cNvPicPr>
            <a:picLocks noChangeAspect="1"/>
          </p:cNvPicPr>
          <p:nvPr>
            <p:custDataLst>
              <p:tags r:id="rId5"/>
            </p:custDataLst>
          </p:nvPr>
        </p:nvPicPr>
        <p:blipFill>
          <a:blip r:embed="rId6"/>
          <a:stretch>
            <a:fillRect/>
          </a:stretch>
        </p:blipFill>
        <p:spPr>
          <a:xfrm>
            <a:off x="9476105" y="4002405"/>
            <a:ext cx="2451735" cy="2030730"/>
          </a:xfrm>
          <a:prstGeom prst="rect">
            <a:avLst/>
          </a:prstGeom>
          <a:noFill/>
          <a:ln w="9525">
            <a:noFill/>
          </a:ln>
        </p:spPr>
      </p:pic>
      <p:pic>
        <p:nvPicPr>
          <p:cNvPr id="69633" name="图片 1" descr="220kV transformer"/>
          <p:cNvPicPr>
            <a:picLocks noChangeAspect="1"/>
          </p:cNvPicPr>
          <p:nvPr>
            <p:custDataLst>
              <p:tags r:id="rId7"/>
            </p:custDataLst>
          </p:nvPr>
        </p:nvPicPr>
        <p:blipFill>
          <a:blip r:embed="rId8"/>
          <a:stretch>
            <a:fillRect/>
          </a:stretch>
        </p:blipFill>
        <p:spPr>
          <a:xfrm>
            <a:off x="9476105" y="1490345"/>
            <a:ext cx="2418715" cy="2004695"/>
          </a:xfrm>
          <a:prstGeom prst="rect">
            <a:avLst/>
          </a:prstGeom>
          <a:noFill/>
          <a:ln w="9525">
            <a:noFill/>
          </a:ln>
        </p:spPr>
      </p:pic>
    </p:spTree>
    <p:custDataLst>
      <p:tags r:id="rId9"/>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defTabSz="685800">
              <a:lnSpc>
                <a:spcPct val="130000"/>
              </a:lnSpc>
            </a:pPr>
            <a:r>
              <a:rPr lang="zh-CN" altLang="en-US" b="1">
                <a:solidFill>
                  <a:srgbClr val="595959"/>
                </a:solidFill>
                <a:latin typeface="微软雅黑" panose="020B0503020204020204" charset="-122"/>
                <a:ea typeface="微软雅黑" panose="020B0503020204020204" charset="-122"/>
                <a:sym typeface="黑体" panose="02010609060101010101" charset="-122"/>
              </a:rPr>
              <a:t>按用途去分类：</a:t>
            </a:r>
            <a:endParaRPr lang="zh-CN" altLang="en-US" b="1">
              <a:solidFill>
                <a:srgbClr val="595959"/>
              </a:solidFill>
              <a:latin typeface="微软雅黑" panose="020B0503020204020204" charset="-122"/>
              <a:ea typeface="微软雅黑" panose="020B0503020204020204" charset="-122"/>
              <a:sym typeface="黑体" panose="02010609060101010101" charset="-122"/>
            </a:endParaRPr>
          </a:p>
          <a:p>
            <a:pPr marL="0" indent="0" defTabSz="685800">
              <a:lnSpc>
                <a:spcPct val="80000"/>
              </a:lnSpc>
              <a:buNone/>
            </a:pPr>
            <a:r>
              <a:rPr lang="zh-CN" altLang="en-US" sz="1400" u="sng">
                <a:solidFill>
                  <a:srgbClr val="00B0F0"/>
                </a:solidFill>
                <a:latin typeface="微软雅黑" panose="020B0503020204020204" charset="-122"/>
                <a:ea typeface="微软雅黑" panose="020B0503020204020204" charset="-122"/>
                <a:sym typeface="黑体" panose="02010609060101010101" charset="-122"/>
              </a:rPr>
              <a:t>电力变</a:t>
            </a:r>
            <a:r>
              <a:rPr lang="zh-CN" altLang="en-US" sz="1400">
                <a:solidFill>
                  <a:srgbClr val="00B0F0"/>
                </a:solidFill>
                <a:latin typeface="微软雅黑" panose="020B0503020204020204" charset="-122"/>
                <a:ea typeface="微软雅黑" panose="020B0503020204020204" charset="-122"/>
                <a:sym typeface="黑体" panose="02010609060101010101" charset="-122"/>
              </a:rPr>
              <a:t>：</a:t>
            </a:r>
            <a:r>
              <a:rPr lang="zh-CN" altLang="en-US" sz="1400">
                <a:solidFill>
                  <a:srgbClr val="595959"/>
                </a:solidFill>
                <a:latin typeface="微软雅黑" panose="020B0503020204020204" charset="-122"/>
                <a:ea typeface="微软雅黑" panose="020B0503020204020204" charset="-122"/>
                <a:sym typeface="黑体" panose="02010609060101010101" charset="-122"/>
              </a:rPr>
              <a:t>配变（35KV），电力变（330,500KV）</a:t>
            </a:r>
            <a:endParaRPr lang="zh-CN" altLang="en-US" sz="1400">
              <a:solidFill>
                <a:srgbClr val="595959"/>
              </a:solidFill>
              <a:latin typeface="微软雅黑" panose="020B0503020204020204" charset="-122"/>
              <a:ea typeface="微软雅黑" panose="020B0503020204020204" charset="-122"/>
              <a:sym typeface="黑体" panose="02010609060101010101" charset="-122"/>
            </a:endParaRPr>
          </a:p>
          <a:p>
            <a:pPr marL="0" indent="0" defTabSz="685800">
              <a:lnSpc>
                <a:spcPct val="80000"/>
              </a:lnSpc>
              <a:buNone/>
            </a:pPr>
            <a:r>
              <a:rPr lang="zh-CN" altLang="en-US" sz="1400" u="sng">
                <a:solidFill>
                  <a:srgbClr val="00B0F0"/>
                </a:solidFill>
                <a:latin typeface="微软雅黑" panose="020B0503020204020204" charset="-122"/>
                <a:ea typeface="微软雅黑" panose="020B0503020204020204" charset="-122"/>
                <a:sym typeface="黑体" panose="02010609060101010101" charset="-122"/>
              </a:rPr>
              <a:t>特种变压器</a:t>
            </a:r>
            <a:r>
              <a:rPr lang="zh-CN" altLang="en-US" sz="1400">
                <a:solidFill>
                  <a:srgbClr val="00B0F0"/>
                </a:solidFill>
                <a:latin typeface="微软雅黑" panose="020B0503020204020204" charset="-122"/>
                <a:ea typeface="微软雅黑" panose="020B0503020204020204" charset="-122"/>
                <a:sym typeface="黑体" panose="02010609060101010101" charset="-122"/>
              </a:rPr>
              <a:t>：</a:t>
            </a:r>
            <a:r>
              <a:rPr lang="zh-CN" altLang="en-US" sz="1400">
                <a:solidFill>
                  <a:srgbClr val="595959"/>
                </a:solidFill>
                <a:latin typeface="微软雅黑" panose="020B0503020204020204" charset="-122"/>
                <a:ea typeface="微软雅黑" panose="020B0503020204020204" charset="-122"/>
                <a:sym typeface="黑体" panose="02010609060101010101" charset="-122"/>
              </a:rPr>
              <a:t>整流变(35KV)、电炉变（110KV）、矿用变、电抗器等</a:t>
            </a:r>
            <a:endParaRPr lang="zh-CN" altLang="en-US" sz="1400">
              <a:solidFill>
                <a:srgbClr val="595959"/>
              </a:solidFill>
              <a:latin typeface="微软雅黑" panose="020B0503020204020204" charset="-122"/>
              <a:ea typeface="微软雅黑" panose="020B0503020204020204" charset="-122"/>
              <a:sym typeface="黑体" panose="02010609060101010101" charset="-122"/>
            </a:endParaRPr>
          </a:p>
          <a:p>
            <a:pPr marL="0" indent="0" defTabSz="685800">
              <a:lnSpc>
                <a:spcPct val="80000"/>
              </a:lnSpc>
              <a:buNone/>
            </a:pPr>
            <a:r>
              <a:rPr lang="zh-CN" altLang="en-US" sz="1400" u="sng">
                <a:solidFill>
                  <a:srgbClr val="00B0F0"/>
                </a:solidFill>
                <a:latin typeface="微软雅黑" panose="020B0503020204020204" charset="-122"/>
                <a:ea typeface="微软雅黑" panose="020B0503020204020204" charset="-122"/>
                <a:sym typeface="黑体" panose="02010609060101010101" charset="-122"/>
              </a:rPr>
              <a:t>箱变：</a:t>
            </a:r>
            <a:r>
              <a:rPr lang="zh-CN" altLang="en-US" sz="1400">
                <a:solidFill>
                  <a:srgbClr val="595959"/>
                </a:solidFill>
                <a:latin typeface="微软雅黑" panose="020B0503020204020204" charset="-122"/>
                <a:ea typeface="微软雅黑" panose="020B0503020204020204" charset="-122"/>
                <a:sym typeface="黑体" panose="02010609060101010101" charset="-122"/>
              </a:rPr>
              <a:t>（美式、欧式）</a:t>
            </a:r>
            <a:endParaRPr lang="zh-CN" altLang="en-US" b="1">
              <a:solidFill>
                <a:srgbClr val="595959"/>
              </a:solidFill>
              <a:latin typeface="微软雅黑" panose="020B0503020204020204" charset="-122"/>
              <a:ea typeface="微软雅黑" panose="020B0503020204020204" charset="-122"/>
              <a:sym typeface="黑体" panose="02010609060101010101" charset="-122"/>
            </a:endParaRPr>
          </a:p>
          <a:p>
            <a:pPr marL="0" indent="0">
              <a:buNone/>
            </a:pPr>
            <a:endParaRPr lang="zh-CN" altLang="en-US" b="1">
              <a:solidFill>
                <a:srgbClr val="595959"/>
              </a:solidFill>
              <a:latin typeface="微软雅黑" panose="020B0503020204020204" charset="-122"/>
              <a:ea typeface="微软雅黑" panose="020B0503020204020204" charset="-122"/>
              <a:sym typeface="+mn-ea"/>
            </a:endParaRPr>
          </a:p>
          <a:p>
            <a:pPr marL="0" indent="0">
              <a:buNone/>
            </a:pPr>
            <a:endParaRPr lang="zh-CN" altLang="en-US" b="1">
              <a:solidFill>
                <a:srgbClr val="595959"/>
              </a:solidFill>
              <a:latin typeface="微软雅黑" panose="020B0503020204020204" charset="-122"/>
              <a:ea typeface="微软雅黑" panose="020B0503020204020204" charset="-122"/>
              <a:sym typeface="+mn-ea"/>
            </a:endParaRPr>
          </a:p>
          <a:p>
            <a:pPr marL="0" indent="0">
              <a:buNone/>
            </a:pPr>
            <a:endParaRPr lang="zh-CN" altLang="en-US" b="1">
              <a:solidFill>
                <a:srgbClr val="595959"/>
              </a:solidFill>
              <a:latin typeface="微软雅黑" panose="020B0503020204020204" charset="-122"/>
              <a:ea typeface="微软雅黑" panose="020B0503020204020204" charset="-122"/>
              <a:sym typeface="+mn-ea"/>
            </a:endParaRPr>
          </a:p>
          <a:p>
            <a:pPr marL="0" indent="0">
              <a:buSzPct val="80000"/>
              <a:buFont typeface="Wingdings" panose="05000000000000000000" charset="0"/>
              <a:buChar char="l"/>
            </a:pPr>
            <a:r>
              <a:rPr lang="en-US" altLang="zh-CN" b="1">
                <a:solidFill>
                  <a:srgbClr val="595959"/>
                </a:solidFill>
                <a:latin typeface="微软雅黑" panose="020B0503020204020204" charset="-122"/>
                <a:ea typeface="微软雅黑" panose="020B0503020204020204" charset="-122"/>
                <a:sym typeface="+mn-ea"/>
              </a:rPr>
              <a:t> </a:t>
            </a:r>
            <a:r>
              <a:rPr lang="zh-CN" altLang="en-US" b="1">
                <a:solidFill>
                  <a:srgbClr val="595959"/>
                </a:solidFill>
                <a:latin typeface="微软雅黑" panose="020B0503020204020204" charset="-122"/>
                <a:ea typeface="微软雅黑" panose="020B0503020204020204" charset="-122"/>
                <a:sym typeface="+mn-ea"/>
              </a:rPr>
              <a:t>按绕组形式分：</a:t>
            </a:r>
            <a:br>
              <a:rPr lang="zh-CN" altLang="en-US" b="1" dirty="0">
                <a:solidFill>
                  <a:schemeClr val="folHlink"/>
                </a:solidFill>
                <a:sym typeface="+mn-ea"/>
              </a:rPr>
            </a:br>
            <a:r>
              <a:rPr lang="zh-CN" altLang="en-US" sz="1400" u="sng">
                <a:solidFill>
                  <a:srgbClr val="00B0F0"/>
                </a:solidFill>
                <a:latin typeface="微软雅黑" panose="020B0503020204020204" charset="-122"/>
                <a:ea typeface="微软雅黑" panose="020B0503020204020204" charset="-122"/>
                <a:sym typeface="+mn-ea"/>
              </a:rPr>
              <a:t>双绕组变压器：</a:t>
            </a:r>
            <a:r>
              <a:rPr lang="zh-CN" altLang="en-US" sz="1400">
                <a:solidFill>
                  <a:srgbClr val="595959"/>
                </a:solidFill>
                <a:latin typeface="微软雅黑" panose="020B0503020204020204" charset="-122"/>
                <a:ea typeface="微软雅黑" panose="020B0503020204020204" charset="-122"/>
                <a:sym typeface="+mn-ea"/>
              </a:rPr>
              <a:t>用于连接电力系统中的两个电压等级。</a:t>
            </a:r>
            <a:br>
              <a:rPr lang="zh-CN" altLang="en-US" sz="1400">
                <a:solidFill>
                  <a:srgbClr val="595959"/>
                </a:solidFill>
                <a:latin typeface="微软雅黑" panose="020B0503020204020204" charset="-122"/>
                <a:ea typeface="微软雅黑" panose="020B0503020204020204" charset="-122"/>
                <a:sym typeface="+mn-ea"/>
              </a:rPr>
            </a:br>
            <a:r>
              <a:rPr lang="zh-CN" altLang="en-US" sz="1400" u="sng">
                <a:solidFill>
                  <a:srgbClr val="00B0F0"/>
                </a:solidFill>
                <a:latin typeface="微软雅黑" panose="020B0503020204020204" charset="-122"/>
                <a:ea typeface="微软雅黑" panose="020B0503020204020204" charset="-122"/>
                <a:sym typeface="+mn-ea"/>
              </a:rPr>
              <a:t>三绕组变压器：</a:t>
            </a:r>
            <a:r>
              <a:rPr lang="zh-CN" altLang="en-US" sz="1400">
                <a:solidFill>
                  <a:srgbClr val="595959"/>
                </a:solidFill>
                <a:latin typeface="微软雅黑" panose="020B0503020204020204" charset="-122"/>
                <a:ea typeface="微软雅黑" panose="020B0503020204020204" charset="-122"/>
                <a:sym typeface="+mn-ea"/>
              </a:rPr>
              <a:t>一般用于电力系统区域</a:t>
            </a:r>
            <a:r>
              <a:rPr lang="zh-CN" altLang="en-US" sz="1400">
                <a:solidFill>
                  <a:srgbClr val="595959"/>
                </a:solidFill>
                <a:latin typeface="微软雅黑" panose="020B0503020204020204" charset="-122"/>
                <a:ea typeface="微软雅黑" panose="020B0503020204020204" charset="-122"/>
                <a:sym typeface="+mn-ea"/>
                <a:hlinkClick r:id="rId1"/>
              </a:rPr>
              <a:t>变电站</a:t>
            </a:r>
            <a:r>
              <a:rPr lang="zh-CN" altLang="en-US" sz="1400">
                <a:solidFill>
                  <a:srgbClr val="595959"/>
                </a:solidFill>
                <a:latin typeface="微软雅黑" panose="020B0503020204020204" charset="-122"/>
                <a:ea typeface="微软雅黑" panose="020B0503020204020204" charset="-122"/>
                <a:sym typeface="+mn-ea"/>
              </a:rPr>
              <a:t>中，连接三个电压等级。</a:t>
            </a:r>
            <a:br>
              <a:rPr lang="zh-CN" altLang="en-US" sz="1400">
                <a:solidFill>
                  <a:srgbClr val="595959"/>
                </a:solidFill>
                <a:latin typeface="微软雅黑" panose="020B0503020204020204" charset="-122"/>
                <a:ea typeface="微软雅黑" panose="020B0503020204020204" charset="-122"/>
                <a:sym typeface="+mn-ea"/>
              </a:rPr>
            </a:br>
            <a:r>
              <a:rPr lang="zh-CN" altLang="en-US" sz="1400" u="sng">
                <a:solidFill>
                  <a:srgbClr val="00B0F0"/>
                </a:solidFill>
                <a:latin typeface="微软雅黑" panose="020B0503020204020204" charset="-122"/>
                <a:ea typeface="微软雅黑" panose="020B0503020204020204" charset="-122"/>
                <a:sym typeface="+mn-ea"/>
              </a:rPr>
              <a:t>自耦变电器：</a:t>
            </a:r>
            <a:r>
              <a:rPr lang="zh-CN" altLang="en-US" sz="1400">
                <a:solidFill>
                  <a:srgbClr val="595959"/>
                </a:solidFill>
                <a:latin typeface="微软雅黑" panose="020B0503020204020204" charset="-122"/>
                <a:ea typeface="微软雅黑" panose="020B0503020204020204" charset="-122"/>
                <a:sym typeface="+mn-ea"/>
              </a:rPr>
              <a:t>用于连接不同电压的电力系统。也可做为普通的升压或降后变压器用。</a:t>
            </a:r>
            <a:endParaRPr lang="zh-CN" altLang="en-US">
              <a:solidFill>
                <a:srgbClr val="595959"/>
              </a:solidFill>
              <a:latin typeface="微软雅黑" panose="020B0503020204020204" charset="-122"/>
              <a:ea typeface="微软雅黑" panose="020B0503020204020204" charset="-122"/>
            </a:endParaRPr>
          </a:p>
          <a:p>
            <a:pPr marL="0" indent="0">
              <a:buNone/>
            </a:pPr>
            <a:endParaRPr lang="zh-CN" altLang="en-US"/>
          </a:p>
          <a:p>
            <a:pPr marL="0" indent="0">
              <a:buNone/>
            </a:pPr>
            <a:endParaRPr lang="zh-CN" altLang="en-US"/>
          </a:p>
        </p:txBody>
      </p:sp>
      <p:sp>
        <p:nvSpPr>
          <p:cNvPr id="4" name="标题 3"/>
          <p:cNvSpPr>
            <a:spLocks noGrp="1"/>
          </p:cNvSpPr>
          <p:nvPr>
            <p:ph type="title"/>
            <p:custDataLst>
              <p:tags r:id="rId2"/>
            </p:custDataLst>
          </p:nvPr>
        </p:nvSpPr>
        <p:spPr>
          <a:xfrm>
            <a:off x="433775" y="608400"/>
            <a:ext cx="10969200" cy="705600"/>
          </a:xfrm>
        </p:spPr>
        <p:txBody>
          <a:bodyPr/>
          <a:p>
            <a:pPr marL="571500" indent="-571500">
              <a:buFont typeface="Wingdings" panose="05000000000000000000" charset="0"/>
              <a:buChar char="Ø"/>
            </a:pPr>
            <a:r>
              <a:rPr lang="en-US" altLang="zh-CN" b="0" spc="0" dirty="0">
                <a:solidFill>
                  <a:schemeClr val="accent4">
                    <a:lumMod val="50000"/>
                  </a:schemeClr>
                </a:solidFill>
                <a:latin typeface="Impact" panose="020B0806030902050204" pitchFamily="34" charset="0"/>
                <a:ea typeface="方正舒体" panose="02010601030101010101" pitchFamily="2" charset="-122"/>
                <a:cs typeface="+mn-cs"/>
                <a:sym typeface="+mn-ea"/>
              </a:rPr>
              <a:t>03</a:t>
            </a:r>
            <a:r>
              <a:rPr lang="en-US" altLang="zh-CN">
                <a:sym typeface="+mn-ea"/>
              </a:rPr>
              <a:t> </a:t>
            </a:r>
            <a:r>
              <a:rPr lang="zh-CN" altLang="en-US">
                <a:solidFill>
                  <a:schemeClr val="accent4">
                    <a:lumMod val="50000"/>
                  </a:schemeClr>
                </a:solidFill>
                <a:latin typeface="微软雅黑" panose="020B0503020204020204" charset="-122"/>
                <a:ea typeface="微软雅黑" panose="020B0503020204020204" charset="-122"/>
                <a:sym typeface="+mn-ea"/>
              </a:rPr>
              <a:t>变压器分类</a:t>
            </a:r>
            <a:endParaRPr lang="zh-CN" altLang="en-US"/>
          </a:p>
        </p:txBody>
      </p:sp>
      <p:pic>
        <p:nvPicPr>
          <p:cNvPr id="6" name="图片 5"/>
          <p:cNvPicPr>
            <a:picLocks noChangeAspect="1"/>
          </p:cNvPicPr>
          <p:nvPr>
            <p:custDataLst>
              <p:tags r:id="rId3"/>
            </p:custDataLst>
          </p:nvPr>
        </p:nvPicPr>
        <p:blipFill>
          <a:blip r:embed="rId4"/>
          <a:stretch>
            <a:fillRect/>
          </a:stretch>
        </p:blipFill>
        <p:spPr>
          <a:xfrm>
            <a:off x="8858250" y="2859405"/>
            <a:ext cx="2866390" cy="2407920"/>
          </a:xfrm>
          <a:prstGeom prst="rect">
            <a:avLst/>
          </a:prstGeom>
        </p:spPr>
      </p:pic>
      <p:pic>
        <p:nvPicPr>
          <p:cNvPr id="69637" name="图片 1" descr="Padmount_1200px"/>
          <p:cNvPicPr>
            <a:picLocks noChangeAspect="1"/>
          </p:cNvPicPr>
          <p:nvPr>
            <p:custDataLst>
              <p:tags r:id="rId5"/>
            </p:custDataLst>
          </p:nvPr>
        </p:nvPicPr>
        <p:blipFill>
          <a:blip r:embed="rId6"/>
          <a:stretch>
            <a:fillRect/>
          </a:stretch>
        </p:blipFill>
        <p:spPr>
          <a:xfrm>
            <a:off x="7127875" y="287655"/>
            <a:ext cx="2571750" cy="2571750"/>
          </a:xfrm>
          <a:prstGeom prst="rect">
            <a:avLst/>
          </a:prstGeom>
          <a:noFill/>
          <a:ln w="9525">
            <a:noFill/>
          </a:ln>
        </p:spPr>
      </p:pic>
    </p:spTree>
    <p:custDataLst>
      <p:tags r:id="rId7"/>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normAutofit/>
          </a:bodyPr>
          <a:p>
            <a:pPr defTabSz="685800">
              <a:lnSpc>
                <a:spcPct val="130000"/>
              </a:lnSpc>
            </a:pPr>
            <a:r>
              <a:rPr lang="zh-CN" altLang="en-US" b="1">
                <a:solidFill>
                  <a:srgbClr val="595959"/>
                </a:solidFill>
                <a:latin typeface="微软雅黑" panose="020B0503020204020204" charset="-122"/>
                <a:ea typeface="微软雅黑" panose="020B0503020204020204" charset="-122"/>
                <a:sym typeface="黑体" panose="02010609060101010101" charset="-122"/>
              </a:rPr>
              <a:t>按调压方式分类：</a:t>
            </a:r>
            <a:endParaRPr lang="zh-CN" altLang="en-US" b="1">
              <a:solidFill>
                <a:srgbClr val="595959"/>
              </a:solidFill>
              <a:latin typeface="微软雅黑" panose="020B0503020204020204" charset="-122"/>
              <a:ea typeface="微软雅黑" panose="020B0503020204020204" charset="-122"/>
              <a:sym typeface="黑体" panose="02010609060101010101" charset="-122"/>
            </a:endParaRPr>
          </a:p>
          <a:p>
            <a:pPr marL="0" indent="179705" defTabSz="685800">
              <a:lnSpc>
                <a:spcPct val="100000"/>
              </a:lnSpc>
              <a:buNone/>
            </a:pPr>
            <a:r>
              <a:rPr lang="zh-CN" altLang="en-US" sz="1400">
                <a:solidFill>
                  <a:srgbClr val="595959"/>
                </a:solidFill>
                <a:latin typeface="微软雅黑" panose="020B0503020204020204" charset="-122"/>
                <a:ea typeface="微软雅黑" panose="020B0503020204020204" charset="-122"/>
                <a:sym typeface="黑体" panose="02010609060101010101" charset="-122"/>
              </a:rPr>
              <a:t>无励磁调压变压器 NLTC</a:t>
            </a:r>
            <a:endParaRPr lang="zh-CN" altLang="en-US" sz="1400">
              <a:solidFill>
                <a:srgbClr val="595959"/>
              </a:solidFill>
              <a:latin typeface="微软雅黑" panose="020B0503020204020204" charset="-122"/>
              <a:ea typeface="微软雅黑" panose="020B0503020204020204" charset="-122"/>
              <a:sym typeface="黑体" panose="02010609060101010101" charset="-122"/>
            </a:endParaRPr>
          </a:p>
          <a:p>
            <a:pPr marL="0" indent="179705" defTabSz="685800">
              <a:lnSpc>
                <a:spcPct val="100000"/>
              </a:lnSpc>
              <a:buNone/>
            </a:pPr>
            <a:r>
              <a:rPr lang="zh-CN" altLang="en-US" sz="1400">
                <a:solidFill>
                  <a:srgbClr val="595959"/>
                </a:solidFill>
                <a:latin typeface="微软雅黑" panose="020B0503020204020204" charset="-122"/>
                <a:ea typeface="微软雅黑" panose="020B0503020204020204" charset="-122"/>
                <a:sym typeface="黑体" panose="02010609060101010101" charset="-122"/>
              </a:rPr>
              <a:t>有载调压变压器 OLTC</a:t>
            </a:r>
            <a:endParaRPr lang="zh-CN" altLang="en-US" sz="1400">
              <a:solidFill>
                <a:srgbClr val="595959"/>
              </a:solidFill>
              <a:latin typeface="微软雅黑" panose="020B0503020204020204" charset="-122"/>
              <a:ea typeface="微软雅黑" panose="020B0503020204020204" charset="-122"/>
              <a:sym typeface="黑体" panose="02010609060101010101" charset="-122"/>
            </a:endParaRPr>
          </a:p>
          <a:p>
            <a:pPr marL="0" indent="179705" defTabSz="685800">
              <a:lnSpc>
                <a:spcPct val="100000"/>
              </a:lnSpc>
              <a:buNone/>
            </a:pPr>
            <a:endParaRPr lang="zh-CN" altLang="en-US"/>
          </a:p>
          <a:p>
            <a:pPr defTabSz="685800">
              <a:lnSpc>
                <a:spcPct val="130000"/>
              </a:lnSpc>
            </a:pPr>
            <a:r>
              <a:rPr lang="zh-CN" altLang="en-US" b="1">
                <a:solidFill>
                  <a:srgbClr val="595959"/>
                </a:solidFill>
                <a:latin typeface="微软雅黑" panose="020B0503020204020204" charset="-122"/>
                <a:ea typeface="微软雅黑" panose="020B0503020204020204" charset="-122"/>
                <a:sym typeface="黑体" panose="02010609060101010101" charset="-122"/>
              </a:rPr>
              <a:t>按铁芯形式分类：</a:t>
            </a:r>
            <a:endParaRPr lang="zh-CN" altLang="en-US" b="1">
              <a:solidFill>
                <a:srgbClr val="595959"/>
              </a:solidFill>
              <a:latin typeface="微软雅黑" panose="020B0503020204020204" charset="-122"/>
              <a:ea typeface="微软雅黑" panose="020B0503020204020204" charset="-122"/>
              <a:sym typeface="黑体" panose="02010609060101010101" charset="-122"/>
            </a:endParaRPr>
          </a:p>
          <a:p>
            <a:pPr marL="0" indent="179705" defTabSz="685800">
              <a:lnSpc>
                <a:spcPct val="90000"/>
              </a:lnSpc>
              <a:buNone/>
            </a:pPr>
            <a:r>
              <a:rPr lang="zh-CN" altLang="en-US" sz="1400">
                <a:solidFill>
                  <a:srgbClr val="595959"/>
                </a:solidFill>
                <a:latin typeface="微软雅黑" panose="020B0503020204020204" charset="-122"/>
                <a:ea typeface="微软雅黑" panose="020B0503020204020204" charset="-122"/>
                <a:sym typeface="黑体" panose="02010609060101010101" charset="-122"/>
              </a:rPr>
              <a:t>芯式变压器 （线圈包铁芯）                   </a:t>
            </a:r>
            <a:endParaRPr lang="zh-CN" altLang="en-US" sz="1400">
              <a:solidFill>
                <a:srgbClr val="595959"/>
              </a:solidFill>
              <a:latin typeface="微软雅黑" panose="020B0503020204020204" charset="-122"/>
              <a:ea typeface="微软雅黑" panose="020B0503020204020204" charset="-122"/>
              <a:sym typeface="黑体" panose="02010609060101010101" charset="-122"/>
            </a:endParaRPr>
          </a:p>
          <a:p>
            <a:pPr marL="0" indent="179705" defTabSz="685800">
              <a:lnSpc>
                <a:spcPct val="90000"/>
              </a:lnSpc>
              <a:buNone/>
            </a:pPr>
            <a:r>
              <a:rPr lang="zh-CN" altLang="en-US" sz="1400">
                <a:solidFill>
                  <a:srgbClr val="595959"/>
                </a:solidFill>
                <a:latin typeface="微软雅黑" panose="020B0503020204020204" charset="-122"/>
                <a:ea typeface="微软雅黑" panose="020B0503020204020204" charset="-122"/>
                <a:sym typeface="黑体" panose="02010609060101010101" charset="-122"/>
              </a:rPr>
              <a:t>壳式变压器 （铁芯包线圈）                 </a:t>
            </a:r>
            <a:endParaRPr lang="zh-CN" altLang="en-US" sz="1400">
              <a:solidFill>
                <a:srgbClr val="595959"/>
              </a:solidFill>
              <a:latin typeface="微软雅黑" panose="020B0503020204020204" charset="-122"/>
              <a:ea typeface="微软雅黑" panose="020B0503020204020204" charset="-122"/>
              <a:sym typeface="黑体" panose="02010609060101010101" charset="-122"/>
            </a:endParaRPr>
          </a:p>
          <a:p>
            <a:pPr marL="0" indent="179705" defTabSz="685800">
              <a:lnSpc>
                <a:spcPct val="90000"/>
              </a:lnSpc>
              <a:buNone/>
            </a:pPr>
            <a:r>
              <a:rPr lang="zh-CN" altLang="en-US" sz="1400">
                <a:solidFill>
                  <a:srgbClr val="595959"/>
                </a:solidFill>
                <a:latin typeface="微软雅黑" panose="020B0503020204020204" charset="-122"/>
                <a:ea typeface="微软雅黑" panose="020B0503020204020204" charset="-122"/>
                <a:sym typeface="黑体" panose="02010609060101010101" charset="-122"/>
              </a:rPr>
              <a:t>非晶合金变压器</a:t>
            </a:r>
            <a:endParaRPr lang="zh-CN" altLang="en-US" sz="1400">
              <a:solidFill>
                <a:srgbClr val="595959"/>
              </a:solidFill>
              <a:latin typeface="微软雅黑" panose="020B0503020204020204" charset="-122"/>
              <a:ea typeface="微软雅黑" panose="020B0503020204020204" charset="-122"/>
              <a:sym typeface="黑体" panose="02010609060101010101" charset="-122"/>
            </a:endParaRPr>
          </a:p>
          <a:p>
            <a:pPr marL="0" indent="179705" defTabSz="685800">
              <a:lnSpc>
                <a:spcPct val="90000"/>
              </a:lnSpc>
              <a:buNone/>
            </a:pPr>
            <a:endParaRPr lang="zh-CN" altLang="en-US" sz="1400">
              <a:solidFill>
                <a:srgbClr val="595959"/>
              </a:solidFill>
              <a:latin typeface="微软雅黑" panose="020B0503020204020204" charset="-122"/>
              <a:ea typeface="微软雅黑" panose="020B0503020204020204" charset="-122"/>
              <a:sym typeface="黑体" panose="02010609060101010101" charset="-122"/>
            </a:endParaRPr>
          </a:p>
          <a:p>
            <a:pPr algn="l" defTabSz="685800">
              <a:lnSpc>
                <a:spcPct val="130000"/>
              </a:lnSpc>
              <a:buClrTx/>
              <a:buSzTx/>
            </a:pPr>
            <a:r>
              <a:rPr lang="zh-CN" altLang="en-US" sz="1800" b="1">
                <a:solidFill>
                  <a:srgbClr val="595959"/>
                </a:solidFill>
                <a:latin typeface="微软雅黑" panose="020B0503020204020204" charset="-122"/>
                <a:ea typeface="微软雅黑" panose="020B0503020204020204" charset="-122"/>
                <a:sym typeface="黑体" panose="02010609060101010101" charset="-122"/>
              </a:rPr>
              <a:t>按中性点绝缘水平分类：</a:t>
            </a:r>
            <a:endParaRPr lang="zh-CN" altLang="en-US" sz="1800" b="1">
              <a:solidFill>
                <a:srgbClr val="595959"/>
              </a:solidFill>
              <a:latin typeface="微软雅黑" panose="020B0503020204020204" charset="-122"/>
              <a:ea typeface="微软雅黑" panose="020B0503020204020204" charset="-122"/>
              <a:sym typeface="黑体" panose="02010609060101010101" charset="-122"/>
            </a:endParaRPr>
          </a:p>
          <a:p>
            <a:pPr marL="0" indent="179705" defTabSz="685800">
              <a:lnSpc>
                <a:spcPct val="100000"/>
              </a:lnSpc>
              <a:buNone/>
            </a:pPr>
            <a:r>
              <a:rPr lang="zh-CN" altLang="en-US" sz="1400">
                <a:solidFill>
                  <a:srgbClr val="595959"/>
                </a:solidFill>
                <a:latin typeface="微软雅黑" panose="020B0503020204020204" charset="-122"/>
                <a:ea typeface="微软雅黑" panose="020B0503020204020204" charset="-122"/>
                <a:sym typeface="黑体" panose="02010609060101010101" charset="-122"/>
              </a:rPr>
              <a:t>全绝缘变压器 （首端和尾端绝缘水平一致）</a:t>
            </a:r>
            <a:endParaRPr lang="zh-CN" altLang="en-US" sz="1400">
              <a:solidFill>
                <a:srgbClr val="595959"/>
              </a:solidFill>
              <a:latin typeface="微软雅黑" panose="020B0503020204020204" charset="-122"/>
              <a:ea typeface="微软雅黑" panose="020B0503020204020204" charset="-122"/>
              <a:sym typeface="黑体" panose="02010609060101010101" charset="-122"/>
            </a:endParaRPr>
          </a:p>
          <a:p>
            <a:pPr marL="0" indent="179705" defTabSz="685800">
              <a:lnSpc>
                <a:spcPct val="100000"/>
              </a:lnSpc>
              <a:buNone/>
            </a:pPr>
            <a:r>
              <a:rPr lang="zh-CN" altLang="en-US" sz="1400">
                <a:solidFill>
                  <a:srgbClr val="595959"/>
                </a:solidFill>
                <a:latin typeface="微软雅黑" panose="020B0503020204020204" charset="-122"/>
                <a:ea typeface="微软雅黑" panose="020B0503020204020204" charset="-122"/>
                <a:sym typeface="黑体" panose="02010609060101010101" charset="-122"/>
              </a:rPr>
              <a:t>半绝缘（分级绝缘）变压器 （靠近中性点部分绕组主绝缘的绝缘水平比端部低）</a:t>
            </a:r>
            <a:endParaRPr lang="zh-CN" altLang="en-US" sz="1400">
              <a:solidFill>
                <a:srgbClr val="595959"/>
              </a:solidFill>
              <a:latin typeface="微软雅黑" panose="020B0503020204020204" charset="-122"/>
              <a:ea typeface="微软雅黑" panose="020B0503020204020204" charset="-122"/>
              <a:sym typeface="黑体" panose="02010609060101010101" charset="-122"/>
            </a:endParaRPr>
          </a:p>
          <a:p>
            <a:pPr marL="0" indent="179705" defTabSz="685800">
              <a:lnSpc>
                <a:spcPct val="130000"/>
              </a:lnSpc>
              <a:buNone/>
            </a:pPr>
            <a:endParaRPr lang="zh-CN" altLang="en-US" sz="1400">
              <a:solidFill>
                <a:srgbClr val="595959"/>
              </a:solidFill>
              <a:latin typeface="微软雅黑" panose="020B0503020204020204" charset="-122"/>
              <a:ea typeface="微软雅黑" panose="020B0503020204020204" charset="-122"/>
              <a:sym typeface="黑体" panose="02010609060101010101" charset="-122"/>
            </a:endParaRPr>
          </a:p>
          <a:p>
            <a:endParaRPr lang="zh-CN" altLang="en-US" sz="1400"/>
          </a:p>
        </p:txBody>
      </p:sp>
      <p:sp>
        <p:nvSpPr>
          <p:cNvPr id="4" name="标题 3"/>
          <p:cNvSpPr>
            <a:spLocks noGrp="1"/>
          </p:cNvSpPr>
          <p:nvPr>
            <p:ph type="title"/>
            <p:custDataLst>
              <p:tags r:id="rId1"/>
            </p:custDataLst>
          </p:nvPr>
        </p:nvSpPr>
        <p:spPr>
          <a:xfrm>
            <a:off x="433775" y="608400"/>
            <a:ext cx="10969200" cy="705600"/>
          </a:xfrm>
        </p:spPr>
        <p:txBody>
          <a:bodyPr/>
          <a:p>
            <a:pPr marL="571500" indent="-571500">
              <a:buFont typeface="Wingdings" panose="05000000000000000000" charset="0"/>
              <a:buChar char="Ø"/>
            </a:pPr>
            <a:r>
              <a:rPr lang="en-US" altLang="zh-CN" b="0" spc="0" dirty="0">
                <a:solidFill>
                  <a:schemeClr val="accent4">
                    <a:lumMod val="50000"/>
                  </a:schemeClr>
                </a:solidFill>
                <a:latin typeface="Impact" panose="020B0806030902050204" pitchFamily="34" charset="0"/>
                <a:ea typeface="方正舒体" panose="02010601030101010101" pitchFamily="2" charset="-122"/>
                <a:cs typeface="+mn-cs"/>
                <a:sym typeface="+mn-ea"/>
              </a:rPr>
              <a:t>03</a:t>
            </a:r>
            <a:r>
              <a:rPr lang="en-US" altLang="zh-CN">
                <a:sym typeface="+mn-ea"/>
              </a:rPr>
              <a:t> </a:t>
            </a:r>
            <a:r>
              <a:rPr lang="zh-CN" altLang="en-US">
                <a:solidFill>
                  <a:schemeClr val="accent4">
                    <a:lumMod val="50000"/>
                  </a:schemeClr>
                </a:solidFill>
                <a:latin typeface="微软雅黑" panose="020B0503020204020204" charset="-122"/>
                <a:ea typeface="微软雅黑" panose="020B0503020204020204" charset="-122"/>
                <a:sym typeface="+mn-ea"/>
              </a:rPr>
              <a:t>变压器分类</a:t>
            </a:r>
            <a:endParaRPr lang="zh-CN" altLang="en-US"/>
          </a:p>
        </p:txBody>
      </p:sp>
    </p:spTree>
    <p:custDataLst>
      <p:tags r:id="rId2"/>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标题 4"/>
          <p:cNvSpPr>
            <a:spLocks noGrp="1"/>
          </p:cNvSpPr>
          <p:nvPr>
            <p:custDataLst>
              <p:tags r:id="rId1"/>
            </p:custDataLst>
          </p:nvPr>
        </p:nvSpPr>
        <p:spPr>
          <a:xfrm>
            <a:off x="4818380" y="2529205"/>
            <a:ext cx="3644900" cy="1073150"/>
          </a:xfrm>
          <a:prstGeom prst="rect">
            <a:avLst/>
          </a:prstGeom>
          <a:noFill/>
          <a:ln w="9525">
            <a:noFill/>
          </a:ln>
        </p:spPr>
        <p:txBody>
          <a:bodyPr lIns="90000" tIns="46800" rIns="90000" bIns="46800" anchor="b" anchorCtr="0">
            <a:noAutofit/>
          </a:bodyPr>
          <a:lstStyle>
            <a:lvl1pPr algn="l" defTabSz="685800" rtl="0" eaLnBrk="1" latinLnBrk="0" hangingPunct="1">
              <a:lnSpc>
                <a:spcPct val="120000"/>
              </a:lnSpc>
              <a:spcBef>
                <a:spcPct val="0"/>
              </a:spcBef>
              <a:buNone/>
              <a:defRPr sz="3600" kern="1200">
                <a:solidFill>
                  <a:srgbClr val="578B18"/>
                </a:solidFill>
                <a:latin typeface="+mj-lt"/>
                <a:ea typeface="+mj-ea"/>
                <a:cs typeface="+mj-cs"/>
              </a:defRPr>
            </a:lvl1pPr>
          </a:lstStyle>
          <a:p>
            <a:pPr lvl="0" algn="l">
              <a:buClrTx/>
              <a:buSzTx/>
              <a:buFontTx/>
            </a:pPr>
            <a:r>
              <a:rPr lang="zh-CN" altLang="en-US" sz="4800" b="1">
                <a:solidFill>
                  <a:schemeClr val="accent4">
                    <a:lumMod val="50000"/>
                  </a:schemeClr>
                </a:solidFill>
                <a:latin typeface="微软雅黑" panose="020B0503020204020204" charset="-122"/>
                <a:ea typeface="微软雅黑" panose="020B0503020204020204" charset="-122"/>
                <a:sym typeface="黑体" panose="02010609060101010101" charset="-122"/>
              </a:rPr>
              <a:t>冷却方式</a:t>
            </a:r>
            <a:endParaRPr lang="zh-CN" altLang="en-US" sz="4800" b="1">
              <a:solidFill>
                <a:schemeClr val="accent4">
                  <a:lumMod val="50000"/>
                </a:schemeClr>
              </a:solidFill>
              <a:latin typeface="微软雅黑" panose="020B0503020204020204" charset="-122"/>
              <a:ea typeface="微软雅黑" panose="020B0503020204020204" charset="-122"/>
              <a:sym typeface="黑体" panose="02010609060101010101" charset="-122"/>
            </a:endParaRPr>
          </a:p>
        </p:txBody>
      </p:sp>
      <p:sp>
        <p:nvSpPr>
          <p:cNvPr id="35" name="文本框 34"/>
          <p:cNvSpPr txBox="1"/>
          <p:nvPr>
            <p:custDataLst>
              <p:tags r:id="rId2"/>
            </p:custDataLst>
          </p:nvPr>
        </p:nvSpPr>
        <p:spPr>
          <a:xfrm>
            <a:off x="3045143" y="2355850"/>
            <a:ext cx="1773238" cy="1419225"/>
          </a:xfrm>
          <a:prstGeom prst="rect">
            <a:avLst/>
          </a:prstGeom>
          <a:noFill/>
        </p:spPr>
        <p:txBody>
          <a:bodyPr wrap="square" lIns="90000" tIns="46800" rIns="90000" bIns="46800" rtlCol="0">
            <a:normAutofit/>
          </a:bodyPr>
          <a:p>
            <a:pPr algn="ctr" defTabSz="685800">
              <a:defRPr/>
            </a:pPr>
            <a:r>
              <a:rPr lang="en-US" altLang="zh-CN" sz="8625" noProof="1" dirty="0">
                <a:solidFill>
                  <a:schemeClr val="accent4">
                    <a:lumMod val="50000"/>
                  </a:schemeClr>
                </a:solidFill>
                <a:latin typeface="Impact" panose="020B0806030902050204" pitchFamily="34" charset="0"/>
                <a:ea typeface="方正舒体" panose="02010601030101010101" pitchFamily="2" charset="-122"/>
                <a:cs typeface="+mn-cs"/>
                <a:sym typeface="+mn-ea"/>
              </a:rPr>
              <a:t>04</a:t>
            </a:r>
            <a:endParaRPr lang="en-US" altLang="zh-CN" sz="8625" noProof="1" dirty="0">
              <a:solidFill>
                <a:schemeClr val="accent4">
                  <a:lumMod val="50000"/>
                </a:schemeClr>
              </a:solidFill>
              <a:latin typeface="Impact" panose="020B0806030902050204" pitchFamily="34" charset="0"/>
              <a:ea typeface="方正舒体" panose="02010601030101010101" pitchFamily="2" charset="-122"/>
              <a:cs typeface="+mn-cs"/>
              <a:sym typeface="+mn-ea"/>
            </a:endParaRPr>
          </a:p>
        </p:txBody>
      </p:sp>
    </p:spTree>
    <p:custDataLst>
      <p:tags r:id="rId3"/>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endParaRPr lang="zh-CN" altLang="en-US" b="1">
              <a:solidFill>
                <a:srgbClr val="595959"/>
              </a:solidFill>
              <a:latin typeface="微软雅黑" panose="020B0503020204020204" charset="-122"/>
              <a:ea typeface="微软雅黑" panose="020B0503020204020204" charset="-122"/>
              <a:sym typeface="黑体" panose="02010609060101010101" charset="-122"/>
            </a:endParaRPr>
          </a:p>
          <a:p>
            <a:endParaRPr lang="zh-CN" altLang="en-US" b="1">
              <a:solidFill>
                <a:srgbClr val="595959"/>
              </a:solidFill>
              <a:latin typeface="微软雅黑" panose="020B0503020204020204" charset="-122"/>
              <a:ea typeface="微软雅黑" panose="020B0503020204020204" charset="-122"/>
              <a:sym typeface="黑体" panose="02010609060101010101" charset="-122"/>
            </a:endParaRPr>
          </a:p>
          <a:p>
            <a:endParaRPr lang="zh-CN" altLang="en-US" b="1">
              <a:solidFill>
                <a:srgbClr val="595959"/>
              </a:solidFill>
              <a:latin typeface="微软雅黑" panose="020B0503020204020204" charset="-122"/>
              <a:ea typeface="微软雅黑" panose="020B0503020204020204" charset="-122"/>
              <a:sym typeface="黑体" panose="02010609060101010101" charset="-122"/>
            </a:endParaRPr>
          </a:p>
          <a:p>
            <a:endParaRPr lang="zh-CN" altLang="en-US" b="1">
              <a:solidFill>
                <a:srgbClr val="595959"/>
              </a:solidFill>
              <a:latin typeface="微软雅黑" panose="020B0503020204020204" charset="-122"/>
              <a:ea typeface="微软雅黑" panose="020B0503020204020204" charset="-122"/>
              <a:sym typeface="黑体" panose="02010609060101010101" charset="-122"/>
            </a:endParaRPr>
          </a:p>
          <a:p>
            <a:endParaRPr lang="zh-CN" altLang="en-US" b="1">
              <a:solidFill>
                <a:srgbClr val="595959"/>
              </a:solidFill>
              <a:latin typeface="微软雅黑" panose="020B0503020204020204" charset="-122"/>
              <a:ea typeface="微软雅黑" panose="020B0503020204020204" charset="-122"/>
              <a:sym typeface="黑体" panose="02010609060101010101" charset="-122"/>
            </a:endParaRPr>
          </a:p>
          <a:p>
            <a:endParaRPr lang="zh-CN" altLang="en-US" b="1">
              <a:solidFill>
                <a:srgbClr val="595959"/>
              </a:solidFill>
              <a:latin typeface="微软雅黑" panose="020B0503020204020204" charset="-122"/>
              <a:ea typeface="微软雅黑" panose="020B0503020204020204" charset="-122"/>
              <a:sym typeface="黑体" panose="02010609060101010101" charset="-122"/>
            </a:endParaRPr>
          </a:p>
          <a:p>
            <a:endParaRPr lang="zh-CN" altLang="en-US" b="1">
              <a:solidFill>
                <a:srgbClr val="595959"/>
              </a:solidFill>
              <a:latin typeface="微软雅黑" panose="020B0503020204020204" charset="-122"/>
              <a:ea typeface="微软雅黑" panose="020B0503020204020204" charset="-122"/>
              <a:sym typeface="黑体" panose="02010609060101010101" charset="-122"/>
            </a:endParaRPr>
          </a:p>
          <a:p>
            <a:r>
              <a:rPr lang="zh-CN" altLang="en-US" b="1">
                <a:solidFill>
                  <a:srgbClr val="595959"/>
                </a:solidFill>
                <a:latin typeface="微软雅黑" panose="020B0503020204020204" charset="-122"/>
                <a:ea typeface="微软雅黑" panose="020B0503020204020204" charset="-122"/>
                <a:sym typeface="黑体" panose="02010609060101010101" charset="-122"/>
              </a:rPr>
              <a:t>变压器的冷却方式是由</a:t>
            </a:r>
            <a:r>
              <a:rPr lang="zh-CN" altLang="en-US" b="1" u="sng">
                <a:solidFill>
                  <a:srgbClr val="00B0F0"/>
                </a:solidFill>
                <a:latin typeface="微软雅黑" panose="020B0503020204020204" charset="-122"/>
                <a:ea typeface="微软雅黑" panose="020B0503020204020204" charset="-122"/>
                <a:sym typeface="黑体" panose="02010609060101010101" charset="-122"/>
              </a:rPr>
              <a:t>冷却介质</a:t>
            </a:r>
            <a:r>
              <a:rPr lang="zh-CN" altLang="en-US" b="1">
                <a:solidFill>
                  <a:srgbClr val="595959"/>
                </a:solidFill>
                <a:latin typeface="微软雅黑" panose="020B0503020204020204" charset="-122"/>
                <a:ea typeface="微软雅黑" panose="020B0503020204020204" charset="-122"/>
                <a:sym typeface="黑体" panose="02010609060101010101" charset="-122"/>
              </a:rPr>
              <a:t>和</a:t>
            </a:r>
            <a:r>
              <a:rPr lang="zh-CN" altLang="en-US" b="1" u="sng">
                <a:solidFill>
                  <a:srgbClr val="00B0F0"/>
                </a:solidFill>
                <a:latin typeface="微软雅黑" panose="020B0503020204020204" charset="-122"/>
                <a:ea typeface="微软雅黑" panose="020B0503020204020204" charset="-122"/>
                <a:sym typeface="黑体" panose="02010609060101010101" charset="-122"/>
              </a:rPr>
              <a:t>循环方式</a:t>
            </a:r>
            <a:r>
              <a:rPr lang="zh-CN" altLang="en-US" b="1">
                <a:solidFill>
                  <a:srgbClr val="595959"/>
                </a:solidFill>
                <a:latin typeface="微软雅黑" panose="020B0503020204020204" charset="-122"/>
                <a:ea typeface="微软雅黑" panose="020B0503020204020204" charset="-122"/>
                <a:sym typeface="黑体" panose="02010609060101010101" charset="-122"/>
              </a:rPr>
              <a:t>决定的；由于油浸变压器还分为油箱内部冷却方式和油箱外部冷却方式，因此油浸变压器的冷却方式是由</a:t>
            </a:r>
            <a:r>
              <a:rPr lang="zh-CN" altLang="en-US" b="1" u="sng">
                <a:solidFill>
                  <a:srgbClr val="00B0F0"/>
                </a:solidFill>
                <a:latin typeface="微软雅黑" panose="020B0503020204020204" charset="-122"/>
                <a:ea typeface="微软雅黑" panose="020B0503020204020204" charset="-122"/>
                <a:sym typeface="黑体" panose="02010609060101010101" charset="-122"/>
              </a:rPr>
              <a:t>四个字母</a:t>
            </a:r>
            <a:r>
              <a:rPr lang="zh-CN" altLang="en-US" b="1">
                <a:solidFill>
                  <a:srgbClr val="595959"/>
                </a:solidFill>
                <a:latin typeface="微软雅黑" panose="020B0503020204020204" charset="-122"/>
                <a:ea typeface="微软雅黑" panose="020B0503020204020204" charset="-122"/>
                <a:sym typeface="黑体" panose="02010609060101010101" charset="-122"/>
              </a:rPr>
              <a:t>代号表示的</a:t>
            </a:r>
            <a:endParaRPr lang="zh-CN" altLang="en-US" b="1">
              <a:solidFill>
                <a:srgbClr val="595959"/>
              </a:solidFill>
              <a:latin typeface="微软雅黑" panose="020B0503020204020204" charset="-122"/>
              <a:ea typeface="微软雅黑" panose="020B0503020204020204" charset="-122"/>
              <a:sym typeface="黑体" panose="02010609060101010101" charset="-122"/>
            </a:endParaRPr>
          </a:p>
          <a:p>
            <a:endParaRPr lang="zh-CN" altLang="en-US" b="1">
              <a:solidFill>
                <a:srgbClr val="595959"/>
              </a:solidFill>
              <a:latin typeface="微软雅黑" panose="020B0503020204020204" charset="-122"/>
              <a:ea typeface="微软雅黑" panose="020B0503020204020204" charset="-122"/>
              <a:sym typeface="黑体" panose="02010609060101010101" charset="-122"/>
            </a:endParaRPr>
          </a:p>
        </p:txBody>
      </p:sp>
      <p:sp>
        <p:nvSpPr>
          <p:cNvPr id="4" name="标题 3"/>
          <p:cNvSpPr>
            <a:spLocks noGrp="1"/>
          </p:cNvSpPr>
          <p:nvPr>
            <p:ph type="title"/>
            <p:custDataLst>
              <p:tags r:id="rId1"/>
            </p:custDataLst>
          </p:nvPr>
        </p:nvSpPr>
        <p:spPr>
          <a:xfrm>
            <a:off x="433775" y="608400"/>
            <a:ext cx="10969200" cy="705600"/>
          </a:xfrm>
        </p:spPr>
        <p:txBody>
          <a:bodyPr/>
          <a:p>
            <a:pPr marL="571500" indent="-571500">
              <a:buFont typeface="Wingdings" panose="05000000000000000000" charset="0"/>
              <a:buChar char="Ø"/>
            </a:pPr>
            <a:r>
              <a:rPr lang="en-US" altLang="zh-CN" b="0" spc="0" dirty="0">
                <a:solidFill>
                  <a:schemeClr val="accent4">
                    <a:lumMod val="50000"/>
                  </a:schemeClr>
                </a:solidFill>
                <a:latin typeface="Impact" panose="020B0806030902050204" pitchFamily="34" charset="0"/>
                <a:ea typeface="方正舒体" panose="02010601030101010101" pitchFamily="2" charset="-122"/>
                <a:cs typeface="+mn-cs"/>
                <a:sym typeface="+mn-ea"/>
              </a:rPr>
              <a:t>04</a:t>
            </a:r>
            <a:r>
              <a:rPr lang="en-US" altLang="zh-CN">
                <a:solidFill>
                  <a:schemeClr val="accent4">
                    <a:lumMod val="50000"/>
                  </a:schemeClr>
                </a:solidFill>
                <a:sym typeface="+mn-ea"/>
              </a:rPr>
              <a:t> </a:t>
            </a:r>
            <a:r>
              <a:rPr lang="zh-CN" altLang="en-US">
                <a:solidFill>
                  <a:schemeClr val="accent4">
                    <a:lumMod val="50000"/>
                  </a:schemeClr>
                </a:solidFill>
                <a:latin typeface="微软雅黑" panose="020B0503020204020204" charset="-122"/>
                <a:ea typeface="微软雅黑" panose="020B0503020204020204" charset="-122"/>
                <a:sym typeface="黑体" panose="02010609060101010101" charset="-122"/>
              </a:rPr>
              <a:t>冷却方式</a:t>
            </a:r>
            <a:endParaRPr lang="zh-CN" altLang="en-US">
              <a:solidFill>
                <a:schemeClr val="accent4">
                  <a:lumMod val="50000"/>
                </a:schemeClr>
              </a:solidFill>
              <a:latin typeface="微软雅黑" panose="020B0503020204020204" charset="-122"/>
              <a:ea typeface="微软雅黑" panose="020B0503020204020204" charset="-122"/>
              <a:sym typeface="黑体" panose="02010609060101010101" charset="-122"/>
            </a:endParaRPr>
          </a:p>
        </p:txBody>
      </p:sp>
      <p:sp>
        <p:nvSpPr>
          <p:cNvPr id="47" name="MH_SubTitle_1"/>
          <p:cNvSpPr/>
          <p:nvPr>
            <p:custDataLst>
              <p:tags r:id="rId2"/>
            </p:custDataLst>
          </p:nvPr>
        </p:nvSpPr>
        <p:spPr>
          <a:xfrm>
            <a:off x="3221038" y="2934653"/>
            <a:ext cx="1343025" cy="1166813"/>
          </a:xfrm>
          <a:prstGeom prst="hexagon">
            <a:avLst/>
          </a:prstGeom>
          <a:solidFill>
            <a:srgbClr val="BADA5C"/>
          </a:solidFill>
          <a:ln w="12700" cap="flat" cmpd="sng" algn="ctr">
            <a:noFill/>
            <a:prstDash val="solid"/>
            <a:miter lim="800000"/>
          </a:ln>
          <a:effectLst/>
        </p:spPr>
        <p:txBody>
          <a:bodyPr lIns="90000" tIns="46800" rIns="90000" bIns="46800" anchor="ctr">
            <a:normAutofit/>
          </a:bodyPr>
          <a:p>
            <a:pPr algn="ctr" defTabSz="685800" fontAlgn="base">
              <a:lnSpc>
                <a:spcPct val="120000"/>
              </a:lnSpc>
              <a:defRPr/>
            </a:pPr>
            <a:r>
              <a:rPr lang="zh-CN" altLang="en-US" sz="1350" strike="noStrike" kern="0" noProof="1" dirty="0">
                <a:solidFill>
                  <a:srgbClr val="FFFFFF"/>
                </a:solidFill>
                <a:latin typeface="Calibri" panose="020F0502020204030204" charset="0"/>
                <a:ea typeface="微软雅黑" panose="020B0503020204020204" charset="-122"/>
                <a:cs typeface="Arial" panose="020B0604020202020204" pitchFamily="34" charset="0"/>
              </a:rPr>
              <a:t>字母</a:t>
            </a:r>
            <a:r>
              <a:rPr lang="en-US" altLang="zh-CN" sz="1350" strike="noStrike" kern="0" noProof="1" dirty="0">
                <a:solidFill>
                  <a:srgbClr val="FFFFFF"/>
                </a:solidFill>
                <a:latin typeface="Calibri" panose="020F0502020204030204" charset="0"/>
                <a:ea typeface="微软雅黑" panose="020B0503020204020204" charset="-122"/>
                <a:cs typeface="Arial" panose="020B0604020202020204" pitchFamily="34" charset="0"/>
              </a:rPr>
              <a:t>1</a:t>
            </a:r>
            <a:endParaRPr lang="en-US" altLang="zh-CN" sz="1350" strike="noStrike" kern="0" noProof="1" dirty="0">
              <a:solidFill>
                <a:srgbClr val="FFFFFF"/>
              </a:solidFill>
              <a:latin typeface="Calibri" panose="020F0502020204030204" charset="0"/>
              <a:ea typeface="微软雅黑" panose="020B0503020204020204" charset="-122"/>
              <a:cs typeface="Arial" panose="020B0604020202020204" pitchFamily="34" charset="0"/>
            </a:endParaRPr>
          </a:p>
        </p:txBody>
      </p:sp>
      <p:sp>
        <p:nvSpPr>
          <p:cNvPr id="48" name="MH_SubTitle_2"/>
          <p:cNvSpPr/>
          <p:nvPr>
            <p:custDataLst>
              <p:tags r:id="rId3"/>
            </p:custDataLst>
          </p:nvPr>
        </p:nvSpPr>
        <p:spPr>
          <a:xfrm>
            <a:off x="4359275" y="2221865"/>
            <a:ext cx="1344613" cy="1166813"/>
          </a:xfrm>
          <a:prstGeom prst="hexagon">
            <a:avLst/>
          </a:prstGeom>
          <a:solidFill>
            <a:srgbClr val="578B18"/>
          </a:solidFill>
          <a:ln w="12700" cap="flat" cmpd="sng" algn="ctr">
            <a:noFill/>
            <a:prstDash val="solid"/>
            <a:miter lim="800000"/>
          </a:ln>
          <a:effectLst/>
        </p:spPr>
        <p:txBody>
          <a:bodyPr lIns="90000" tIns="46800" rIns="90000" bIns="46800" anchor="ctr">
            <a:normAutofit/>
          </a:bodyPr>
          <a:p>
            <a:pPr algn="ctr" defTabSz="685800" fontAlgn="base">
              <a:lnSpc>
                <a:spcPct val="120000"/>
              </a:lnSpc>
              <a:defRPr/>
            </a:pPr>
            <a:r>
              <a:rPr lang="zh-CN" altLang="en-US" sz="1350" strike="noStrike" kern="0" noProof="1" dirty="0">
                <a:solidFill>
                  <a:srgbClr val="FFFFFF"/>
                </a:solidFill>
                <a:latin typeface="Calibri" panose="020F0502020204030204" charset="0"/>
                <a:ea typeface="微软雅黑" panose="020B0503020204020204" charset="-122"/>
                <a:cs typeface="Arial" panose="020B0604020202020204" pitchFamily="34" charset="0"/>
                <a:sym typeface="+mn-ea"/>
              </a:rPr>
              <a:t>字母</a:t>
            </a:r>
            <a:r>
              <a:rPr lang="en-US" altLang="zh-CN" sz="1350" strike="noStrike" kern="0" noProof="1" dirty="0">
                <a:solidFill>
                  <a:srgbClr val="FFFFFF"/>
                </a:solidFill>
                <a:latin typeface="Calibri" panose="020F0502020204030204" charset="0"/>
                <a:ea typeface="微软雅黑" panose="020B0503020204020204" charset="-122"/>
                <a:cs typeface="Arial" panose="020B0604020202020204" pitchFamily="34" charset="0"/>
                <a:sym typeface="+mn-ea"/>
              </a:rPr>
              <a:t>2</a:t>
            </a:r>
            <a:endParaRPr lang="en-US" altLang="zh-CN" sz="1350" strike="noStrike" kern="0" noProof="1" dirty="0">
              <a:solidFill>
                <a:srgbClr val="FFFFFF"/>
              </a:solidFill>
              <a:latin typeface="Calibri" panose="020F0502020204030204" charset="0"/>
              <a:ea typeface="微软雅黑" panose="020B0503020204020204" charset="-122"/>
              <a:cs typeface="Arial" panose="020B0604020202020204" pitchFamily="34" charset="0"/>
              <a:sym typeface="+mn-ea"/>
            </a:endParaRPr>
          </a:p>
        </p:txBody>
      </p:sp>
      <p:sp>
        <p:nvSpPr>
          <p:cNvPr id="49" name="MH_SubTitle_3"/>
          <p:cNvSpPr/>
          <p:nvPr>
            <p:custDataLst>
              <p:tags r:id="rId4"/>
            </p:custDataLst>
          </p:nvPr>
        </p:nvSpPr>
        <p:spPr>
          <a:xfrm>
            <a:off x="5603875" y="2941003"/>
            <a:ext cx="1344613" cy="1166813"/>
          </a:xfrm>
          <a:prstGeom prst="hexagon">
            <a:avLst/>
          </a:prstGeom>
          <a:solidFill>
            <a:srgbClr val="BADA5C"/>
          </a:solidFill>
          <a:ln w="12700" cap="flat" cmpd="sng" algn="ctr">
            <a:noFill/>
            <a:prstDash val="solid"/>
            <a:miter lim="800000"/>
          </a:ln>
          <a:effectLst/>
        </p:spPr>
        <p:txBody>
          <a:bodyPr lIns="90000" tIns="46800" rIns="90000" bIns="46800" anchor="ctr">
            <a:normAutofit/>
          </a:bodyPr>
          <a:p>
            <a:pPr algn="ctr" defTabSz="685800" fontAlgn="base">
              <a:lnSpc>
                <a:spcPct val="120000"/>
              </a:lnSpc>
              <a:defRPr/>
            </a:pPr>
            <a:r>
              <a:rPr lang="zh-CN" altLang="en-US" sz="1350" strike="noStrike" kern="0" noProof="1" dirty="0">
                <a:solidFill>
                  <a:srgbClr val="FFFFFF"/>
                </a:solidFill>
                <a:latin typeface="Calibri" panose="020F0502020204030204" charset="0"/>
                <a:ea typeface="微软雅黑" panose="020B0503020204020204" charset="-122"/>
                <a:cs typeface="Arial" panose="020B0604020202020204" pitchFamily="34" charset="0"/>
                <a:sym typeface="+mn-ea"/>
              </a:rPr>
              <a:t>字母</a:t>
            </a:r>
            <a:r>
              <a:rPr lang="en-US" altLang="zh-CN" sz="1350" strike="noStrike" kern="0" noProof="1" dirty="0">
                <a:solidFill>
                  <a:srgbClr val="FFFFFF"/>
                </a:solidFill>
                <a:latin typeface="Calibri" panose="020F0502020204030204" charset="0"/>
                <a:ea typeface="微软雅黑" panose="020B0503020204020204" charset="-122"/>
                <a:cs typeface="Arial" panose="020B0604020202020204" pitchFamily="34" charset="0"/>
                <a:sym typeface="+mn-ea"/>
              </a:rPr>
              <a:t>3</a:t>
            </a:r>
            <a:endParaRPr lang="en-US" altLang="zh-CN" sz="1350" strike="noStrike" kern="0" noProof="1" dirty="0">
              <a:solidFill>
                <a:srgbClr val="FFFFFF"/>
              </a:solidFill>
              <a:latin typeface="Calibri" panose="020F0502020204030204" charset="0"/>
              <a:ea typeface="微软雅黑" panose="020B0503020204020204" charset="-122"/>
              <a:cs typeface="Arial" panose="020B0604020202020204" pitchFamily="34" charset="0"/>
              <a:sym typeface="+mn-ea"/>
            </a:endParaRPr>
          </a:p>
        </p:txBody>
      </p:sp>
      <p:sp>
        <p:nvSpPr>
          <p:cNvPr id="50" name="MH_SubTitle_4"/>
          <p:cNvSpPr/>
          <p:nvPr>
            <p:custDataLst>
              <p:tags r:id="rId5"/>
            </p:custDataLst>
          </p:nvPr>
        </p:nvSpPr>
        <p:spPr>
          <a:xfrm>
            <a:off x="6786563" y="2221865"/>
            <a:ext cx="1344613" cy="1166813"/>
          </a:xfrm>
          <a:prstGeom prst="hexagon">
            <a:avLst/>
          </a:prstGeom>
          <a:solidFill>
            <a:srgbClr val="578B18"/>
          </a:solidFill>
          <a:ln w="12700" cap="flat" cmpd="sng" algn="ctr">
            <a:noFill/>
            <a:prstDash val="solid"/>
            <a:miter lim="800000"/>
          </a:ln>
          <a:effectLst/>
        </p:spPr>
        <p:txBody>
          <a:bodyPr lIns="90000" tIns="46800" rIns="90000" bIns="46800" anchor="ctr">
            <a:normAutofit/>
          </a:bodyPr>
          <a:p>
            <a:pPr algn="ctr" defTabSz="685800" fontAlgn="base">
              <a:lnSpc>
                <a:spcPct val="120000"/>
              </a:lnSpc>
              <a:defRPr/>
            </a:pPr>
            <a:r>
              <a:rPr lang="zh-CN" altLang="en-US" sz="1350" strike="noStrike" kern="0" noProof="1" dirty="0">
                <a:solidFill>
                  <a:srgbClr val="FFFFFF"/>
                </a:solidFill>
                <a:latin typeface="Calibri" panose="020F0502020204030204" charset="0"/>
                <a:ea typeface="微软雅黑" panose="020B0503020204020204" charset="-122"/>
                <a:cs typeface="Arial" panose="020B0604020202020204" pitchFamily="34" charset="0"/>
                <a:sym typeface="+mn-ea"/>
              </a:rPr>
              <a:t>字母</a:t>
            </a:r>
            <a:r>
              <a:rPr lang="en-US" altLang="zh-CN" sz="1350" strike="noStrike" kern="0" noProof="1" dirty="0">
                <a:solidFill>
                  <a:srgbClr val="FFFFFF"/>
                </a:solidFill>
                <a:latin typeface="Calibri" panose="020F0502020204030204" charset="0"/>
                <a:ea typeface="微软雅黑" panose="020B0503020204020204" charset="-122"/>
                <a:cs typeface="Arial" panose="020B0604020202020204" pitchFamily="34" charset="0"/>
                <a:sym typeface="+mn-ea"/>
              </a:rPr>
              <a:t>4</a:t>
            </a:r>
            <a:endParaRPr lang="zh-CN" altLang="en-US" sz="1350" strike="noStrike" kern="0" noProof="1" dirty="0">
              <a:solidFill>
                <a:srgbClr val="FFFFFF"/>
              </a:solidFill>
              <a:latin typeface="Calibri" panose="020F0502020204030204" charset="0"/>
              <a:ea typeface="微软雅黑" panose="020B0503020204020204" charset="-122"/>
              <a:cs typeface="Arial" panose="020B0604020202020204" pitchFamily="34" charset="0"/>
            </a:endParaRPr>
          </a:p>
        </p:txBody>
      </p:sp>
      <p:sp>
        <p:nvSpPr>
          <p:cNvPr id="51" name="MH_Other_1"/>
          <p:cNvSpPr/>
          <p:nvPr>
            <p:custDataLst>
              <p:tags r:id="rId6"/>
            </p:custDataLst>
          </p:nvPr>
        </p:nvSpPr>
        <p:spPr>
          <a:xfrm>
            <a:off x="3662363" y="2588578"/>
            <a:ext cx="311150" cy="271463"/>
          </a:xfrm>
          <a:prstGeom prst="hexagon">
            <a:avLst/>
          </a:prstGeom>
          <a:solidFill>
            <a:srgbClr val="BADA5C"/>
          </a:solidFill>
          <a:ln w="12700" cap="flat" cmpd="sng" algn="ctr">
            <a:noFill/>
            <a:prstDash val="solid"/>
            <a:miter lim="800000"/>
          </a:ln>
          <a:effectLst/>
        </p:spPr>
        <p:txBody>
          <a:bodyPr lIns="90000" tIns="46800" rIns="90000" bIns="46800" anchor="ctr">
            <a:normAutofit fontScale="45000" lnSpcReduction="20000"/>
          </a:bodyPr>
          <a:p>
            <a:pPr algn="ctr" defTabSz="685800" fontAlgn="base">
              <a:defRPr/>
            </a:pPr>
            <a:endParaRPr lang="zh-CN" altLang="en-US" sz="1345" strike="noStrike" kern="0" noProof="1">
              <a:solidFill>
                <a:prstClr val="white"/>
              </a:solidFill>
              <a:latin typeface="Calibri" panose="020F0502020204030204" charset="0"/>
              <a:ea typeface="微软雅黑" panose="020B0503020204020204" charset="-122"/>
            </a:endParaRPr>
          </a:p>
        </p:txBody>
      </p:sp>
      <p:sp>
        <p:nvSpPr>
          <p:cNvPr id="52" name="MH_Other_2"/>
          <p:cNvSpPr/>
          <p:nvPr>
            <p:custDataLst>
              <p:tags r:id="rId7"/>
            </p:custDataLst>
          </p:nvPr>
        </p:nvSpPr>
        <p:spPr>
          <a:xfrm>
            <a:off x="4606925" y="3499803"/>
            <a:ext cx="312738" cy="269875"/>
          </a:xfrm>
          <a:prstGeom prst="hexagon">
            <a:avLst/>
          </a:prstGeom>
          <a:solidFill>
            <a:srgbClr val="BADA5C"/>
          </a:solidFill>
          <a:ln w="12700" cap="flat" cmpd="sng" algn="ctr">
            <a:noFill/>
            <a:prstDash val="solid"/>
            <a:miter lim="800000"/>
          </a:ln>
          <a:effectLst/>
        </p:spPr>
        <p:txBody>
          <a:bodyPr lIns="90000" tIns="46800" rIns="90000" bIns="46800" anchor="ctr">
            <a:normAutofit fontScale="45000" lnSpcReduction="20000"/>
          </a:bodyPr>
          <a:p>
            <a:pPr algn="ctr" defTabSz="685800" fontAlgn="base">
              <a:defRPr/>
            </a:pPr>
            <a:endParaRPr lang="zh-CN" altLang="en-US" sz="1345" strike="noStrike" kern="0" noProof="1">
              <a:solidFill>
                <a:prstClr val="white"/>
              </a:solidFill>
              <a:latin typeface="Calibri" panose="020F0502020204030204" charset="0"/>
              <a:ea typeface="微软雅黑" panose="020B0503020204020204" charset="-122"/>
            </a:endParaRPr>
          </a:p>
        </p:txBody>
      </p:sp>
      <p:sp>
        <p:nvSpPr>
          <p:cNvPr id="53" name="MH_Other_3"/>
          <p:cNvSpPr/>
          <p:nvPr>
            <p:custDataLst>
              <p:tags r:id="rId8"/>
            </p:custDataLst>
          </p:nvPr>
        </p:nvSpPr>
        <p:spPr>
          <a:xfrm>
            <a:off x="5281613" y="3553778"/>
            <a:ext cx="311150" cy="271463"/>
          </a:xfrm>
          <a:prstGeom prst="hexagon">
            <a:avLst/>
          </a:prstGeom>
          <a:solidFill>
            <a:srgbClr val="BADA5C"/>
          </a:solidFill>
          <a:ln w="12700" cap="flat" cmpd="sng" algn="ctr">
            <a:noFill/>
            <a:prstDash val="solid"/>
            <a:miter lim="800000"/>
          </a:ln>
          <a:effectLst/>
        </p:spPr>
        <p:txBody>
          <a:bodyPr lIns="90000" tIns="46800" rIns="90000" bIns="46800" anchor="ctr">
            <a:normAutofit fontScale="45000" lnSpcReduction="20000"/>
          </a:bodyPr>
          <a:p>
            <a:pPr algn="ctr" defTabSz="685800" fontAlgn="base">
              <a:defRPr/>
            </a:pPr>
            <a:endParaRPr lang="zh-CN" altLang="en-US" sz="1345" strike="noStrike" kern="0" noProof="1">
              <a:solidFill>
                <a:prstClr val="white"/>
              </a:solidFill>
              <a:latin typeface="Calibri" panose="020F0502020204030204" charset="0"/>
              <a:ea typeface="微软雅黑" panose="020B0503020204020204" charset="-122"/>
            </a:endParaRPr>
          </a:p>
        </p:txBody>
      </p:sp>
      <p:sp>
        <p:nvSpPr>
          <p:cNvPr id="54" name="MH_Other_4"/>
          <p:cNvSpPr/>
          <p:nvPr>
            <p:custDataLst>
              <p:tags r:id="rId9"/>
            </p:custDataLst>
          </p:nvPr>
        </p:nvSpPr>
        <p:spPr>
          <a:xfrm>
            <a:off x="6200775" y="2615565"/>
            <a:ext cx="200025" cy="174625"/>
          </a:xfrm>
          <a:prstGeom prst="hexagon">
            <a:avLst/>
          </a:prstGeom>
          <a:solidFill>
            <a:srgbClr val="578B18"/>
          </a:solidFill>
          <a:ln w="12700" cap="flat" cmpd="sng" algn="ctr">
            <a:noFill/>
            <a:prstDash val="solid"/>
            <a:miter lim="800000"/>
          </a:ln>
          <a:effectLst/>
        </p:spPr>
        <p:txBody>
          <a:bodyPr lIns="90000" tIns="46800" rIns="90000" bIns="46800" anchor="ctr">
            <a:normAutofit fontScale="25000" lnSpcReduction="20000"/>
          </a:bodyPr>
          <a:p>
            <a:pPr algn="ctr" defTabSz="685800" fontAlgn="base">
              <a:defRPr/>
            </a:pPr>
            <a:endParaRPr lang="zh-CN" altLang="en-US" sz="1345" strike="noStrike" kern="0" noProof="1">
              <a:solidFill>
                <a:prstClr val="white"/>
              </a:solidFill>
              <a:latin typeface="Calibri" panose="020F0502020204030204" charset="0"/>
              <a:ea typeface="微软雅黑" panose="020B0503020204020204" charset="-122"/>
            </a:endParaRPr>
          </a:p>
        </p:txBody>
      </p:sp>
      <p:sp>
        <p:nvSpPr>
          <p:cNvPr id="55" name="MH_Other_5"/>
          <p:cNvSpPr/>
          <p:nvPr>
            <p:custDataLst>
              <p:tags r:id="rId10"/>
            </p:custDataLst>
          </p:nvPr>
        </p:nvSpPr>
        <p:spPr>
          <a:xfrm>
            <a:off x="5749925" y="2512378"/>
            <a:ext cx="296863" cy="257175"/>
          </a:xfrm>
          <a:prstGeom prst="hexagon">
            <a:avLst/>
          </a:prstGeom>
          <a:solidFill>
            <a:srgbClr val="578B18"/>
          </a:solidFill>
          <a:ln w="12700" cap="flat" cmpd="sng" algn="ctr">
            <a:noFill/>
            <a:prstDash val="solid"/>
            <a:miter lim="800000"/>
          </a:ln>
          <a:effectLst/>
        </p:spPr>
        <p:txBody>
          <a:bodyPr lIns="90000" tIns="46800" rIns="90000" bIns="46800" anchor="ctr">
            <a:normAutofit fontScale="37500" lnSpcReduction="20000"/>
          </a:bodyPr>
          <a:p>
            <a:pPr algn="ctr" defTabSz="685800" fontAlgn="base">
              <a:defRPr/>
            </a:pPr>
            <a:endParaRPr lang="zh-CN" altLang="en-US" sz="1345" strike="noStrike" kern="0" noProof="1">
              <a:solidFill>
                <a:prstClr val="white"/>
              </a:solidFill>
              <a:latin typeface="Calibri" panose="020F0502020204030204" charset="0"/>
              <a:ea typeface="微软雅黑" panose="020B0503020204020204" charset="-122"/>
            </a:endParaRPr>
          </a:p>
        </p:txBody>
      </p:sp>
      <p:sp>
        <p:nvSpPr>
          <p:cNvPr id="56" name="MH_Other_6"/>
          <p:cNvSpPr/>
          <p:nvPr>
            <p:custDataLst>
              <p:tags r:id="rId11"/>
            </p:custDataLst>
          </p:nvPr>
        </p:nvSpPr>
        <p:spPr>
          <a:xfrm>
            <a:off x="4433888" y="2320290"/>
            <a:ext cx="122238" cy="104775"/>
          </a:xfrm>
          <a:prstGeom prst="hexagon">
            <a:avLst/>
          </a:prstGeom>
          <a:solidFill>
            <a:srgbClr val="BADA5C"/>
          </a:solidFill>
          <a:ln w="12700" cap="flat" cmpd="sng" algn="ctr">
            <a:noFill/>
            <a:prstDash val="solid"/>
            <a:miter lim="800000"/>
          </a:ln>
          <a:effectLst/>
        </p:spPr>
        <p:txBody>
          <a:bodyPr lIns="90000" tIns="46800" rIns="90000" bIns="46800" anchor="ctr">
            <a:normAutofit fontScale="25000" lnSpcReduction="20000"/>
          </a:bodyPr>
          <a:p>
            <a:pPr algn="ctr" defTabSz="685800" fontAlgn="base">
              <a:defRPr/>
            </a:pPr>
            <a:endParaRPr lang="zh-CN" altLang="en-US" sz="1345" strike="noStrike" kern="0" noProof="1">
              <a:solidFill>
                <a:prstClr val="white"/>
              </a:solidFill>
              <a:latin typeface="Calibri" panose="020F0502020204030204" charset="0"/>
              <a:ea typeface="微软雅黑" panose="020B0503020204020204" charset="-122"/>
            </a:endParaRPr>
          </a:p>
        </p:txBody>
      </p:sp>
      <p:sp>
        <p:nvSpPr>
          <p:cNvPr id="57" name="MH_Other_7"/>
          <p:cNvSpPr/>
          <p:nvPr>
            <p:custDataLst>
              <p:tags r:id="rId12"/>
            </p:custDataLst>
          </p:nvPr>
        </p:nvSpPr>
        <p:spPr>
          <a:xfrm>
            <a:off x="5164138" y="3496628"/>
            <a:ext cx="138113" cy="120650"/>
          </a:xfrm>
          <a:prstGeom prst="hexagon">
            <a:avLst/>
          </a:prstGeom>
          <a:solidFill>
            <a:srgbClr val="BADA5C"/>
          </a:solidFill>
          <a:ln w="12700" cap="flat" cmpd="sng" algn="ctr">
            <a:noFill/>
            <a:prstDash val="solid"/>
            <a:miter lim="800000"/>
          </a:ln>
          <a:effectLst/>
        </p:spPr>
        <p:txBody>
          <a:bodyPr lIns="90000" tIns="46800" rIns="90000" bIns="46800" anchor="ctr">
            <a:normAutofit fontScale="25000" lnSpcReduction="20000"/>
          </a:bodyPr>
          <a:p>
            <a:pPr algn="ctr" defTabSz="685800" fontAlgn="base">
              <a:defRPr/>
            </a:pPr>
            <a:endParaRPr lang="zh-CN" altLang="en-US" sz="1345" strike="noStrike" kern="0" noProof="1">
              <a:solidFill>
                <a:prstClr val="white"/>
              </a:solidFill>
              <a:latin typeface="Calibri" panose="020F0502020204030204" charset="0"/>
              <a:ea typeface="微软雅黑" panose="020B0503020204020204" charset="-122"/>
            </a:endParaRPr>
          </a:p>
        </p:txBody>
      </p:sp>
      <p:sp>
        <p:nvSpPr>
          <p:cNvPr id="58" name="MH_Other_8"/>
          <p:cNvSpPr/>
          <p:nvPr>
            <p:custDataLst>
              <p:tags r:id="rId13"/>
            </p:custDataLst>
          </p:nvPr>
        </p:nvSpPr>
        <p:spPr>
          <a:xfrm>
            <a:off x="6035675" y="2767965"/>
            <a:ext cx="144463" cy="125413"/>
          </a:xfrm>
          <a:prstGeom prst="hexagon">
            <a:avLst/>
          </a:prstGeom>
          <a:solidFill>
            <a:srgbClr val="578B18"/>
          </a:solidFill>
          <a:ln w="12700" cap="flat" cmpd="sng" algn="ctr">
            <a:noFill/>
            <a:prstDash val="solid"/>
            <a:miter lim="800000"/>
          </a:ln>
          <a:effectLst/>
        </p:spPr>
        <p:txBody>
          <a:bodyPr lIns="90000" tIns="46800" rIns="90000" bIns="46800" anchor="ctr">
            <a:normAutofit fontScale="25000" lnSpcReduction="20000"/>
          </a:bodyPr>
          <a:p>
            <a:pPr algn="ctr" defTabSz="685800" fontAlgn="base">
              <a:defRPr/>
            </a:pPr>
            <a:endParaRPr lang="zh-CN" altLang="en-US" sz="1345" strike="noStrike" kern="0" noProof="1">
              <a:solidFill>
                <a:prstClr val="white"/>
              </a:solidFill>
              <a:latin typeface="Calibri" panose="020F0502020204030204" charset="0"/>
              <a:ea typeface="微软雅黑" panose="020B0503020204020204" charset="-122"/>
            </a:endParaRPr>
          </a:p>
        </p:txBody>
      </p:sp>
      <p:sp>
        <p:nvSpPr>
          <p:cNvPr id="59" name="MH_Other_9"/>
          <p:cNvSpPr/>
          <p:nvPr>
            <p:custDataLst>
              <p:tags r:id="rId14"/>
            </p:custDataLst>
          </p:nvPr>
        </p:nvSpPr>
        <p:spPr>
          <a:xfrm>
            <a:off x="4224338" y="2442528"/>
            <a:ext cx="239713" cy="207963"/>
          </a:xfrm>
          <a:prstGeom prst="hexagon">
            <a:avLst/>
          </a:prstGeom>
          <a:solidFill>
            <a:srgbClr val="BADA5C"/>
          </a:solidFill>
          <a:ln w="12700" cap="flat" cmpd="sng" algn="ctr">
            <a:noFill/>
            <a:prstDash val="solid"/>
            <a:miter lim="800000"/>
          </a:ln>
          <a:effectLst/>
        </p:spPr>
        <p:txBody>
          <a:bodyPr lIns="90000" tIns="46800" rIns="90000" bIns="46800" anchor="ctr">
            <a:normAutofit fontScale="32500" lnSpcReduction="20000"/>
          </a:bodyPr>
          <a:p>
            <a:pPr algn="ctr" defTabSz="685800" fontAlgn="base">
              <a:defRPr/>
            </a:pPr>
            <a:endParaRPr lang="zh-CN" altLang="en-US" sz="1345" strike="noStrike" kern="0" noProof="1">
              <a:solidFill>
                <a:prstClr val="white"/>
              </a:solidFill>
              <a:latin typeface="Calibri" panose="020F0502020204030204" charset="0"/>
              <a:ea typeface="微软雅黑" panose="020B0503020204020204" charset="-122"/>
            </a:endParaRPr>
          </a:p>
        </p:txBody>
      </p:sp>
      <p:sp>
        <p:nvSpPr>
          <p:cNvPr id="60" name="MH_Other_10"/>
          <p:cNvSpPr/>
          <p:nvPr>
            <p:custDataLst>
              <p:tags r:id="rId15"/>
            </p:custDataLst>
          </p:nvPr>
        </p:nvSpPr>
        <p:spPr>
          <a:xfrm>
            <a:off x="6981825" y="3460115"/>
            <a:ext cx="296863" cy="258763"/>
          </a:xfrm>
          <a:prstGeom prst="hexagon">
            <a:avLst/>
          </a:prstGeom>
          <a:solidFill>
            <a:srgbClr val="578B18"/>
          </a:solidFill>
          <a:ln w="12700" cap="flat" cmpd="sng" algn="ctr">
            <a:noFill/>
            <a:prstDash val="solid"/>
            <a:miter lim="800000"/>
          </a:ln>
          <a:effectLst/>
        </p:spPr>
        <p:txBody>
          <a:bodyPr lIns="90000" tIns="46800" rIns="90000" bIns="46800" anchor="ctr">
            <a:normAutofit fontScale="37500" lnSpcReduction="20000"/>
          </a:bodyPr>
          <a:p>
            <a:pPr algn="ctr" defTabSz="685800" fontAlgn="base">
              <a:defRPr/>
            </a:pPr>
            <a:endParaRPr lang="zh-CN" altLang="en-US" sz="1345" strike="noStrike" kern="0" noProof="1">
              <a:solidFill>
                <a:prstClr val="white"/>
              </a:solidFill>
              <a:latin typeface="Calibri" panose="020F0502020204030204" charset="0"/>
              <a:ea typeface="微软雅黑" panose="020B0503020204020204" charset="-122"/>
            </a:endParaRPr>
          </a:p>
        </p:txBody>
      </p:sp>
      <p:sp>
        <p:nvSpPr>
          <p:cNvPr id="61" name="MH_Other_11"/>
          <p:cNvSpPr/>
          <p:nvPr>
            <p:custDataLst>
              <p:tags r:id="rId16"/>
            </p:custDataLst>
          </p:nvPr>
        </p:nvSpPr>
        <p:spPr>
          <a:xfrm>
            <a:off x="7346950" y="3431540"/>
            <a:ext cx="212725" cy="185738"/>
          </a:xfrm>
          <a:prstGeom prst="hexagon">
            <a:avLst/>
          </a:prstGeom>
          <a:solidFill>
            <a:srgbClr val="578B18"/>
          </a:solidFill>
          <a:ln w="12700" cap="flat" cmpd="sng" algn="ctr">
            <a:noFill/>
            <a:prstDash val="solid"/>
            <a:miter lim="800000"/>
          </a:ln>
          <a:effectLst/>
        </p:spPr>
        <p:txBody>
          <a:bodyPr lIns="90000" tIns="46800" rIns="90000" bIns="46800" anchor="ctr">
            <a:normAutofit fontScale="25000" lnSpcReduction="20000"/>
          </a:bodyPr>
          <a:p>
            <a:pPr algn="ctr" defTabSz="685800" fontAlgn="base">
              <a:defRPr/>
            </a:pPr>
            <a:endParaRPr lang="zh-CN" altLang="en-US" sz="1345" strike="noStrike" kern="0" noProof="1">
              <a:solidFill>
                <a:prstClr val="white"/>
              </a:solidFill>
              <a:latin typeface="Calibri" panose="020F0502020204030204" charset="0"/>
              <a:ea typeface="微软雅黑" panose="020B0503020204020204" charset="-122"/>
            </a:endParaRPr>
          </a:p>
        </p:txBody>
      </p:sp>
      <p:sp>
        <p:nvSpPr>
          <p:cNvPr id="62" name="MH_Other_12"/>
          <p:cNvSpPr/>
          <p:nvPr>
            <p:custDataLst>
              <p:tags r:id="rId17"/>
            </p:custDataLst>
          </p:nvPr>
        </p:nvSpPr>
        <p:spPr>
          <a:xfrm>
            <a:off x="7283450" y="3656965"/>
            <a:ext cx="142875" cy="123825"/>
          </a:xfrm>
          <a:prstGeom prst="hexagon">
            <a:avLst/>
          </a:prstGeom>
          <a:solidFill>
            <a:srgbClr val="578B18"/>
          </a:solidFill>
          <a:ln w="12700" cap="flat" cmpd="sng" algn="ctr">
            <a:noFill/>
            <a:prstDash val="solid"/>
            <a:miter lim="800000"/>
          </a:ln>
          <a:effectLst/>
        </p:spPr>
        <p:txBody>
          <a:bodyPr lIns="90000" tIns="46800" rIns="90000" bIns="46800" anchor="ctr">
            <a:normAutofit fontScale="25000" lnSpcReduction="20000"/>
          </a:bodyPr>
          <a:p>
            <a:pPr algn="ctr" defTabSz="685800" fontAlgn="base">
              <a:defRPr/>
            </a:pPr>
            <a:endParaRPr lang="zh-CN" altLang="en-US" sz="1345" strike="noStrike" kern="0" noProof="1">
              <a:solidFill>
                <a:prstClr val="white"/>
              </a:solidFill>
              <a:latin typeface="Calibri" panose="020F0502020204030204" charset="0"/>
              <a:ea typeface="微软雅黑" panose="020B0503020204020204" charset="-122"/>
            </a:endParaRPr>
          </a:p>
        </p:txBody>
      </p:sp>
      <p:sp>
        <p:nvSpPr>
          <p:cNvPr id="63" name="MH_Other_13"/>
          <p:cNvSpPr/>
          <p:nvPr>
            <p:custDataLst>
              <p:tags r:id="rId18"/>
            </p:custDataLst>
          </p:nvPr>
        </p:nvSpPr>
        <p:spPr>
          <a:xfrm>
            <a:off x="4019550" y="2625090"/>
            <a:ext cx="200025" cy="173038"/>
          </a:xfrm>
          <a:prstGeom prst="hexagon">
            <a:avLst/>
          </a:prstGeom>
          <a:solidFill>
            <a:srgbClr val="BADA5C"/>
          </a:solidFill>
          <a:ln w="12700" cap="flat" cmpd="sng" algn="ctr">
            <a:noFill/>
            <a:prstDash val="solid"/>
            <a:miter lim="800000"/>
          </a:ln>
          <a:effectLst/>
        </p:spPr>
        <p:txBody>
          <a:bodyPr lIns="90000" tIns="46800" rIns="90000" bIns="46800" anchor="ctr">
            <a:normAutofit fontScale="25000" lnSpcReduction="20000"/>
          </a:bodyPr>
          <a:p>
            <a:pPr algn="ctr" defTabSz="685800" fontAlgn="base">
              <a:defRPr/>
            </a:pPr>
            <a:endParaRPr lang="zh-CN" altLang="en-US" sz="1345" strike="noStrike" kern="0" noProof="1">
              <a:solidFill>
                <a:prstClr val="white"/>
              </a:solidFill>
              <a:latin typeface="Calibri" panose="020F0502020204030204" charset="0"/>
              <a:ea typeface="微软雅黑" panose="020B0503020204020204" charset="-122"/>
            </a:endParaRPr>
          </a:p>
        </p:txBody>
      </p:sp>
    </p:spTree>
    <p:custDataLst>
      <p:tags r:id="rId19"/>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11505" y="1468120"/>
            <a:ext cx="10968990" cy="4936490"/>
          </a:xfrm>
        </p:spPr>
        <p:txBody>
          <a:bodyPr>
            <a:normAutofit lnSpcReduction="10000"/>
          </a:bodyPr>
          <a:p>
            <a:pPr>
              <a:lnSpc>
                <a:spcPct val="80000"/>
              </a:lnSpc>
            </a:pPr>
            <a:r>
              <a:rPr lang="zh-CN" altLang="en-US" b="1">
                <a:solidFill>
                  <a:schemeClr val="tx1">
                    <a:lumMod val="65000"/>
                    <a:lumOff val="35000"/>
                  </a:schemeClr>
                </a:solidFill>
                <a:latin typeface="楷体" panose="02010609060101010101" charset="-122"/>
                <a:ea typeface="楷体" panose="02010609060101010101" charset="-122"/>
                <a:sym typeface="+mn-ea"/>
              </a:rPr>
              <a:t>第一个字母：与绕组接触的冷却介质。</a:t>
            </a:r>
            <a:r>
              <a:rPr lang="zh-CN" altLang="en-US">
                <a:solidFill>
                  <a:schemeClr val="tx1">
                    <a:lumMod val="65000"/>
                    <a:lumOff val="35000"/>
                  </a:schemeClr>
                </a:solidFill>
                <a:latin typeface="楷体" panose="02010609060101010101" charset="-122"/>
                <a:ea typeface="楷体" panose="02010609060101010101" charset="-122"/>
                <a:sym typeface="+mn-ea"/>
              </a:rPr>
              <a:t> </a:t>
            </a:r>
            <a:endParaRPr lang="zh-CN" altLang="en-US">
              <a:solidFill>
                <a:schemeClr val="tx1">
                  <a:lumMod val="65000"/>
                  <a:lumOff val="35000"/>
                </a:schemeClr>
              </a:solidFill>
              <a:latin typeface="楷体" panose="02010609060101010101" charset="-122"/>
              <a:ea typeface="楷体" panose="02010609060101010101" charset="-122"/>
            </a:endParaRPr>
          </a:p>
          <a:p>
            <a:pPr marL="0" indent="179705" algn="l">
              <a:lnSpc>
                <a:spcPct val="60000"/>
              </a:lnSpc>
              <a:buClrTx/>
              <a:buSzTx/>
              <a:buNone/>
            </a:pPr>
            <a:r>
              <a:rPr lang="zh-CN" altLang="en-US" sz="1400">
                <a:solidFill>
                  <a:srgbClr val="00B0F0"/>
                </a:solidFill>
                <a:latin typeface="楷体" panose="02010609060101010101" charset="-122"/>
                <a:ea typeface="楷体" panose="02010609060101010101" charset="-122"/>
                <a:sym typeface="+mn-ea"/>
              </a:rPr>
              <a:t>O</a:t>
            </a:r>
            <a:r>
              <a:rPr lang="zh-CN" altLang="en-US" sz="1400">
                <a:solidFill>
                  <a:schemeClr val="tx1">
                    <a:lumMod val="65000"/>
                    <a:lumOff val="35000"/>
                  </a:schemeClr>
                </a:solidFill>
                <a:latin typeface="楷体" panose="02010609060101010101" charset="-122"/>
                <a:ea typeface="楷体" panose="02010609060101010101" charset="-122"/>
                <a:sym typeface="+mn-ea"/>
              </a:rPr>
              <a:t>--------矿物油或燃点大于300℃的绝缘液体； </a:t>
            </a:r>
            <a:endParaRPr lang="zh-CN" altLang="en-US" sz="1400">
              <a:solidFill>
                <a:schemeClr val="tx1">
                  <a:lumMod val="65000"/>
                  <a:lumOff val="35000"/>
                </a:schemeClr>
              </a:solidFill>
              <a:latin typeface="楷体" panose="02010609060101010101" charset="-122"/>
              <a:ea typeface="楷体" panose="02010609060101010101" charset="-122"/>
              <a:sym typeface="+mn-ea"/>
            </a:endParaRPr>
          </a:p>
          <a:p>
            <a:pPr marL="0" indent="179705" algn="l">
              <a:lnSpc>
                <a:spcPct val="60000"/>
              </a:lnSpc>
              <a:buClrTx/>
              <a:buSzTx/>
              <a:buNone/>
            </a:pPr>
            <a:r>
              <a:rPr lang="zh-CN" altLang="en-US" sz="1400">
                <a:solidFill>
                  <a:srgbClr val="00B0F0"/>
                </a:solidFill>
                <a:latin typeface="楷体" panose="02010609060101010101" charset="-122"/>
                <a:ea typeface="楷体" panose="02010609060101010101" charset="-122"/>
                <a:sym typeface="+mn-ea"/>
              </a:rPr>
              <a:t>K</a:t>
            </a:r>
            <a:r>
              <a:rPr lang="zh-CN" altLang="en-US" sz="1400">
                <a:solidFill>
                  <a:schemeClr val="tx1">
                    <a:lumMod val="65000"/>
                    <a:lumOff val="35000"/>
                  </a:schemeClr>
                </a:solidFill>
                <a:latin typeface="楷体" panose="02010609060101010101" charset="-122"/>
                <a:ea typeface="楷体" panose="02010609060101010101" charset="-122"/>
                <a:sym typeface="+mn-ea"/>
              </a:rPr>
              <a:t>--------燃点大于300℃的绝缘液体； </a:t>
            </a:r>
            <a:endParaRPr lang="zh-CN" altLang="en-US" sz="1400">
              <a:solidFill>
                <a:schemeClr val="tx1">
                  <a:lumMod val="65000"/>
                  <a:lumOff val="35000"/>
                </a:schemeClr>
              </a:solidFill>
              <a:latin typeface="楷体" panose="02010609060101010101" charset="-122"/>
              <a:ea typeface="楷体" panose="02010609060101010101" charset="-122"/>
            </a:endParaRPr>
          </a:p>
          <a:p>
            <a:pPr marL="0" indent="179705">
              <a:lnSpc>
                <a:spcPct val="40000"/>
              </a:lnSpc>
              <a:buNone/>
            </a:pPr>
            <a:r>
              <a:rPr lang="zh-CN" altLang="en-US" sz="1400">
                <a:solidFill>
                  <a:srgbClr val="00B0F0"/>
                </a:solidFill>
                <a:latin typeface="楷体" panose="02010609060101010101" charset="-122"/>
                <a:ea typeface="楷体" panose="02010609060101010101" charset="-122"/>
                <a:sym typeface="+mn-ea"/>
              </a:rPr>
              <a:t>L</a:t>
            </a:r>
            <a:r>
              <a:rPr lang="zh-CN" altLang="en-US" sz="1600">
                <a:solidFill>
                  <a:schemeClr val="tx1">
                    <a:lumMod val="65000"/>
                    <a:lumOff val="35000"/>
                  </a:schemeClr>
                </a:solidFill>
                <a:latin typeface="楷体" panose="02010609060101010101" charset="-122"/>
                <a:ea typeface="楷体" panose="02010609060101010101" charset="-122"/>
                <a:sym typeface="+mn-ea"/>
              </a:rPr>
              <a:t>--------</a:t>
            </a:r>
            <a:r>
              <a:rPr lang="zh-CN" altLang="en-US" sz="1400">
                <a:solidFill>
                  <a:schemeClr val="tx1">
                    <a:lumMod val="65000"/>
                    <a:lumOff val="35000"/>
                  </a:schemeClr>
                </a:solidFill>
                <a:latin typeface="楷体" panose="02010609060101010101" charset="-122"/>
                <a:ea typeface="楷体" panose="02010609060101010101" charset="-122"/>
                <a:sym typeface="+mn-ea"/>
              </a:rPr>
              <a:t>燃点不可测出的绝缘液体；</a:t>
            </a:r>
            <a:endParaRPr lang="zh-CN" altLang="en-US" sz="1400">
              <a:solidFill>
                <a:schemeClr val="tx1">
                  <a:lumMod val="65000"/>
                  <a:lumOff val="35000"/>
                </a:schemeClr>
              </a:solidFill>
              <a:latin typeface="楷体" panose="02010609060101010101" charset="-122"/>
              <a:ea typeface="楷体" panose="02010609060101010101" charset="-122"/>
            </a:endParaRPr>
          </a:p>
          <a:p>
            <a:pPr>
              <a:lnSpc>
                <a:spcPct val="80000"/>
              </a:lnSpc>
            </a:pPr>
            <a:endParaRPr lang="zh-CN" altLang="en-US">
              <a:solidFill>
                <a:schemeClr val="tx1">
                  <a:lumMod val="65000"/>
                  <a:lumOff val="35000"/>
                </a:schemeClr>
              </a:solidFill>
              <a:latin typeface="楷体" panose="02010609060101010101" charset="-122"/>
              <a:ea typeface="楷体" panose="02010609060101010101" charset="-122"/>
            </a:endParaRPr>
          </a:p>
          <a:p>
            <a:pPr>
              <a:lnSpc>
                <a:spcPct val="80000"/>
              </a:lnSpc>
            </a:pPr>
            <a:r>
              <a:rPr lang="zh-CN" altLang="en-US" b="1">
                <a:solidFill>
                  <a:schemeClr val="tx1">
                    <a:lumMod val="65000"/>
                    <a:lumOff val="35000"/>
                  </a:schemeClr>
                </a:solidFill>
                <a:latin typeface="楷体" panose="02010609060101010101" charset="-122"/>
                <a:ea typeface="楷体" panose="02010609060101010101" charset="-122"/>
                <a:sym typeface="+mn-ea"/>
              </a:rPr>
              <a:t>第二个字母：内部冷却介质的循环方式。 </a:t>
            </a:r>
            <a:endParaRPr lang="zh-CN" altLang="en-US" b="1">
              <a:solidFill>
                <a:schemeClr val="tx1">
                  <a:lumMod val="65000"/>
                  <a:lumOff val="35000"/>
                </a:schemeClr>
              </a:solidFill>
              <a:latin typeface="楷体" panose="02010609060101010101" charset="-122"/>
              <a:ea typeface="楷体" panose="02010609060101010101" charset="-122"/>
            </a:endParaRPr>
          </a:p>
          <a:p>
            <a:pPr marL="0" indent="179705">
              <a:lnSpc>
                <a:spcPct val="60000"/>
              </a:lnSpc>
              <a:buNone/>
            </a:pPr>
            <a:r>
              <a:rPr lang="zh-CN" altLang="en-US" sz="1400">
                <a:solidFill>
                  <a:srgbClr val="00B0F0"/>
                </a:solidFill>
                <a:latin typeface="楷体" panose="02010609060101010101" charset="-122"/>
                <a:ea typeface="楷体" panose="02010609060101010101" charset="-122"/>
                <a:sym typeface="+mn-ea"/>
              </a:rPr>
              <a:t>N</a:t>
            </a:r>
            <a:r>
              <a:rPr lang="zh-CN" altLang="en-US" sz="1400">
                <a:solidFill>
                  <a:schemeClr val="tx1">
                    <a:lumMod val="65000"/>
                    <a:lumOff val="35000"/>
                  </a:schemeClr>
                </a:solidFill>
                <a:latin typeface="楷体" panose="02010609060101010101" charset="-122"/>
                <a:ea typeface="楷体" panose="02010609060101010101" charset="-122"/>
                <a:sym typeface="+mn-ea"/>
              </a:rPr>
              <a:t>--------流经冷却设备和绕组内部的油流是自然的热对流循环； </a:t>
            </a:r>
            <a:endParaRPr lang="zh-CN" altLang="en-US" sz="1400">
              <a:solidFill>
                <a:schemeClr val="tx1">
                  <a:lumMod val="65000"/>
                  <a:lumOff val="35000"/>
                </a:schemeClr>
              </a:solidFill>
              <a:latin typeface="楷体" panose="02010609060101010101" charset="-122"/>
              <a:ea typeface="楷体" panose="02010609060101010101" charset="-122"/>
            </a:endParaRPr>
          </a:p>
          <a:p>
            <a:pPr marL="0" indent="179705">
              <a:lnSpc>
                <a:spcPct val="60000"/>
              </a:lnSpc>
              <a:buNone/>
            </a:pPr>
            <a:r>
              <a:rPr lang="zh-CN" altLang="en-US" sz="1400">
                <a:solidFill>
                  <a:srgbClr val="00B0F0"/>
                </a:solidFill>
                <a:latin typeface="楷体" panose="02010609060101010101" charset="-122"/>
                <a:ea typeface="楷体" panose="02010609060101010101" charset="-122"/>
                <a:sym typeface="+mn-ea"/>
              </a:rPr>
              <a:t>F</a:t>
            </a:r>
            <a:r>
              <a:rPr lang="zh-CN" altLang="en-US" sz="1400">
                <a:solidFill>
                  <a:schemeClr val="tx1">
                    <a:lumMod val="65000"/>
                    <a:lumOff val="35000"/>
                  </a:schemeClr>
                </a:solidFill>
                <a:latin typeface="楷体" panose="02010609060101010101" charset="-122"/>
                <a:ea typeface="楷体" panose="02010609060101010101" charset="-122"/>
                <a:sym typeface="+mn-ea"/>
              </a:rPr>
              <a:t>--------冷却设备中的油流是强迫循环，流经绕组内部的油流是热对流循环； </a:t>
            </a:r>
            <a:endParaRPr lang="zh-CN" altLang="en-US" sz="1400">
              <a:solidFill>
                <a:schemeClr val="tx1">
                  <a:lumMod val="65000"/>
                  <a:lumOff val="35000"/>
                </a:schemeClr>
              </a:solidFill>
              <a:latin typeface="楷体" panose="02010609060101010101" charset="-122"/>
              <a:ea typeface="楷体" panose="02010609060101010101" charset="-122"/>
              <a:sym typeface="+mn-ea"/>
            </a:endParaRPr>
          </a:p>
          <a:p>
            <a:pPr marL="0" indent="179705">
              <a:lnSpc>
                <a:spcPct val="60000"/>
              </a:lnSpc>
              <a:buNone/>
            </a:pPr>
            <a:r>
              <a:rPr lang="zh-CN" altLang="en-US" sz="1400">
                <a:solidFill>
                  <a:srgbClr val="00B0F0"/>
                </a:solidFill>
                <a:latin typeface="楷体" panose="02010609060101010101" charset="-122"/>
                <a:ea typeface="楷体" panose="02010609060101010101" charset="-122"/>
                <a:sym typeface="+mn-ea"/>
              </a:rPr>
              <a:t>D</a:t>
            </a:r>
            <a:r>
              <a:rPr lang="zh-CN" altLang="en-US" sz="1400">
                <a:solidFill>
                  <a:schemeClr val="tx1">
                    <a:lumMod val="65000"/>
                    <a:lumOff val="35000"/>
                  </a:schemeClr>
                </a:solidFill>
                <a:latin typeface="楷体" panose="02010609060101010101" charset="-122"/>
                <a:ea typeface="楷体" panose="02010609060101010101" charset="-122"/>
                <a:sym typeface="+mn-ea"/>
              </a:rPr>
              <a:t>--------冷却设备中的油流是强迫循环，至少在主要绕组内的油流是强迫导向循环；</a:t>
            </a:r>
            <a:endParaRPr lang="zh-CN" altLang="en-US" sz="1400">
              <a:solidFill>
                <a:schemeClr val="tx1">
                  <a:lumMod val="65000"/>
                  <a:lumOff val="35000"/>
                </a:schemeClr>
              </a:solidFill>
              <a:latin typeface="楷体" panose="02010609060101010101" charset="-122"/>
              <a:ea typeface="楷体" panose="02010609060101010101" charset="-122"/>
            </a:endParaRPr>
          </a:p>
          <a:p>
            <a:pPr>
              <a:lnSpc>
                <a:spcPct val="80000"/>
              </a:lnSpc>
            </a:pPr>
            <a:endParaRPr lang="zh-CN" altLang="en-US" b="1">
              <a:solidFill>
                <a:schemeClr val="tx1">
                  <a:lumMod val="65000"/>
                  <a:lumOff val="35000"/>
                </a:schemeClr>
              </a:solidFill>
              <a:latin typeface="楷体" panose="02010609060101010101" charset="-122"/>
              <a:ea typeface="楷体" panose="02010609060101010101" charset="-122"/>
            </a:endParaRPr>
          </a:p>
          <a:p>
            <a:pPr>
              <a:lnSpc>
                <a:spcPct val="80000"/>
              </a:lnSpc>
            </a:pPr>
            <a:r>
              <a:rPr lang="zh-CN" altLang="en-US" b="1">
                <a:solidFill>
                  <a:schemeClr val="tx1">
                    <a:lumMod val="65000"/>
                    <a:lumOff val="35000"/>
                  </a:schemeClr>
                </a:solidFill>
                <a:latin typeface="楷体" panose="02010609060101010101" charset="-122"/>
                <a:ea typeface="楷体" panose="02010609060101010101" charset="-122"/>
                <a:sym typeface="+mn-ea"/>
              </a:rPr>
              <a:t>第三个字母：外部冷却介质。</a:t>
            </a:r>
            <a:r>
              <a:rPr lang="zh-CN" altLang="en-US">
                <a:solidFill>
                  <a:schemeClr val="tx1">
                    <a:lumMod val="65000"/>
                    <a:lumOff val="35000"/>
                  </a:schemeClr>
                </a:solidFill>
                <a:latin typeface="楷体" panose="02010609060101010101" charset="-122"/>
                <a:ea typeface="楷体" panose="02010609060101010101" charset="-122"/>
                <a:sym typeface="+mn-ea"/>
              </a:rPr>
              <a:t> </a:t>
            </a:r>
            <a:endParaRPr lang="zh-CN" altLang="en-US">
              <a:solidFill>
                <a:schemeClr val="tx1">
                  <a:lumMod val="65000"/>
                  <a:lumOff val="35000"/>
                </a:schemeClr>
              </a:solidFill>
              <a:latin typeface="楷体" panose="02010609060101010101" charset="-122"/>
              <a:ea typeface="楷体" panose="02010609060101010101" charset="-122"/>
            </a:endParaRPr>
          </a:p>
          <a:p>
            <a:pPr marL="0" indent="179705" algn="l">
              <a:lnSpc>
                <a:spcPct val="60000"/>
              </a:lnSpc>
              <a:buClrTx/>
              <a:buSzTx/>
              <a:buNone/>
            </a:pPr>
            <a:r>
              <a:rPr lang="zh-CN" altLang="en-US" sz="1400">
                <a:solidFill>
                  <a:srgbClr val="00B0F0"/>
                </a:solidFill>
                <a:latin typeface="楷体" panose="02010609060101010101" charset="-122"/>
                <a:ea typeface="楷体" panose="02010609060101010101" charset="-122"/>
                <a:sym typeface="+mn-ea"/>
              </a:rPr>
              <a:t>A</a:t>
            </a:r>
            <a:r>
              <a:rPr lang="zh-CN" altLang="en-US" sz="1400">
                <a:solidFill>
                  <a:schemeClr val="tx1">
                    <a:lumMod val="65000"/>
                    <a:lumOff val="35000"/>
                  </a:schemeClr>
                </a:solidFill>
                <a:latin typeface="楷体" panose="02010609060101010101" charset="-122"/>
                <a:ea typeface="楷体" panose="02010609060101010101" charset="-122"/>
                <a:sym typeface="+mn-ea"/>
              </a:rPr>
              <a:t>--------空气； </a:t>
            </a:r>
            <a:endParaRPr lang="zh-CN" altLang="en-US" sz="1400">
              <a:solidFill>
                <a:schemeClr val="tx1">
                  <a:lumMod val="65000"/>
                  <a:lumOff val="35000"/>
                </a:schemeClr>
              </a:solidFill>
              <a:latin typeface="楷体" panose="02010609060101010101" charset="-122"/>
              <a:ea typeface="楷体" panose="02010609060101010101" charset="-122"/>
            </a:endParaRPr>
          </a:p>
          <a:p>
            <a:pPr marL="0" indent="179705" algn="l">
              <a:lnSpc>
                <a:spcPct val="60000"/>
              </a:lnSpc>
              <a:buClrTx/>
              <a:buSzTx/>
              <a:buNone/>
            </a:pPr>
            <a:r>
              <a:rPr lang="zh-CN" altLang="en-US" sz="1400">
                <a:solidFill>
                  <a:srgbClr val="00B0F0"/>
                </a:solidFill>
                <a:latin typeface="楷体" panose="02010609060101010101" charset="-122"/>
                <a:ea typeface="楷体" panose="02010609060101010101" charset="-122"/>
                <a:sym typeface="+mn-ea"/>
              </a:rPr>
              <a:t>W</a:t>
            </a:r>
            <a:r>
              <a:rPr lang="zh-CN" altLang="en-US" sz="1400">
                <a:solidFill>
                  <a:schemeClr val="tx1">
                    <a:lumMod val="65000"/>
                    <a:lumOff val="35000"/>
                  </a:schemeClr>
                </a:solidFill>
                <a:latin typeface="楷体" panose="02010609060101010101" charset="-122"/>
                <a:ea typeface="楷体" panose="02010609060101010101" charset="-122"/>
                <a:sym typeface="+mn-ea"/>
              </a:rPr>
              <a:t>--------水；</a:t>
            </a:r>
            <a:r>
              <a:rPr lang="zh-CN" altLang="en-US">
                <a:solidFill>
                  <a:schemeClr val="tx1">
                    <a:lumMod val="65000"/>
                    <a:lumOff val="35000"/>
                  </a:schemeClr>
                </a:solidFill>
                <a:latin typeface="楷体" panose="02010609060101010101" charset="-122"/>
                <a:ea typeface="楷体" panose="02010609060101010101" charset="-122"/>
                <a:sym typeface="+mn-ea"/>
              </a:rPr>
              <a:t> </a:t>
            </a:r>
            <a:endParaRPr lang="zh-CN" altLang="en-US">
              <a:solidFill>
                <a:schemeClr val="tx1">
                  <a:lumMod val="65000"/>
                  <a:lumOff val="35000"/>
                </a:schemeClr>
              </a:solidFill>
              <a:latin typeface="楷体" panose="02010609060101010101" charset="-122"/>
              <a:ea typeface="楷体" panose="02010609060101010101" charset="-122"/>
            </a:endParaRPr>
          </a:p>
          <a:p>
            <a:pPr>
              <a:lnSpc>
                <a:spcPct val="80000"/>
              </a:lnSpc>
            </a:pPr>
            <a:endParaRPr lang="zh-CN" altLang="en-US" b="1">
              <a:solidFill>
                <a:schemeClr val="tx1">
                  <a:lumMod val="65000"/>
                  <a:lumOff val="35000"/>
                </a:schemeClr>
              </a:solidFill>
              <a:latin typeface="楷体" panose="02010609060101010101" charset="-122"/>
              <a:ea typeface="楷体" panose="02010609060101010101" charset="-122"/>
            </a:endParaRPr>
          </a:p>
          <a:p>
            <a:pPr>
              <a:lnSpc>
                <a:spcPct val="40000"/>
              </a:lnSpc>
            </a:pPr>
            <a:r>
              <a:rPr lang="zh-CN" altLang="en-US" b="1">
                <a:solidFill>
                  <a:schemeClr val="tx1">
                    <a:lumMod val="65000"/>
                    <a:lumOff val="35000"/>
                  </a:schemeClr>
                </a:solidFill>
                <a:latin typeface="楷体" panose="02010609060101010101" charset="-122"/>
                <a:ea typeface="楷体" panose="02010609060101010101" charset="-122"/>
                <a:sym typeface="+mn-ea"/>
              </a:rPr>
              <a:t>第四个字母：外部冷却介质的循环方式。</a:t>
            </a:r>
            <a:r>
              <a:rPr lang="zh-CN" altLang="en-US">
                <a:solidFill>
                  <a:schemeClr val="tx1">
                    <a:lumMod val="65000"/>
                    <a:lumOff val="35000"/>
                  </a:schemeClr>
                </a:solidFill>
                <a:latin typeface="楷体" panose="02010609060101010101" charset="-122"/>
                <a:ea typeface="楷体" panose="02010609060101010101" charset="-122"/>
                <a:sym typeface="+mn-ea"/>
              </a:rPr>
              <a:t> </a:t>
            </a:r>
            <a:endParaRPr lang="zh-CN" altLang="en-US">
              <a:solidFill>
                <a:schemeClr val="tx1">
                  <a:lumMod val="65000"/>
                  <a:lumOff val="35000"/>
                </a:schemeClr>
              </a:solidFill>
              <a:latin typeface="楷体" panose="02010609060101010101" charset="-122"/>
              <a:ea typeface="楷体" panose="02010609060101010101" charset="-122"/>
            </a:endParaRPr>
          </a:p>
          <a:p>
            <a:pPr marL="0" indent="179705" algn="l">
              <a:lnSpc>
                <a:spcPct val="60000"/>
              </a:lnSpc>
              <a:buClrTx/>
              <a:buSzTx/>
              <a:buNone/>
            </a:pPr>
            <a:r>
              <a:rPr lang="zh-CN" altLang="en-US" sz="1400">
                <a:solidFill>
                  <a:srgbClr val="00B0F0"/>
                </a:solidFill>
                <a:latin typeface="楷体" panose="02010609060101010101" charset="-122"/>
                <a:ea typeface="楷体" panose="02010609060101010101" charset="-122"/>
                <a:sym typeface="+mn-ea"/>
              </a:rPr>
              <a:t>N</a:t>
            </a:r>
            <a:r>
              <a:rPr lang="zh-CN" altLang="en-US" sz="1400">
                <a:solidFill>
                  <a:schemeClr val="tx1">
                    <a:lumMod val="65000"/>
                    <a:lumOff val="35000"/>
                  </a:schemeClr>
                </a:solidFill>
                <a:latin typeface="楷体" panose="02010609060101010101" charset="-122"/>
                <a:ea typeface="楷体" panose="02010609060101010101" charset="-122"/>
                <a:sym typeface="+mn-ea"/>
              </a:rPr>
              <a:t>--------自然对流； </a:t>
            </a:r>
            <a:endParaRPr lang="zh-CN" altLang="en-US" sz="1400">
              <a:solidFill>
                <a:schemeClr val="tx1">
                  <a:lumMod val="65000"/>
                  <a:lumOff val="35000"/>
                </a:schemeClr>
              </a:solidFill>
              <a:latin typeface="楷体" panose="02010609060101010101" charset="-122"/>
              <a:ea typeface="楷体" panose="02010609060101010101" charset="-122"/>
            </a:endParaRPr>
          </a:p>
          <a:p>
            <a:pPr marL="0" indent="179705" algn="l">
              <a:lnSpc>
                <a:spcPct val="60000"/>
              </a:lnSpc>
              <a:buClrTx/>
              <a:buSzTx/>
              <a:buNone/>
            </a:pPr>
            <a:r>
              <a:rPr lang="zh-CN" altLang="en-US" sz="1400">
                <a:solidFill>
                  <a:srgbClr val="00B0F0"/>
                </a:solidFill>
                <a:latin typeface="楷体" panose="02010609060101010101" charset="-122"/>
                <a:ea typeface="楷体" panose="02010609060101010101" charset="-122"/>
                <a:sym typeface="+mn-ea"/>
              </a:rPr>
              <a:t>F</a:t>
            </a:r>
            <a:r>
              <a:rPr lang="zh-CN" altLang="en-US" sz="1400">
                <a:solidFill>
                  <a:schemeClr val="tx1">
                    <a:lumMod val="65000"/>
                    <a:lumOff val="35000"/>
                  </a:schemeClr>
                </a:solidFill>
                <a:latin typeface="楷体" panose="02010609060101010101" charset="-122"/>
                <a:ea typeface="楷体" panose="02010609060101010101" charset="-122"/>
                <a:sym typeface="+mn-ea"/>
              </a:rPr>
              <a:t>--------强迫循环（风扇、泵等）</a:t>
            </a:r>
            <a:r>
              <a:rPr lang="zh-CN" altLang="en-US">
                <a:solidFill>
                  <a:schemeClr val="tx1">
                    <a:lumMod val="65000"/>
                    <a:lumOff val="35000"/>
                  </a:schemeClr>
                </a:solidFill>
                <a:latin typeface="楷体" panose="02010609060101010101" charset="-122"/>
                <a:ea typeface="楷体" panose="02010609060101010101" charset="-122"/>
                <a:sym typeface="+mn-ea"/>
              </a:rPr>
              <a:t>。</a:t>
            </a:r>
            <a:endParaRPr lang="zh-CN" altLang="en-US">
              <a:solidFill>
                <a:schemeClr val="tx1">
                  <a:lumMod val="65000"/>
                  <a:lumOff val="35000"/>
                </a:schemeClr>
              </a:solidFill>
              <a:latin typeface="楷体" panose="02010609060101010101" charset="-122"/>
              <a:ea typeface="楷体" panose="02010609060101010101" charset="-122"/>
            </a:endParaRPr>
          </a:p>
          <a:p>
            <a:pPr>
              <a:lnSpc>
                <a:spcPct val="80000"/>
              </a:lnSpc>
            </a:pPr>
            <a:endParaRPr lang="zh-CN" altLang="en-US">
              <a:solidFill>
                <a:schemeClr val="tx1">
                  <a:lumMod val="65000"/>
                  <a:lumOff val="35000"/>
                </a:schemeClr>
              </a:solidFill>
              <a:latin typeface="楷体" panose="02010609060101010101" charset="-122"/>
              <a:ea typeface="楷体" panose="02010609060101010101" charset="-122"/>
            </a:endParaRPr>
          </a:p>
        </p:txBody>
      </p:sp>
      <p:sp>
        <p:nvSpPr>
          <p:cNvPr id="5" name="标题 4"/>
          <p:cNvSpPr>
            <a:spLocks noGrp="1"/>
          </p:cNvSpPr>
          <p:nvPr>
            <p:ph type="title"/>
            <p:custDataLst>
              <p:tags r:id="rId1"/>
            </p:custDataLst>
          </p:nvPr>
        </p:nvSpPr>
        <p:spPr>
          <a:xfrm>
            <a:off x="433775" y="608400"/>
            <a:ext cx="10969200" cy="705600"/>
          </a:xfrm>
        </p:spPr>
        <p:txBody>
          <a:bodyPr/>
          <a:p>
            <a:pPr marL="571500" indent="-571500">
              <a:buFont typeface="Wingdings" panose="05000000000000000000" charset="0"/>
              <a:buChar char="Ø"/>
            </a:pPr>
            <a:r>
              <a:rPr lang="en-US" altLang="zh-CN" b="0" spc="0" dirty="0">
                <a:solidFill>
                  <a:schemeClr val="accent4">
                    <a:lumMod val="50000"/>
                  </a:schemeClr>
                </a:solidFill>
                <a:latin typeface="Impact" panose="020B0806030902050204" pitchFamily="34" charset="0"/>
                <a:ea typeface="方正舒体" panose="02010601030101010101" pitchFamily="2" charset="-122"/>
                <a:cs typeface="+mn-cs"/>
                <a:sym typeface="+mn-ea"/>
              </a:rPr>
              <a:t>04</a:t>
            </a:r>
            <a:r>
              <a:rPr lang="en-US" altLang="zh-CN">
                <a:solidFill>
                  <a:schemeClr val="accent4">
                    <a:lumMod val="50000"/>
                  </a:schemeClr>
                </a:solidFill>
                <a:sym typeface="+mn-ea"/>
              </a:rPr>
              <a:t> </a:t>
            </a:r>
            <a:r>
              <a:rPr lang="zh-CN" altLang="en-US">
                <a:solidFill>
                  <a:schemeClr val="accent4">
                    <a:lumMod val="50000"/>
                  </a:schemeClr>
                </a:solidFill>
                <a:latin typeface="微软雅黑" panose="020B0503020204020204" charset="-122"/>
                <a:ea typeface="微软雅黑" panose="020B0503020204020204" charset="-122"/>
                <a:sym typeface="黑体" panose="02010609060101010101" charset="-122"/>
              </a:rPr>
              <a:t>冷却方式</a:t>
            </a:r>
            <a:endParaRPr lang="zh-CN" altLang="en-US">
              <a:solidFill>
                <a:schemeClr val="accent4">
                  <a:lumMod val="50000"/>
                </a:schemeClr>
              </a:solidFill>
              <a:latin typeface="微软雅黑" panose="020B0503020204020204" charset="-122"/>
              <a:ea typeface="微软雅黑" panose="020B0503020204020204" charset="-122"/>
              <a:sym typeface="黑体" panose="02010609060101010101" charset="-122"/>
            </a:endParaRPr>
          </a:p>
        </p:txBody>
      </p:sp>
    </p:spTree>
    <p:custDataLst>
      <p:tags r:id="rId2"/>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marL="571500" indent="-571500">
              <a:buFont typeface="Wingdings" panose="05000000000000000000" charset="0"/>
              <a:buChar char="Ø"/>
            </a:pPr>
            <a:r>
              <a:rPr lang="zh-CN" altLang="en-US" dirty="0">
                <a:solidFill>
                  <a:schemeClr val="accent4">
                    <a:lumMod val="50000"/>
                  </a:schemeClr>
                </a:solidFill>
                <a:latin typeface="楷体" panose="02010609060101010101" charset="-122"/>
                <a:ea typeface="楷体" panose="02010609060101010101" charset="-122"/>
                <a:sym typeface="+mn-ea"/>
              </a:rPr>
              <a:t>油变主要冷却装置</a:t>
            </a:r>
            <a:endParaRPr lang="zh-CN" altLang="en-US" dirty="0">
              <a:solidFill>
                <a:schemeClr val="accent4">
                  <a:lumMod val="50000"/>
                </a:schemeClr>
              </a:solidFill>
              <a:latin typeface="楷体" panose="02010609060101010101" charset="-122"/>
              <a:ea typeface="楷体" panose="02010609060101010101" charset="-122"/>
              <a:sym typeface="+mn-ea"/>
            </a:endParaRPr>
          </a:p>
        </p:txBody>
      </p:sp>
      <p:pic>
        <p:nvPicPr>
          <p:cNvPr id="21" name="Picture 1" descr="C:\Users\Administrator\AppData\Roaming\Tencent\Users\63211226\QQ\WinTemp\RichOle\`Q3NM7PE$65VW16M[]VP~F0.png"/>
          <p:cNvPicPr>
            <a:picLocks noChangeAspect="1" noChangeArrowheads="1"/>
          </p:cNvPicPr>
          <p:nvPr>
            <p:custDataLst>
              <p:tags r:id="rId1"/>
            </p:custDataLst>
          </p:nvPr>
        </p:nvPicPr>
        <p:blipFill>
          <a:blip r:embed="rId2" cstate="print"/>
          <a:srcRect/>
          <a:stretch>
            <a:fillRect/>
          </a:stretch>
        </p:blipFill>
        <p:spPr bwMode="auto">
          <a:xfrm>
            <a:off x="3358515" y="2491740"/>
            <a:ext cx="2656840" cy="2028190"/>
          </a:xfrm>
          <a:prstGeom prst="roundRect">
            <a:avLst/>
          </a:prstGeom>
          <a:noFill/>
        </p:spPr>
      </p:pic>
      <p:pic>
        <p:nvPicPr>
          <p:cNvPr id="22" name="Picture 5"/>
          <p:cNvPicPr>
            <a:picLocks noChangeAspect="1" noChangeArrowheads="1"/>
          </p:cNvPicPr>
          <p:nvPr>
            <p:custDataLst>
              <p:tags r:id="rId3"/>
            </p:custDataLst>
          </p:nvPr>
        </p:nvPicPr>
        <p:blipFill>
          <a:blip r:embed="rId4" cstate="print"/>
          <a:srcRect/>
          <a:stretch>
            <a:fillRect/>
          </a:stretch>
        </p:blipFill>
        <p:spPr bwMode="auto">
          <a:xfrm>
            <a:off x="6377305" y="1798955"/>
            <a:ext cx="1874520" cy="2788920"/>
          </a:xfrm>
          <a:prstGeom prst="roundRect">
            <a:avLst/>
          </a:prstGeom>
          <a:noFill/>
          <a:ln w="9525">
            <a:noFill/>
            <a:miter lim="800000"/>
            <a:headEnd/>
            <a:tailEnd/>
          </a:ln>
        </p:spPr>
      </p:pic>
      <p:pic>
        <p:nvPicPr>
          <p:cNvPr id="23" name="Picture 2" descr="C:\Users\Administrator\AppData\Roaming\Tencent\Users\63211226\QQ\WinTemp\RichOle\KSOP(3@ERAU4ADEOP6TK8MV.png"/>
          <p:cNvPicPr>
            <a:picLocks noChangeAspect="1" noChangeArrowheads="1"/>
          </p:cNvPicPr>
          <p:nvPr>
            <p:custDataLst>
              <p:tags r:id="rId5"/>
            </p:custDataLst>
          </p:nvPr>
        </p:nvPicPr>
        <p:blipFill>
          <a:blip r:embed="rId6" cstate="print"/>
          <a:srcRect/>
          <a:stretch>
            <a:fillRect/>
          </a:stretch>
        </p:blipFill>
        <p:spPr bwMode="auto">
          <a:xfrm>
            <a:off x="1021080" y="1934210"/>
            <a:ext cx="1921510" cy="2517775"/>
          </a:xfrm>
          <a:prstGeom prst="roundRect">
            <a:avLst/>
          </a:prstGeom>
          <a:noFill/>
        </p:spPr>
      </p:pic>
      <p:sp>
        <p:nvSpPr>
          <p:cNvPr id="39" name="Text Box 3"/>
          <p:cNvSpPr txBox="1">
            <a:spLocks noChangeArrowheads="1"/>
          </p:cNvSpPr>
          <p:nvPr>
            <p:custDataLst>
              <p:tags r:id="rId7"/>
            </p:custDataLst>
          </p:nvPr>
        </p:nvSpPr>
        <p:spPr bwMode="auto">
          <a:xfrm>
            <a:off x="378460" y="4941570"/>
            <a:ext cx="2980055" cy="838835"/>
          </a:xfrm>
          <a:prstGeom prst="rect">
            <a:avLst/>
          </a:prstGeom>
          <a:noFill/>
          <a:ln w="9525">
            <a:noFill/>
            <a:miter lim="800000"/>
          </a:ln>
        </p:spPr>
        <p:txBody>
          <a:bodyPr wrap="square">
            <a:noAutofit/>
          </a:bodyPr>
          <a:p>
            <a:pPr algn="ctr"/>
            <a:r>
              <a:rPr lang="zh-CN" altLang="en-US" sz="2000" dirty="0">
                <a:latin typeface="楷体" panose="02010609060101010101" charset="-122"/>
                <a:ea typeface="楷体" panose="02010609060101010101" charset="-122"/>
              </a:rPr>
              <a:t>固定式片散</a:t>
            </a:r>
            <a:endParaRPr lang="en-US" altLang="zh-CN" sz="2000" dirty="0">
              <a:latin typeface="楷体" panose="02010609060101010101" charset="-122"/>
              <a:ea typeface="楷体" panose="02010609060101010101" charset="-122"/>
            </a:endParaRPr>
          </a:p>
          <a:p>
            <a:pPr algn="ctr"/>
            <a:r>
              <a:rPr lang="zh-CN" altLang="en-US" sz="2000" dirty="0">
                <a:latin typeface="楷体" panose="02010609060101010101" charset="-122"/>
                <a:ea typeface="楷体" panose="02010609060101010101" charset="-122"/>
              </a:rPr>
              <a:t>连接处直接焊接</a:t>
            </a:r>
            <a:endParaRPr lang="zh-CN" altLang="en-US" sz="2000" dirty="0">
              <a:latin typeface="楷体" panose="02010609060101010101" charset="-122"/>
              <a:ea typeface="楷体" panose="02010609060101010101" charset="-122"/>
            </a:endParaRPr>
          </a:p>
        </p:txBody>
      </p:sp>
      <p:sp>
        <p:nvSpPr>
          <p:cNvPr id="4" name="Text Box 3"/>
          <p:cNvSpPr txBox="1">
            <a:spLocks noChangeArrowheads="1"/>
          </p:cNvSpPr>
          <p:nvPr>
            <p:custDataLst>
              <p:tags r:id="rId8"/>
            </p:custDataLst>
          </p:nvPr>
        </p:nvSpPr>
        <p:spPr bwMode="auto">
          <a:xfrm>
            <a:off x="5770880" y="4941570"/>
            <a:ext cx="2980055" cy="838835"/>
          </a:xfrm>
          <a:prstGeom prst="rect">
            <a:avLst/>
          </a:prstGeom>
          <a:noFill/>
          <a:ln w="9525">
            <a:noFill/>
            <a:miter lim="800000"/>
          </a:ln>
        </p:spPr>
        <p:txBody>
          <a:bodyPr wrap="square">
            <a:noAutofit/>
          </a:bodyPr>
          <a:p>
            <a:pPr algn="ctr"/>
            <a:r>
              <a:rPr lang="zh-CN" altLang="en-US" sz="2000" dirty="0">
                <a:latin typeface="楷体" panose="02010609060101010101" charset="-122"/>
                <a:ea typeface="楷体" panose="02010609060101010101" charset="-122"/>
              </a:rPr>
              <a:t>拆卸式片散</a:t>
            </a:r>
            <a:endParaRPr lang="en-US" altLang="zh-CN" sz="2000" dirty="0">
              <a:latin typeface="楷体" panose="02010609060101010101" charset="-122"/>
              <a:ea typeface="楷体" panose="02010609060101010101" charset="-122"/>
            </a:endParaRPr>
          </a:p>
          <a:p>
            <a:pPr algn="ctr"/>
            <a:r>
              <a:rPr lang="zh-CN" altLang="en-US" sz="2000" dirty="0">
                <a:latin typeface="楷体" panose="02010609060101010101" charset="-122"/>
                <a:ea typeface="楷体" panose="02010609060101010101" charset="-122"/>
              </a:rPr>
              <a:t>连接处法兰连接</a:t>
            </a:r>
            <a:endParaRPr lang="zh-CN" altLang="en-US" sz="2000" dirty="0">
              <a:latin typeface="楷体" panose="02010609060101010101" charset="-122"/>
              <a:ea typeface="楷体" panose="02010609060101010101" charset="-122"/>
            </a:endParaRPr>
          </a:p>
        </p:txBody>
      </p:sp>
      <p:sp>
        <p:nvSpPr>
          <p:cNvPr id="5" name="Text Box 3"/>
          <p:cNvSpPr txBox="1">
            <a:spLocks noChangeArrowheads="1"/>
          </p:cNvSpPr>
          <p:nvPr>
            <p:custDataLst>
              <p:tags r:id="rId9"/>
            </p:custDataLst>
          </p:nvPr>
        </p:nvSpPr>
        <p:spPr bwMode="auto">
          <a:xfrm>
            <a:off x="3855085" y="4941570"/>
            <a:ext cx="1787525" cy="473710"/>
          </a:xfrm>
          <a:prstGeom prst="rect">
            <a:avLst/>
          </a:prstGeom>
          <a:noFill/>
          <a:ln w="9525">
            <a:noFill/>
            <a:miter lim="800000"/>
          </a:ln>
        </p:spPr>
        <p:txBody>
          <a:bodyPr wrap="square">
            <a:noAutofit/>
          </a:bodyPr>
          <a:p>
            <a:pPr algn="ctr"/>
            <a:r>
              <a:rPr lang="zh-CN" altLang="en-US" sz="2000" dirty="0">
                <a:latin typeface="楷体" panose="02010609060101010101" charset="-122"/>
                <a:ea typeface="楷体" panose="02010609060101010101" charset="-122"/>
              </a:rPr>
              <a:t>波纹油箱</a:t>
            </a:r>
            <a:endParaRPr lang="zh-CN" altLang="en-US" sz="2000" dirty="0">
              <a:latin typeface="楷体" panose="02010609060101010101" charset="-122"/>
              <a:ea typeface="楷体" panose="02010609060101010101" charset="-122"/>
            </a:endParaRPr>
          </a:p>
        </p:txBody>
      </p:sp>
      <p:sp>
        <p:nvSpPr>
          <p:cNvPr id="6" name="Text Box 3"/>
          <p:cNvSpPr txBox="1">
            <a:spLocks noChangeArrowheads="1"/>
          </p:cNvSpPr>
          <p:nvPr>
            <p:custDataLst>
              <p:tags r:id="rId10"/>
            </p:custDataLst>
          </p:nvPr>
        </p:nvSpPr>
        <p:spPr bwMode="auto">
          <a:xfrm>
            <a:off x="9066530" y="4941570"/>
            <a:ext cx="2207260" cy="838835"/>
          </a:xfrm>
          <a:prstGeom prst="rect">
            <a:avLst/>
          </a:prstGeom>
          <a:noFill/>
          <a:ln w="9525">
            <a:noFill/>
            <a:miter lim="800000"/>
          </a:ln>
        </p:spPr>
        <p:txBody>
          <a:bodyPr wrap="square">
            <a:noAutofit/>
          </a:bodyPr>
          <a:p>
            <a:pPr algn="ctr"/>
            <a:r>
              <a:rPr lang="zh-CN" altLang="en-US" sz="2000" dirty="0">
                <a:latin typeface="楷体" panose="02010609060101010101" charset="-122"/>
                <a:ea typeface="楷体" panose="02010609060101010101" charset="-122"/>
              </a:rPr>
              <a:t>油变用冷却风机</a:t>
            </a:r>
            <a:endParaRPr lang="zh-CN" altLang="en-US" sz="2000" dirty="0">
              <a:latin typeface="楷体" panose="02010609060101010101" charset="-122"/>
              <a:ea typeface="楷体" panose="02010609060101010101" charset="-122"/>
            </a:endParaRPr>
          </a:p>
        </p:txBody>
      </p:sp>
      <p:pic>
        <p:nvPicPr>
          <p:cNvPr id="43" name="Picture 3"/>
          <p:cNvPicPr>
            <a:picLocks noChangeAspect="1" noChangeArrowheads="1"/>
          </p:cNvPicPr>
          <p:nvPr>
            <p:custDataLst>
              <p:tags r:id="rId11"/>
            </p:custDataLst>
          </p:nvPr>
        </p:nvPicPr>
        <p:blipFill>
          <a:blip r:embed="rId12" cstate="print"/>
          <a:srcRect/>
          <a:stretch>
            <a:fillRect/>
          </a:stretch>
        </p:blipFill>
        <p:spPr bwMode="auto">
          <a:xfrm>
            <a:off x="9066530" y="2181225"/>
            <a:ext cx="2407920" cy="2494915"/>
          </a:xfrm>
          <a:prstGeom prst="roundRect">
            <a:avLst/>
          </a:prstGeom>
          <a:noFill/>
          <a:ln w="9525">
            <a:noFill/>
            <a:miter lim="800000"/>
            <a:headEnd/>
            <a:tailEnd/>
          </a:ln>
        </p:spPr>
      </p:pic>
    </p:spTree>
    <p:custDataLst>
      <p:tags r:id="rId13"/>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标题 4"/>
          <p:cNvSpPr>
            <a:spLocks noGrp="1"/>
          </p:cNvSpPr>
          <p:nvPr>
            <p:custDataLst>
              <p:tags r:id="rId1"/>
            </p:custDataLst>
          </p:nvPr>
        </p:nvSpPr>
        <p:spPr>
          <a:xfrm>
            <a:off x="2723198" y="2222818"/>
            <a:ext cx="5616575" cy="1622425"/>
          </a:xfrm>
          <a:prstGeom prst="rect">
            <a:avLst/>
          </a:prstGeom>
          <a:noFill/>
          <a:ln w="9525">
            <a:noFill/>
          </a:ln>
        </p:spPr>
        <p:txBody>
          <a:bodyPr lIns="90000" tIns="46800" rIns="90000" bIns="46800" anchor="ctr" anchorCtr="0">
            <a:normAutofit/>
          </a:bodyPr>
          <a:lstStyle>
            <a:lvl1pPr algn="ctr" defTabSz="685800" rtl="0" eaLnBrk="1" latinLnBrk="0" hangingPunct="1">
              <a:lnSpc>
                <a:spcPct val="120000"/>
              </a:lnSpc>
              <a:spcBef>
                <a:spcPct val="0"/>
              </a:spcBef>
              <a:buNone/>
              <a:defRPr sz="7200" kern="1200">
                <a:solidFill>
                  <a:srgbClr val="578B18"/>
                </a:solidFill>
                <a:latin typeface="+mj-lt"/>
                <a:ea typeface="+mj-ea"/>
                <a:cs typeface="+mj-cs"/>
              </a:defRPr>
            </a:lvl1pPr>
          </a:lstStyle>
          <a:p>
            <a:pPr defTabSz="685800">
              <a:buNone/>
            </a:pPr>
            <a:r>
              <a:rPr lang="en-US" altLang="zh-CN" b="1" kern="1200" dirty="0">
                <a:solidFill>
                  <a:srgbClr val="578B18"/>
                </a:solidFill>
                <a:latin typeface="Curlz MT" panose="04040404050702020202" charset="0"/>
                <a:ea typeface="Kozuka Gothic Pr6N B" pitchFamily="34" charset="-128"/>
                <a:cs typeface="+mj-cs"/>
              </a:rPr>
              <a:t>THANKS</a:t>
            </a:r>
            <a:endParaRPr lang="zh-CN" altLang="en-US" kern="1200" dirty="0">
              <a:solidFill>
                <a:srgbClr val="578B18"/>
              </a:solidFill>
              <a:latin typeface="+mj-lt"/>
              <a:ea typeface="+mj-ea"/>
              <a:cs typeface="+mj-cs"/>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5.xml><?xml version="1.0" encoding="utf-8"?>
<p:tagLst xmlns:p="http://schemas.openxmlformats.org/presentationml/2006/main">
  <p:tag name="KSO_WM_TAG_VERSION" val="1.0"/>
  <p:tag name="KSO_WM_BEAUTIFY_FLAG" val=""/>
  <p:tag name="KSO_WM_UNIT_TYPE" val="i"/>
  <p:tag name="KSO_WM_UNIT_ID" val="special20163066_2*i*1"/>
  <p:tag name="KSO_WM_TEMPLATE_CATEGORY" val="special"/>
  <p:tag name="KSO_WM_TEMPLATE_INDEX" val="20163066"/>
  <p:tag name="KSO_WM_UNIT_INDEX" val="1"/>
</p:tagLst>
</file>

<file path=ppt/tags/tag66.xml><?xml version="1.0" encoding="utf-8"?>
<p:tagLst xmlns:p="http://schemas.openxmlformats.org/presentationml/2006/main">
  <p:tag name="KSO_WM_TAG_VERSION" val="1.0"/>
  <p:tag name="KSO_WM_BEAUTIFY_FLAG" val=""/>
  <p:tag name="KSO_WM_UNIT_TYPE" val="i"/>
  <p:tag name="KSO_WM_UNIT_ID" val="special20163066_2*i*2"/>
  <p:tag name="KSO_WM_TEMPLATE_CATEGORY" val="special"/>
  <p:tag name="KSO_WM_TEMPLATE_INDEX" val="20163066"/>
  <p:tag name="KSO_WM_UNIT_INDEX" val="2"/>
</p:tagLst>
</file>

<file path=ppt/tags/tag67.xml><?xml version="1.0" encoding="utf-8"?>
<p:tagLst xmlns:p="http://schemas.openxmlformats.org/presentationml/2006/main">
  <p:tag name="KSO_WM_TAG_VERSION" val="1.0"/>
  <p:tag name="KSO_WM_BEAUTIFY_FLAG" val=""/>
  <p:tag name="KSO_WM_UNIT_TYPE" val="i"/>
  <p:tag name="KSO_WM_UNIT_ID" val="special20163066_2*i*3"/>
  <p:tag name="KSO_WM_TEMPLATE_CATEGORY" val="special"/>
  <p:tag name="KSO_WM_TEMPLATE_INDEX" val="20163066"/>
  <p:tag name="KSO_WM_UNIT_INDEX" val="3"/>
</p:tagLst>
</file>

<file path=ppt/tags/tag68.xml><?xml version="1.0" encoding="utf-8"?>
<p:tagLst xmlns:p="http://schemas.openxmlformats.org/presentationml/2006/main">
  <p:tag name="KSO_WM_TAG_VERSION" val="1.0"/>
  <p:tag name="KSO_WM_BEAUTIFY_FLAG" val=""/>
  <p:tag name="KSO_WM_UNIT_TYPE" val="i"/>
  <p:tag name="KSO_WM_UNIT_ID" val="special20163066_2*i*5"/>
  <p:tag name="KSO_WM_TEMPLATE_CATEGORY" val="special"/>
  <p:tag name="KSO_WM_TEMPLATE_INDEX" val="20163066"/>
  <p:tag name="KSO_WM_UNIT_INDEX" val="5"/>
</p:tagLst>
</file>

<file path=ppt/tags/tag69.xml><?xml version="1.0" encoding="utf-8"?>
<p:tagLst xmlns:p="http://schemas.openxmlformats.org/presentationml/2006/main">
  <p:tag name="KSO_WM_TAG_VERSION" val="1.0"/>
  <p:tag name="KSO_WM_BEAUTIFY_FLAG" val=""/>
  <p:tag name="KSO_WM_UNIT_TYPE" val="i"/>
  <p:tag name="KSO_WM_UNIT_ID" val="special20163066_2*i*4"/>
  <p:tag name="KSO_WM_TEMPLATE_CATEGORY" val="special"/>
  <p:tag name="KSO_WM_TEMPLATE_INDEX" val="20163066"/>
  <p:tag name="KSO_WM_UNIT_INDEX" val="4"/>
</p:tagLst>
</file>

<file path=ppt/tags/tag70.xml><?xml version="1.0" encoding="utf-8"?>
<p:tagLst xmlns:p="http://schemas.openxmlformats.org/presentationml/2006/main">
  <p:tag name="KSO_WM_TAG_VERSION" val="1.0"/>
  <p:tag name="KSO_WM_BEAUTIFY_FLAG" val=""/>
  <p:tag name="KSO_WM_UNIT_TYPE" val="i"/>
  <p:tag name="KSO_WM_UNIT_ID" val="special20163066_2*i*6"/>
  <p:tag name="KSO_WM_TEMPLATE_CATEGORY" val="special"/>
  <p:tag name="KSO_WM_TEMPLATE_INDEX" val="20163066"/>
  <p:tag name="KSO_WM_UNIT_INDEX" val="6"/>
</p:tagLst>
</file>

<file path=ppt/tags/tag71.xml><?xml version="1.0" encoding="utf-8"?>
<p:tagLst xmlns:p="http://schemas.openxmlformats.org/presentationml/2006/main">
  <p:tag name="KSO_WM_TAG_VERSION" val="1.0"/>
  <p:tag name="KSO_WM_BEAUTIFY_FLAG" val=""/>
  <p:tag name="KSO_WM_UNIT_TYPE" val="i"/>
  <p:tag name="KSO_WM_UNIT_ID" val="special20163066_2*i*7"/>
  <p:tag name="KSO_WM_TEMPLATE_CATEGORY" val="special"/>
  <p:tag name="KSO_WM_TEMPLATE_INDEX" val="20163066"/>
  <p:tag name="KSO_WM_UNIT_INDEX" val="7"/>
</p:tagLst>
</file>

<file path=ppt/tags/tag72.xml><?xml version="1.0" encoding="utf-8"?>
<p:tagLst xmlns:p="http://schemas.openxmlformats.org/presentationml/2006/main">
  <p:tag name="KSO_WM_TAG_VERSION" val="1.0"/>
  <p:tag name="KSO_WM_BEAUTIFY_FLAG" val=""/>
  <p:tag name="KSO_WM_UNIT_TYPE" val="i"/>
  <p:tag name="KSO_WM_UNIT_ID" val="special20163066_2*i*9"/>
  <p:tag name="KSO_WM_TEMPLATE_CATEGORY" val="special"/>
  <p:tag name="KSO_WM_TEMPLATE_INDEX" val="20163066"/>
  <p:tag name="KSO_WM_UNIT_INDEX" val="9"/>
</p:tagLst>
</file>

<file path=ppt/tags/tag73.xml><?xml version="1.0" encoding="utf-8"?>
<p:tagLst xmlns:p="http://schemas.openxmlformats.org/presentationml/2006/main">
  <p:tag name="KSO_WM_TAG_VERSION" val="1.0"/>
  <p:tag name="KSO_WM_BEAUTIFY_FLAG" val=""/>
  <p:tag name="KSO_WM_UNIT_TYPE" val="i"/>
  <p:tag name="KSO_WM_UNIT_ID" val="special20163066_2*i*8"/>
  <p:tag name="KSO_WM_TEMPLATE_CATEGORY" val="special"/>
  <p:tag name="KSO_WM_TEMPLATE_INDEX" val="20163066"/>
  <p:tag name="KSO_WM_UNIT_INDEX" val="8"/>
</p:tagLst>
</file>

<file path=ppt/tags/tag74.xml><?xml version="1.0" encoding="utf-8"?>
<p:tagLst xmlns:p="http://schemas.openxmlformats.org/presentationml/2006/main">
  <p:tag name="KSO_WM_TAG_VERSION" val="1.0"/>
  <p:tag name="KSO_WM_BEAUTIFY_FLAG" val=""/>
  <p:tag name="KSO_WM_UNIT_TYPE" val="i"/>
  <p:tag name="KSO_WM_UNIT_ID" val="special20163066_2*i*10"/>
  <p:tag name="KSO_WM_TEMPLATE_CATEGORY" val="special"/>
  <p:tag name="KSO_WM_TEMPLATE_INDEX" val="20163066"/>
  <p:tag name="KSO_WM_UNIT_INDEX" val="10"/>
</p:tagLst>
</file>

<file path=ppt/tags/tag75.xml><?xml version="1.0" encoding="utf-8"?>
<p:tagLst xmlns:p="http://schemas.openxmlformats.org/presentationml/2006/main">
  <p:tag name="KSO_WM_BEAUTIFY_FLAG" val="#wm#"/>
  <p:tag name="KSO_WM_TEMPLATE_CATEGORY" val="custom"/>
  <p:tag name="KSO_WM_TEMPLATE_INDEX" val="20205081"/>
</p:tagLst>
</file>

<file path=ppt/tags/tag76.xml><?xml version="1.0" encoding="utf-8"?>
<p:tagLst xmlns:p="http://schemas.openxmlformats.org/presentationml/2006/main">
  <p:tag name="KSO_WM_TAG_VERSION" val="1.0"/>
  <p:tag name="KSO_WM_BEAUTIFY_FLAG" val=""/>
  <p:tag name="KSO_WM_UNIT_TYPE" val="i"/>
  <p:tag name="KSO_WM_UNIT_ID" val="special20163066_3*i*0"/>
  <p:tag name="KSO_WM_TEMPLATE_CATEGORY" val="special"/>
  <p:tag name="KSO_WM_TEMPLATE_INDEX" val="20163066"/>
  <p:tag name="KSO_WM_UNIT_INDEX" val="0"/>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wm#"/>
  <p:tag name="KSO_WM_TEMPLATE_CATEGORY" val="custom"/>
  <p:tag name="KSO_WM_TEMPLATE_INDEX" val="20205081"/>
</p:tagLst>
</file>

<file path=ppt/tags/tag79.xml><?xml version="1.0" encoding="utf-8"?>
<p:tagLst xmlns:p="http://schemas.openxmlformats.org/presentationml/2006/main">
  <p:tag name="KSO_WM_BEAUTIFY_FLAG" val="#wm#"/>
  <p:tag name="KSO_WM_TEMPLATE_CATEGORY" val="custom"/>
  <p:tag name="KSO_WM_TEMPLATE_INDEX" val="20205081"/>
</p:tagLst>
</file>

<file path=ppt/tags/tag80.xml><?xml version="1.0" encoding="utf-8"?>
<p:tagLst xmlns:p="http://schemas.openxmlformats.org/presentationml/2006/main">
  <p:tag name="KSO_WM_TAG_VERSION" val="1.0"/>
  <p:tag name="KSO_WM_BEAUTIFY_FLAG" val=""/>
  <p:tag name="KSO_WM_UNIT_TYPE" val="i"/>
  <p:tag name="KSO_WM_UNIT_ID" val="special20163066_3*i*0"/>
  <p:tag name="KSO_WM_TEMPLATE_CATEGORY" val="special"/>
  <p:tag name="KSO_WM_TEMPLATE_INDEX" val="20163066"/>
  <p:tag name="KSO_WM_UNIT_INDEX" val="0"/>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wm#"/>
  <p:tag name="KSO_WM_TEMPLATE_CATEGORY" val="custom"/>
  <p:tag name="KSO_WM_TEMPLATE_INDEX" val="20205081"/>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wm#"/>
  <p:tag name="KSO_WM_TEMPLATE_CATEGORY" val="custom"/>
  <p:tag name="KSO_WM_TEMPLATE_INDEX" val="20205081"/>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wm#"/>
  <p:tag name="KSO_WM_TEMPLATE_CATEGORY" val="custom"/>
  <p:tag name="KSO_WM_TEMPLATE_INDEX" val="20205081"/>
</p:tagLst>
</file>

<file path=ppt/tags/tag109.xml><?xml version="1.0" encoding="utf-8"?>
<p:tagLst xmlns:p="http://schemas.openxmlformats.org/presentationml/2006/main">
  <p:tag name="KSO_WM_TAG_VERSION" val="1.0"/>
  <p:tag name="KSO_WM_BEAUTIFY_FLAG" val=""/>
  <p:tag name="KSO_WM_UNIT_TYPE" val="i"/>
  <p:tag name="KSO_WM_UNIT_ID" val="special20163066_10*i*3"/>
  <p:tag name="KSO_WM_TEMPLATE_CATEGORY" val="special"/>
  <p:tag name="KSO_WM_TEMPLATE_INDEX" val="20163066"/>
  <p:tag name="KSO_WM_UNIT_INDEX" val="3"/>
</p:tagLst>
</file>

<file path=ppt/tags/tag110.xml><?xml version="1.0" encoding="utf-8"?>
<p:tagLst xmlns:p="http://schemas.openxmlformats.org/presentationml/2006/main">
  <p:tag name="KSO_WM_TAG_VERSION" val="1.0"/>
  <p:tag name="KSO_WM_BEAUTIFY_FLAG" val=""/>
  <p:tag name="KSO_WM_UNIT_TYPE" val="i"/>
  <p:tag name="KSO_WM_UNIT_ID" val="special20163066_10*i*4"/>
  <p:tag name="KSO_WM_TEMPLATE_CATEGORY" val="special"/>
  <p:tag name="KSO_WM_TEMPLATE_INDEX" val="20163066"/>
  <p:tag name="KSO_WM_UNIT_INDEX" val="4"/>
</p:tagLst>
</file>

<file path=ppt/tags/tag111.xml><?xml version="1.0" encoding="utf-8"?>
<p:tagLst xmlns:p="http://schemas.openxmlformats.org/presentationml/2006/main">
  <p:tag name="KSO_WM_TAG_VERSION" val="1.0"/>
  <p:tag name="KSO_WM_BEAUTIFY_FLAG" val=""/>
  <p:tag name="KSO_WM_UNIT_TYPE" val="i"/>
  <p:tag name="KSO_WM_UNIT_ID" val="special20163066_10*i*5"/>
  <p:tag name="KSO_WM_TEMPLATE_CATEGORY" val="special"/>
  <p:tag name="KSO_WM_TEMPLATE_INDEX" val="20163066"/>
  <p:tag name="KSO_WM_UNIT_INDEX" val="5"/>
</p:tagLst>
</file>

<file path=ppt/tags/tag112.xml><?xml version="1.0" encoding="utf-8"?>
<p:tagLst xmlns:p="http://schemas.openxmlformats.org/presentationml/2006/main">
  <p:tag name="KSO_WM_TAG_VERSION" val="1.0"/>
  <p:tag name="KSO_WM_BEAUTIFY_FLAG" val=""/>
  <p:tag name="KSO_WM_UNIT_TYPE" val="i"/>
  <p:tag name="KSO_WM_UNIT_ID" val="special20163066_10*i*9"/>
  <p:tag name="KSO_WM_TEMPLATE_CATEGORY" val="special"/>
  <p:tag name="KSO_WM_TEMPLATE_INDEX" val="20163066"/>
  <p:tag name="KSO_WM_UNIT_INDEX" val="9"/>
</p:tagLst>
</file>

<file path=ppt/tags/tag113.xml><?xml version="1.0" encoding="utf-8"?>
<p:tagLst xmlns:p="http://schemas.openxmlformats.org/presentationml/2006/main">
  <p:tag name="KSO_WM_TAG_VERSION" val="1.0"/>
  <p:tag name="KSO_WM_BEAUTIFY_FLAG" val=""/>
  <p:tag name="KSO_WM_UNIT_TYPE" val="i"/>
  <p:tag name="KSO_WM_UNIT_ID" val="special20163066_10*i*10"/>
  <p:tag name="KSO_WM_TEMPLATE_CATEGORY" val="special"/>
  <p:tag name="KSO_WM_TEMPLATE_INDEX" val="20163066"/>
  <p:tag name="KSO_WM_UNIT_INDEX" val="10"/>
</p:tagLst>
</file>

<file path=ppt/tags/tag114.xml><?xml version="1.0" encoding="utf-8"?>
<p:tagLst xmlns:p="http://schemas.openxmlformats.org/presentationml/2006/main">
  <p:tag name="KSO_WM_TAG_VERSION" val="1.0"/>
  <p:tag name="KSO_WM_BEAUTIFY_FLAG" val=""/>
  <p:tag name="KSO_WM_UNIT_TYPE" val="i"/>
  <p:tag name="KSO_WM_UNIT_ID" val="special20163066_10*i*11"/>
  <p:tag name="KSO_WM_TEMPLATE_CATEGORY" val="special"/>
  <p:tag name="KSO_WM_TEMPLATE_INDEX" val="20163066"/>
  <p:tag name="KSO_WM_UNIT_INDEX" val="11"/>
</p:tagLst>
</file>

<file path=ppt/tags/tag115.xml><?xml version="1.0" encoding="utf-8"?>
<p:tagLst xmlns:p="http://schemas.openxmlformats.org/presentationml/2006/main">
  <p:tag name="KSO_WM_TAG_VERSION" val="1.0"/>
  <p:tag name="KSO_WM_BEAUTIFY_FLAG" val=""/>
  <p:tag name="KSO_WM_UNIT_TYPE" val="i"/>
  <p:tag name="KSO_WM_UNIT_ID" val="special20163066_10*i*12"/>
  <p:tag name="KSO_WM_TEMPLATE_CATEGORY" val="special"/>
  <p:tag name="KSO_WM_TEMPLATE_INDEX" val="20163066"/>
  <p:tag name="KSO_WM_UNIT_INDEX" val="12"/>
</p:tagLst>
</file>

<file path=ppt/tags/tag116.xml><?xml version="1.0" encoding="utf-8"?>
<p:tagLst xmlns:p="http://schemas.openxmlformats.org/presentationml/2006/main">
  <p:tag name="KSO_WM_TAG_VERSION" val="1.0"/>
  <p:tag name="KSO_WM_BEAUTIFY_FLAG" val=""/>
  <p:tag name="KSO_WM_UNIT_TYPE" val="i"/>
  <p:tag name="KSO_WM_UNIT_ID" val="special20163066_10*i*13"/>
  <p:tag name="KSO_WM_TEMPLATE_CATEGORY" val="special"/>
  <p:tag name="KSO_WM_TEMPLATE_INDEX" val="20163066"/>
  <p:tag name="KSO_WM_UNIT_INDEX" val="13"/>
</p:tagLst>
</file>

<file path=ppt/tags/tag117.xml><?xml version="1.0" encoding="utf-8"?>
<p:tagLst xmlns:p="http://schemas.openxmlformats.org/presentationml/2006/main">
  <p:tag name="KSO_WM_TAG_VERSION" val="1.0"/>
  <p:tag name="KSO_WM_BEAUTIFY_FLAG" val=""/>
  <p:tag name="KSO_WM_UNIT_TYPE" val="i"/>
  <p:tag name="KSO_WM_UNIT_ID" val="special20163066_10*i*14"/>
  <p:tag name="KSO_WM_TEMPLATE_CATEGORY" val="special"/>
  <p:tag name="KSO_WM_TEMPLATE_INDEX" val="20163066"/>
  <p:tag name="KSO_WM_UNIT_INDEX" val="14"/>
</p:tagLst>
</file>

<file path=ppt/tags/tag118.xml><?xml version="1.0" encoding="utf-8"?>
<p:tagLst xmlns:p="http://schemas.openxmlformats.org/presentationml/2006/main">
  <p:tag name="KSO_WM_TAG_VERSION" val="1.0"/>
  <p:tag name="KSO_WM_BEAUTIFY_FLAG" val=""/>
  <p:tag name="KSO_WM_UNIT_TYPE" val="i"/>
  <p:tag name="KSO_WM_UNIT_ID" val="special20163066_10*i*15"/>
  <p:tag name="KSO_WM_TEMPLATE_CATEGORY" val="special"/>
  <p:tag name="KSO_WM_TEMPLATE_INDEX" val="20163066"/>
  <p:tag name="KSO_WM_UNIT_INDEX" val="15"/>
</p:tagLst>
</file>

<file path=ppt/tags/tag119.xml><?xml version="1.0" encoding="utf-8"?>
<p:tagLst xmlns:p="http://schemas.openxmlformats.org/presentationml/2006/main">
  <p:tag name="KSO_WM_TAG_VERSION" val="1.0"/>
  <p:tag name="KSO_WM_BEAUTIFY_FLAG" val=""/>
  <p:tag name="KSO_WM_UNIT_TYPE" val="i"/>
  <p:tag name="KSO_WM_UNIT_ID" val="special20163066_10*i*16"/>
  <p:tag name="KSO_WM_TEMPLATE_CATEGORY" val="special"/>
  <p:tag name="KSO_WM_TEMPLATE_INDEX" val="20163066"/>
  <p:tag name="KSO_WM_UNIT_INDEX" val="16"/>
</p:tagLst>
</file>

<file path=ppt/tags/tag120.xml><?xml version="1.0" encoding="utf-8"?>
<p:tagLst xmlns:p="http://schemas.openxmlformats.org/presentationml/2006/main">
  <p:tag name="KSO_WM_TAG_VERSION" val="1.0"/>
  <p:tag name="KSO_WM_BEAUTIFY_FLAG" val=""/>
  <p:tag name="KSO_WM_UNIT_TYPE" val="i"/>
  <p:tag name="KSO_WM_UNIT_ID" val="special20163066_10*i*17"/>
  <p:tag name="KSO_WM_TEMPLATE_CATEGORY" val="special"/>
  <p:tag name="KSO_WM_TEMPLATE_INDEX" val="20163066"/>
  <p:tag name="KSO_WM_UNIT_INDEX" val="17"/>
</p:tagLst>
</file>

<file path=ppt/tags/tag121.xml><?xml version="1.0" encoding="utf-8"?>
<p:tagLst xmlns:p="http://schemas.openxmlformats.org/presentationml/2006/main">
  <p:tag name="KSO_WM_TAG_VERSION" val="1.0"/>
  <p:tag name="KSO_WM_BEAUTIFY_FLAG" val=""/>
  <p:tag name="KSO_WM_UNIT_TYPE" val="i"/>
  <p:tag name="KSO_WM_UNIT_ID" val="special20163066_10*i*18"/>
  <p:tag name="KSO_WM_TEMPLATE_CATEGORY" val="special"/>
  <p:tag name="KSO_WM_TEMPLATE_INDEX" val="20163066"/>
  <p:tag name="KSO_WM_UNIT_INDEX" val="18"/>
</p:tagLst>
</file>

<file path=ppt/tags/tag122.xml><?xml version="1.0" encoding="utf-8"?>
<p:tagLst xmlns:p="http://schemas.openxmlformats.org/presentationml/2006/main">
  <p:tag name="KSO_WM_BEAUTIFY_FLAG" val="#wm#"/>
  <p:tag name="KSO_WM_TEMPLATE_CATEGORY" val="custom"/>
  <p:tag name="KSO_WM_TEMPLATE_INDEX" val="20205081"/>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wm#"/>
  <p:tag name="KSO_WM_TEMPLATE_CATEGORY" val="custom"/>
  <p:tag name="KSO_WM_TEMPLATE_INDEX" val="20205081"/>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wm#"/>
  <p:tag name="KSO_WM_TEMPLATE_CATEGORY" val="custom"/>
  <p:tag name="KSO_WM_TEMPLATE_INDEX" val="20205081"/>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wm#"/>
  <p:tag name="KSO_WM_TEMPLATE_CATEGORY" val="custom"/>
  <p:tag name="KSO_WM_TEMPLATE_INDEX" val="20205081"/>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wm#"/>
  <p:tag name="KSO_WM_TEMPLATE_CATEGORY" val="custom"/>
  <p:tag name="KSO_WM_TEMPLATE_INDEX" val="20205081"/>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TEMPLATE_CATEGORY" val="basetag"/>
  <p:tag name="KSO_WM_TEMPLATE_INDEX" val="20164214"/>
  <p:tag name="KSO_WM_TAG_VERSION" val="1.0"/>
  <p:tag name="KSO_WM_SLIDE_ID" val="basetag20164214_10"/>
  <p:tag name="KSO_WM_SLIDE_INDEX" val="10"/>
  <p:tag name="KSO_WM_SLIDE_ITEM_CNT" val="0"/>
  <p:tag name="KSO_WM_SLIDE_LAYOUT" val="a_f"/>
  <p:tag name="KSO_WM_SLIDE_LAYOUT_CNT" val="0_0"/>
  <p:tag name="KSO_WM_SLIDE_TYPE" val="text"/>
  <p:tag name="KSO_WM_BEAUTIFY_FLAG" val="#wm#"/>
</p:tagLst>
</file>

<file path=ppt/tags/tag147.xml><?xml version="1.0" encoding="utf-8"?>
<p:tagLst xmlns:p="http://schemas.openxmlformats.org/presentationml/2006/main">
  <p:tag name="KSO_WM_BEAUTIFY_FLAG" val="#wm#"/>
  <p:tag name="KSO_WM_TEMPLATE_CATEGORY" val="custom"/>
  <p:tag name="KSO_WM_TEMPLATE_INDEX" val="20205081"/>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wm#"/>
  <p:tag name="KSO_WM_TEMPLATE_CATEGORY" val="custom"/>
  <p:tag name="KSO_WM_TEMPLATE_INDEX" val="20205081"/>
</p:tagLst>
</file>

<file path=ppt/tags/tag151.xml><?xml version="1.0" encoding="utf-8"?>
<p:tagLst xmlns:p="http://schemas.openxmlformats.org/presentationml/2006/main">
  <p:tag name="KSO_WM_TAG_VERSION" val="1.0"/>
  <p:tag name="KSO_WM_BEAUTIFY_FLAG" val=""/>
  <p:tag name="KSO_WM_UNIT_TYPE" val="i"/>
  <p:tag name="KSO_WM_UNIT_ID" val="special20163066_3*i*0"/>
  <p:tag name="KSO_WM_TEMPLATE_CATEGORY" val="special"/>
  <p:tag name="KSO_WM_TEMPLATE_INDEX" val="20163066"/>
  <p:tag name="KSO_WM_UNIT_INDEX" val="0"/>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wm#"/>
  <p:tag name="KSO_WM_TEMPLATE_CATEGORY" val="custom"/>
  <p:tag name="KSO_WM_TEMPLATE_INDEX" val="20205081"/>
</p:tagLst>
</file>

<file path=ppt/tags/tag154.xml><?xml version="1.0" encoding="utf-8"?>
<p:tagLst xmlns:p="http://schemas.openxmlformats.org/presentationml/2006/main">
  <p:tag name="KSO_WM_BEAUTIFY_FLAG" val="#wm#"/>
  <p:tag name="KSO_WM_TEMPLATE_CATEGORY" val="custom"/>
  <p:tag name="KSO_WM_TEMPLATE_INDEX" val="20205081"/>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wm#"/>
  <p:tag name="KSO_WM_TEMPLATE_CATEGORY" val="custom"/>
  <p:tag name="KSO_WM_TEMPLATE_INDEX" val="20205081"/>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wm#"/>
  <p:tag name="KSO_WM_TEMPLATE_CATEGORY" val="custom"/>
  <p:tag name="KSO_WM_TEMPLATE_INDEX" val="20205081"/>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wm#"/>
  <p:tag name="KSO_WM_TEMPLATE_CATEGORY" val="custom"/>
  <p:tag name="KSO_WM_TEMPLATE_INDEX" val="20205081"/>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TAG_VERSION" val="1.0"/>
  <p:tag name="KSO_WM_BEAUTIFY_FLAG" val=""/>
  <p:tag name="KSO_WM_UNIT_TYPE" val="i"/>
  <p:tag name="KSO_WM_UNIT_ID" val="special20163066_3*i*0"/>
  <p:tag name="KSO_WM_TEMPLATE_CATEGORY" val="special"/>
  <p:tag name="KSO_WM_TEMPLATE_INDEX" val="20163066"/>
  <p:tag name="KSO_WM_UNIT_INDEX" val="0"/>
</p:tagLst>
</file>

<file path=ppt/tags/tag168.xml><?xml version="1.0" encoding="utf-8"?>
<p:tagLst xmlns:p="http://schemas.openxmlformats.org/presentationml/2006/main">
  <p:tag name="KSO_WM_BEAUTIFY_FLAG" val="#wm#"/>
  <p:tag name="KSO_WM_TEMPLATE_CATEGORY" val="custom"/>
  <p:tag name="KSO_WM_TEMPLATE_INDEX" val="20205081"/>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TAG_VERSION" val="1.0"/>
  <p:tag name="KSO_WM_BEAUTIFY_FLAG" val=""/>
  <p:tag name="KSO_WM_UNIT_TYPE" val="i"/>
  <p:tag name="KSO_WM_UNIT_ID" val="special20163066_22*i*3"/>
  <p:tag name="KSO_WM_TEMPLATE_CATEGORY" val="special"/>
  <p:tag name="KSO_WM_TEMPLATE_INDEX" val="20163066"/>
  <p:tag name="KSO_WM_UNIT_INDEX" val="3"/>
</p:tagLst>
</file>

<file path=ppt/tags/tag171.xml><?xml version="1.0" encoding="utf-8"?>
<p:tagLst xmlns:p="http://schemas.openxmlformats.org/presentationml/2006/main">
  <p:tag name="KSO_WM_TAG_VERSION" val="1.0"/>
  <p:tag name="KSO_WM_BEAUTIFY_FLAG" val=""/>
  <p:tag name="KSO_WM_UNIT_TYPE" val="i"/>
  <p:tag name="KSO_WM_UNIT_ID" val="special20163066_22*i*4"/>
  <p:tag name="KSO_WM_TEMPLATE_CATEGORY" val="special"/>
  <p:tag name="KSO_WM_TEMPLATE_INDEX" val="20163066"/>
  <p:tag name="KSO_WM_UNIT_INDEX" val="4"/>
</p:tagLst>
</file>

<file path=ppt/tags/tag172.xml><?xml version="1.0" encoding="utf-8"?>
<p:tagLst xmlns:p="http://schemas.openxmlformats.org/presentationml/2006/main">
  <p:tag name="KSO_WM_TAG_VERSION" val="1.0"/>
  <p:tag name="KSO_WM_BEAUTIFY_FLAG" val=""/>
  <p:tag name="KSO_WM_UNIT_TYPE" val="i"/>
  <p:tag name="KSO_WM_UNIT_ID" val="special20163066_22*i*5"/>
  <p:tag name="KSO_WM_TEMPLATE_CATEGORY" val="special"/>
  <p:tag name="KSO_WM_TEMPLATE_INDEX" val="20163066"/>
  <p:tag name="KSO_WM_UNIT_INDEX" val="5"/>
</p:tagLst>
</file>

<file path=ppt/tags/tag173.xml><?xml version="1.0" encoding="utf-8"?>
<p:tagLst xmlns:p="http://schemas.openxmlformats.org/presentationml/2006/main">
  <p:tag name="KSO_WM_TAG_VERSION" val="1.0"/>
  <p:tag name="KSO_WM_BEAUTIFY_FLAG" val=""/>
  <p:tag name="KSO_WM_UNIT_TYPE" val="i"/>
  <p:tag name="KSO_WM_UNIT_ID" val="special20163066_22*i*6"/>
  <p:tag name="KSO_WM_TEMPLATE_CATEGORY" val="special"/>
  <p:tag name="KSO_WM_TEMPLATE_INDEX" val="20163066"/>
  <p:tag name="KSO_WM_UNIT_INDEX" val="6"/>
</p:tagLst>
</file>

<file path=ppt/tags/tag174.xml><?xml version="1.0" encoding="utf-8"?>
<p:tagLst xmlns:p="http://schemas.openxmlformats.org/presentationml/2006/main">
  <p:tag name="KSO_WM_TAG_VERSION" val="1.0"/>
  <p:tag name="KSO_WM_BEAUTIFY_FLAG" val=""/>
  <p:tag name="KSO_WM_UNIT_TYPE" val="i"/>
  <p:tag name="KSO_WM_UNIT_ID" val="special20163066_22*i*7"/>
  <p:tag name="KSO_WM_TEMPLATE_CATEGORY" val="special"/>
  <p:tag name="KSO_WM_TEMPLATE_INDEX" val="20163066"/>
  <p:tag name="KSO_WM_UNIT_INDEX" val="7"/>
</p:tagLst>
</file>

<file path=ppt/tags/tag175.xml><?xml version="1.0" encoding="utf-8"?>
<p:tagLst xmlns:p="http://schemas.openxmlformats.org/presentationml/2006/main">
  <p:tag name="KSO_WM_TAG_VERSION" val="1.0"/>
  <p:tag name="KSO_WM_BEAUTIFY_FLAG" val=""/>
  <p:tag name="KSO_WM_UNIT_TYPE" val="i"/>
  <p:tag name="KSO_WM_UNIT_ID" val="special20163066_22*i*8"/>
  <p:tag name="KSO_WM_TEMPLATE_CATEGORY" val="special"/>
  <p:tag name="KSO_WM_TEMPLATE_INDEX" val="20163066"/>
  <p:tag name="KSO_WM_UNIT_INDEX" val="8"/>
</p:tagLst>
</file>

<file path=ppt/tags/tag176.xml><?xml version="1.0" encoding="utf-8"?>
<p:tagLst xmlns:p="http://schemas.openxmlformats.org/presentationml/2006/main">
  <p:tag name="KSO_WM_TAG_VERSION" val="1.0"/>
  <p:tag name="KSO_WM_BEAUTIFY_FLAG" val=""/>
  <p:tag name="KSO_WM_UNIT_TYPE" val="i"/>
  <p:tag name="KSO_WM_UNIT_ID" val="special20163066_22*i*9"/>
  <p:tag name="KSO_WM_TEMPLATE_CATEGORY" val="special"/>
  <p:tag name="KSO_WM_TEMPLATE_INDEX" val="20163066"/>
  <p:tag name="KSO_WM_UNIT_INDEX" val="9"/>
</p:tagLst>
</file>

<file path=ppt/tags/tag177.xml><?xml version="1.0" encoding="utf-8"?>
<p:tagLst xmlns:p="http://schemas.openxmlformats.org/presentationml/2006/main">
  <p:tag name="KSO_WM_TAG_VERSION" val="1.0"/>
  <p:tag name="KSO_WM_BEAUTIFY_FLAG" val=""/>
  <p:tag name="KSO_WM_UNIT_TYPE" val="i"/>
  <p:tag name="KSO_WM_UNIT_ID" val="special20163066_22*i*10"/>
  <p:tag name="KSO_WM_TEMPLATE_CATEGORY" val="special"/>
  <p:tag name="KSO_WM_TEMPLATE_INDEX" val="20163066"/>
  <p:tag name="KSO_WM_UNIT_INDEX" val="10"/>
</p:tagLst>
</file>

<file path=ppt/tags/tag178.xml><?xml version="1.0" encoding="utf-8"?>
<p:tagLst xmlns:p="http://schemas.openxmlformats.org/presentationml/2006/main">
  <p:tag name="KSO_WM_TAG_VERSION" val="1.0"/>
  <p:tag name="KSO_WM_BEAUTIFY_FLAG" val=""/>
  <p:tag name="KSO_WM_UNIT_TYPE" val="i"/>
  <p:tag name="KSO_WM_UNIT_ID" val="special20163066_22*i*11"/>
  <p:tag name="KSO_WM_TEMPLATE_CATEGORY" val="special"/>
  <p:tag name="KSO_WM_TEMPLATE_INDEX" val="20163066"/>
  <p:tag name="KSO_WM_UNIT_INDEX" val="11"/>
</p:tagLst>
</file>

<file path=ppt/tags/tag179.xml><?xml version="1.0" encoding="utf-8"?>
<p:tagLst xmlns:p="http://schemas.openxmlformats.org/presentationml/2006/main">
  <p:tag name="KSO_WM_TAG_VERSION" val="1.0"/>
  <p:tag name="KSO_WM_BEAUTIFY_FLAG" val=""/>
  <p:tag name="KSO_WM_UNIT_TYPE" val="i"/>
  <p:tag name="KSO_WM_UNIT_ID" val="special20163066_22*i*12"/>
  <p:tag name="KSO_WM_TEMPLATE_CATEGORY" val="special"/>
  <p:tag name="KSO_WM_TEMPLATE_INDEX" val="20163066"/>
  <p:tag name="KSO_WM_UNIT_INDEX" val="12"/>
</p:tagLst>
</file>

<file path=ppt/tags/tag180.xml><?xml version="1.0" encoding="utf-8"?>
<p:tagLst xmlns:p="http://schemas.openxmlformats.org/presentationml/2006/main">
  <p:tag name="KSO_WM_TAG_VERSION" val="1.0"/>
  <p:tag name="KSO_WM_BEAUTIFY_FLAG" val=""/>
  <p:tag name="KSO_WM_UNIT_TYPE" val="i"/>
  <p:tag name="KSO_WM_UNIT_ID" val="special20163066_22*i*13"/>
  <p:tag name="KSO_WM_TEMPLATE_CATEGORY" val="special"/>
  <p:tag name="KSO_WM_TEMPLATE_INDEX" val="20163066"/>
  <p:tag name="KSO_WM_UNIT_INDEX" val="13"/>
</p:tagLst>
</file>

<file path=ppt/tags/tag181.xml><?xml version="1.0" encoding="utf-8"?>
<p:tagLst xmlns:p="http://schemas.openxmlformats.org/presentationml/2006/main">
  <p:tag name="KSO_WM_TAG_VERSION" val="1.0"/>
  <p:tag name="KSO_WM_BEAUTIFY_FLAG" val=""/>
  <p:tag name="KSO_WM_UNIT_TYPE" val="i"/>
  <p:tag name="KSO_WM_UNIT_ID" val="special20163066_22*i*14"/>
  <p:tag name="KSO_WM_TEMPLATE_CATEGORY" val="special"/>
  <p:tag name="KSO_WM_TEMPLATE_INDEX" val="20163066"/>
  <p:tag name="KSO_WM_UNIT_INDEX" val="14"/>
</p:tagLst>
</file>

<file path=ppt/tags/tag182.xml><?xml version="1.0" encoding="utf-8"?>
<p:tagLst xmlns:p="http://schemas.openxmlformats.org/presentationml/2006/main">
  <p:tag name="KSO_WM_TAG_VERSION" val="1.0"/>
  <p:tag name="KSO_WM_BEAUTIFY_FLAG" val=""/>
  <p:tag name="KSO_WM_UNIT_TYPE" val="i"/>
  <p:tag name="KSO_WM_UNIT_ID" val="special20163066_22*i*15"/>
  <p:tag name="KSO_WM_TEMPLATE_CATEGORY" val="special"/>
  <p:tag name="KSO_WM_TEMPLATE_INDEX" val="20163066"/>
  <p:tag name="KSO_WM_UNIT_INDEX" val="15"/>
</p:tagLst>
</file>

<file path=ppt/tags/tag183.xml><?xml version="1.0" encoding="utf-8"?>
<p:tagLst xmlns:p="http://schemas.openxmlformats.org/presentationml/2006/main">
  <p:tag name="KSO_WM_TAG_VERSION" val="1.0"/>
  <p:tag name="KSO_WM_BEAUTIFY_FLAG" val=""/>
  <p:tag name="KSO_WM_UNIT_TYPE" val="i"/>
  <p:tag name="KSO_WM_UNIT_ID" val="special20163066_22*i*16"/>
  <p:tag name="KSO_WM_TEMPLATE_CATEGORY" val="special"/>
  <p:tag name="KSO_WM_TEMPLATE_INDEX" val="20163066"/>
  <p:tag name="KSO_WM_UNIT_INDEX" val="16"/>
</p:tagLst>
</file>

<file path=ppt/tags/tag184.xml><?xml version="1.0" encoding="utf-8"?>
<p:tagLst xmlns:p="http://schemas.openxmlformats.org/presentationml/2006/main">
  <p:tag name="KSO_WM_TAG_VERSION" val="1.0"/>
  <p:tag name="KSO_WM_BEAUTIFY_FLAG" val=""/>
  <p:tag name="KSO_WM_UNIT_TYPE" val="i"/>
  <p:tag name="KSO_WM_UNIT_ID" val="special20163066_22*i*17"/>
  <p:tag name="KSO_WM_TEMPLATE_CATEGORY" val="special"/>
  <p:tag name="KSO_WM_TEMPLATE_INDEX" val="20163066"/>
  <p:tag name="KSO_WM_UNIT_INDEX" val="17"/>
</p:tagLst>
</file>

<file path=ppt/tags/tag185.xml><?xml version="1.0" encoding="utf-8"?>
<p:tagLst xmlns:p="http://schemas.openxmlformats.org/presentationml/2006/main">
  <p:tag name="KSO_WM_TAG_VERSION" val="1.0"/>
  <p:tag name="KSO_WM_BEAUTIFY_FLAG" val=""/>
  <p:tag name="KSO_WM_UNIT_TYPE" val="i"/>
  <p:tag name="KSO_WM_UNIT_ID" val="special20163066_22*i*18"/>
  <p:tag name="KSO_WM_TEMPLATE_CATEGORY" val="special"/>
  <p:tag name="KSO_WM_TEMPLATE_INDEX" val="20163066"/>
  <p:tag name="KSO_WM_UNIT_INDEX" val="18"/>
</p:tagLst>
</file>

<file path=ppt/tags/tag186.xml><?xml version="1.0" encoding="utf-8"?>
<p:tagLst xmlns:p="http://schemas.openxmlformats.org/presentationml/2006/main">
  <p:tag name="KSO_WM_TAG_VERSION" val="1.0"/>
  <p:tag name="KSO_WM_BEAUTIFY_FLAG" val=""/>
  <p:tag name="KSO_WM_UNIT_TYPE" val="i"/>
  <p:tag name="KSO_WM_UNIT_ID" val="special20163066_22*i*19"/>
  <p:tag name="KSO_WM_TEMPLATE_CATEGORY" val="special"/>
  <p:tag name="KSO_WM_TEMPLATE_INDEX" val="20163066"/>
  <p:tag name="KSO_WM_UNIT_INDEX" val="19"/>
</p:tagLst>
</file>

<file path=ppt/tags/tag187.xml><?xml version="1.0" encoding="utf-8"?>
<p:tagLst xmlns:p="http://schemas.openxmlformats.org/presentationml/2006/main">
  <p:tag name="KSO_WM_BEAUTIFY_FLAG" val="#wm#"/>
  <p:tag name="KSO_WM_TEMPLATE_CATEGORY" val="custom"/>
  <p:tag name="KSO_WM_TEMPLATE_INDEX" val="20205081"/>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wm#"/>
  <p:tag name="KSO_WM_TEMPLATE_CATEGORY" val="custom"/>
  <p:tag name="KSO_WM_TEMPLATE_INDEX" val="20205081"/>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wm#"/>
  <p:tag name="KSO_WM_TEMPLATE_CATEGORY" val="custom"/>
  <p:tag name="KSO_WM_TEMPLATE_INDEX" val="20205081"/>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wm#"/>
  <p:tag name="KSO_WM_TEMPLATE_CATEGORY" val="custom"/>
  <p:tag name="KSO_WM_TEMPLATE_INDEX" val="20205081"/>
</p:tagLst>
</file>

<file path=ppt/tags/tag201.xml><?xml version="1.0" encoding="utf-8"?>
<p:tagLst xmlns:p="http://schemas.openxmlformats.org/presentationml/2006/main">
  <p:tag name="commondata" val="eyJoZGlkIjoiMTdhZGE3ZWJmN2YwNzZhN2U1ZDczMGY4Y2RlZDY3ZTcifQ=="/>
</p:tagLst>
</file>

<file path=ppt/theme/theme1.xml><?xml version="1.0" encoding="utf-8"?>
<a:theme xmlns:a="http://schemas.openxmlformats.org/drawingml/2006/main" name="WPS">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2759</Words>
  <Application>WPS 演示</Application>
  <PresentationFormat>宽屏</PresentationFormat>
  <Paragraphs>278</Paragraphs>
  <Slides>25</Slides>
  <Notes>4</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25</vt:i4>
      </vt:variant>
    </vt:vector>
  </HeadingPairs>
  <TitlesOfParts>
    <vt:vector size="45" baseType="lpstr">
      <vt:lpstr>Arial</vt:lpstr>
      <vt:lpstr>宋体</vt:lpstr>
      <vt:lpstr>Wingdings</vt:lpstr>
      <vt:lpstr>Wingdings</vt:lpstr>
      <vt:lpstr>微软雅黑</vt:lpstr>
      <vt:lpstr>黑体</vt:lpstr>
      <vt:lpstr>Impact</vt:lpstr>
      <vt:lpstr>方正舒体</vt:lpstr>
      <vt:lpstr>Times New Roman</vt:lpstr>
      <vt:lpstr>幼圆</vt:lpstr>
      <vt:lpstr>Times New Roman</vt:lpstr>
      <vt:lpstr>Arial Unicode MS</vt:lpstr>
      <vt:lpstr>Calibri</vt:lpstr>
      <vt:lpstr>Tahoma</vt:lpstr>
      <vt:lpstr>楷体</vt:lpstr>
      <vt:lpstr>Curlz MT</vt:lpstr>
      <vt:lpstr>Gabriola</vt:lpstr>
      <vt:lpstr>Kozuka Gothic Pr6N B</vt:lpstr>
      <vt:lpstr>Yu Gothic</vt:lpstr>
      <vt:lpstr>WPS</vt:lpstr>
      <vt:lpstr>变压器   Tranformer</vt:lpstr>
      <vt:lpstr>PowerPoint 演示文稿</vt:lpstr>
      <vt:lpstr>PowerPoint 演示文稿</vt:lpstr>
      <vt:lpstr>01 变压器简介</vt:lpstr>
      <vt:lpstr>PowerPoint 演示文稿</vt:lpstr>
      <vt:lpstr>02 变压器组成</vt:lpstr>
      <vt:lpstr>02 变压器组成</vt:lpstr>
      <vt:lpstr>02 变压器组成</vt:lpstr>
      <vt:lpstr>02 变压器组成</vt:lpstr>
      <vt:lpstr>02 变压器组成</vt:lpstr>
      <vt:lpstr>02 变压器组成</vt:lpstr>
      <vt:lpstr>02 变压器组成</vt:lpstr>
      <vt:lpstr>PowerPoint 演示文稿</vt:lpstr>
      <vt:lpstr>02 变压器组成</vt:lpstr>
      <vt:lpstr>PowerPoint 演示文稿</vt:lpstr>
      <vt:lpstr>PowerPoint 演示文稿</vt:lpstr>
      <vt:lpstr>03 变压器分类</vt:lpstr>
      <vt:lpstr>03 变压器分类</vt:lpstr>
      <vt:lpstr>03 变压器分类</vt:lpstr>
      <vt:lpstr>03 变压器分类</vt:lpstr>
      <vt:lpstr>PowerPoint 演示文稿</vt:lpstr>
      <vt:lpstr>04 冷却方式</vt:lpstr>
      <vt:lpstr>04 冷却方式</vt:lpstr>
      <vt:lpstr>油变主要冷却装置</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SamShen</cp:lastModifiedBy>
  <cp:revision>162</cp:revision>
  <dcterms:created xsi:type="dcterms:W3CDTF">2019-06-19T02:08:00Z</dcterms:created>
  <dcterms:modified xsi:type="dcterms:W3CDTF">2023-11-16T06:37:31Z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2714BC2042754196817988410A36725A</vt:lpwstr>
  </property>
</Properties>
</file>