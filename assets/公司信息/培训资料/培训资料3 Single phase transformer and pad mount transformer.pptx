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3"/>
    <p:sldId id="261" r:id="rId4"/>
    <p:sldId id="383" r:id="rId5"/>
    <p:sldId id="381" r:id="rId6"/>
    <p:sldId id="262" r:id="rId7"/>
    <p:sldId id="376" r:id="rId8"/>
    <p:sldId id="259" r:id="rId9"/>
    <p:sldId id="380" r:id="rId11"/>
    <p:sldId id="406" r:id="rId12"/>
    <p:sldId id="260" r:id="rId13"/>
    <p:sldId id="265" r:id="rId14"/>
    <p:sldId id="371" r:id="rId15"/>
    <p:sldId id="266" r:id="rId16"/>
    <p:sldId id="372" r:id="rId17"/>
    <p:sldId id="373" r:id="rId18"/>
    <p:sldId id="374" r:id="rId19"/>
    <p:sldId id="274" r:id="rId20"/>
    <p:sldId id="279" r:id="rId21"/>
    <p:sldId id="377" r:id="rId22"/>
    <p:sldId id="382" r:id="rId23"/>
    <p:sldId id="379" r:id="rId24"/>
    <p:sldId id="294" r:id="rId25"/>
    <p:sldId id="378" r:id="rId26"/>
    <p:sldId id="280" r:id="rId27"/>
    <p:sldId id="290" r:id="rId28"/>
    <p:sldId id="292" r:id="rId29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00"/>
        <p:guide pos="283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87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229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9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1440" tIns="45720" rIns="91440" bIns="45720" rtlCol="0" anchor="b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+mn-ea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1440" tIns="45720" rIns="91440" bIns="45720" rtlCol="0" anchor="b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+mn-ea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4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4558" t="41307" r="40846" b="11092"/>
          <a:stretch>
            <a:fillRect/>
          </a:stretch>
        </p:blipFill>
        <p:spPr>
          <a:xfrm>
            <a:off x="3706813" y="1514475"/>
            <a:ext cx="1730375" cy="120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068286" y="2714174"/>
            <a:ext cx="5007429" cy="940930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578B18"/>
                </a:solidFill>
              </a:defRPr>
            </a:lvl1pPr>
          </a:lstStyle>
          <a:p>
            <a:pPr fontAlgn="auto"/>
            <a:r>
              <a:rPr lang="zh-CN" altLang="en-US" sz="4050" strike="noStrike" noProof="1" dirty="0" smtClean="0"/>
              <a:t>编辑标题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68286" y="3674609"/>
            <a:ext cx="5007429" cy="76676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dirty="0" smtClean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4558" t="41307" r="40846" b="11092"/>
          <a:stretch>
            <a:fillRect/>
          </a:stretch>
        </p:blipFill>
        <p:spPr>
          <a:xfrm>
            <a:off x="234950" y="4862513"/>
            <a:ext cx="2811463" cy="1951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C2061DBB-08A7-4503-9750-00B00168923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1026A298-7DD5-4EA5-AAE7-190085570BF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278688" y="3279775"/>
            <a:ext cx="1579562" cy="3076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14690" y="2078990"/>
            <a:ext cx="3840002" cy="107444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578B18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214690" y="3180423"/>
            <a:ext cx="4064792" cy="115451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78B18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 smtClean="0"/>
              <a:t>编辑文本</a:t>
            </a:r>
            <a:endParaRPr lang="zh-CN" altLang="en-US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78438"/>
            <a:ext cx="3965122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2665379"/>
            <a:ext cx="3965122" cy="3524284"/>
          </a:xfrm>
        </p:spPr>
        <p:txBody>
          <a:bodyPr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80858" y="1778438"/>
            <a:ext cx="3834493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80858" y="2665379"/>
            <a:ext cx="3834493" cy="3524284"/>
          </a:xfrm>
        </p:spPr>
        <p:txBody>
          <a:bodyPr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4558" t="41307" r="40846" b="11092"/>
          <a:stretch>
            <a:fillRect/>
          </a:stretch>
        </p:blipFill>
        <p:spPr>
          <a:xfrm>
            <a:off x="498475" y="4699000"/>
            <a:ext cx="3279775" cy="2278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63486" y="2281012"/>
            <a:ext cx="5617029" cy="1623330"/>
          </a:xfrm>
        </p:spPr>
        <p:txBody>
          <a:bodyPr>
            <a:normAutofit/>
          </a:bodyPr>
          <a:lstStyle>
            <a:lvl1pPr algn="ctr">
              <a:defRPr sz="7200">
                <a:solidFill>
                  <a:srgbClr val="578B18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r>
              <a:rPr lang="zh-CN" altLang="en-US" strike="noStrike" noProof="1" smtClean="0"/>
              <a:t>图片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93428" y="365125"/>
            <a:ext cx="1221922" cy="5811838"/>
          </a:xfrm>
        </p:spPr>
        <p:txBody>
          <a:bodyPr vert="eaVert">
            <a:normAutofit/>
          </a:bodyPr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501493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7.xml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5"/>
            <a:ext cx="7886700" cy="11160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628650" y="1668463"/>
            <a:ext cx="7886700" cy="45085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171450"/>
            <a:r>
              <a:rPr lang="zh-CN" altLang="en-US" dirty="0"/>
              <a:t>第二级</a:t>
            </a:r>
            <a:endParaRPr lang="zh-CN" altLang="en-US" dirty="0"/>
          </a:p>
          <a:p>
            <a:pPr lvl="2" indent="-171450"/>
            <a:r>
              <a:rPr lang="zh-CN" altLang="en-US" dirty="0"/>
              <a:t>第三级</a:t>
            </a:r>
            <a:endParaRPr lang="zh-CN" altLang="en-US" dirty="0"/>
          </a:p>
          <a:p>
            <a:pPr lvl="3" indent="-171450"/>
            <a:r>
              <a:rPr lang="zh-CN" altLang="en-US" dirty="0"/>
              <a:t>第四级</a:t>
            </a:r>
            <a:endParaRPr lang="zh-CN" altLang="en-US" dirty="0"/>
          </a:p>
          <a:p>
            <a:pPr lvl="4" indent="-17145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82F288E0-7875-42C4-84C8-98DBBD3BF4D2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7D9BB5D0-35E4-459D-AEF3-FE4D7C45CC19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4.xml"/><Relationship Id="rId13" Type="http://schemas.openxmlformats.org/officeDocument/2006/relationships/image" Target="../media/image2.png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30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4.xml"/><Relationship Id="rId2" Type="http://schemas.openxmlformats.org/officeDocument/2006/relationships/image" Target="../media/image11.png"/><Relationship Id="rId1" Type="http://schemas.openxmlformats.org/officeDocument/2006/relationships/tags" Target="../tags/tag3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35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38.xml"/><Relationship Id="rId3" Type="http://schemas.openxmlformats.org/officeDocument/2006/relationships/image" Target="../media/image14.png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9.xml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2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3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4.xml"/><Relationship Id="rId1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60.xml"/><Relationship Id="rId14" Type="http://schemas.openxmlformats.org/officeDocument/2006/relationships/image" Target="../media/image19.png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1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2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76.xml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文本框 6"/>
          <p:cNvSpPr txBox="1"/>
          <p:nvPr>
            <p:custDataLst>
              <p:tags r:id="rId1"/>
            </p:custDataLst>
          </p:nvPr>
        </p:nvSpPr>
        <p:spPr>
          <a:xfrm>
            <a:off x="1422400" y="2776538"/>
            <a:ext cx="6148388" cy="7159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algn="ctr"/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charset="-122"/>
              </a:rPr>
              <a:t>单相变压器和美式箱变                                                                      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charset="-122"/>
              </a:rPr>
              <a:t>Single Phase Tranformer and Pad Mounted Transformer</a:t>
            </a:r>
            <a:endParaRPr lang="en-US" altLang="zh-CN" sz="2000" b="1" dirty="0">
              <a:solidFill>
                <a:srgbClr val="578B18"/>
              </a:solidFill>
              <a:latin typeface="Arial" panose="020B0604020202020204" pitchFamily="34" charset="0"/>
              <a:ea typeface="宋体" panose="02010600030101010101" pitchFamily="2" charset="-122"/>
              <a:sym typeface="黑体" panose="02010609060101010101" charset="-122"/>
            </a:endParaRPr>
          </a:p>
        </p:txBody>
      </p:sp>
      <p:sp>
        <p:nvSpPr>
          <p:cNvPr id="3076" name="文本框 3075"/>
          <p:cNvSpPr txBox="1"/>
          <p:nvPr>
            <p:custDataLst>
              <p:tags r:id="rId2"/>
            </p:custDataLst>
          </p:nvPr>
        </p:nvSpPr>
        <p:spPr>
          <a:xfrm>
            <a:off x="3933825" y="4486275"/>
            <a:ext cx="1123950" cy="27781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0000" tIns="46800" rIns="90000" bIns="46800" anchor="t">
            <a:normAutofit fontScale="90000"/>
          </a:bodyPr>
          <a:lstStyle/>
          <a:p>
            <a:pPr eaLnBrk="0" hangingPunct="0"/>
            <a:r>
              <a:rPr lang="zh-CN" altLang="en-US" sz="1200" b="1" noProof="1" dirty="0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部门：电力部</a:t>
            </a:r>
            <a:endParaRPr lang="zh-CN" altLang="en-US" sz="1200" b="1" noProof="1" dirty="0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5" name="文本框 10"/>
          <p:cNvSpPr txBox="1"/>
          <p:nvPr>
            <p:custDataLst>
              <p:tags r:id="rId3"/>
            </p:custDataLst>
          </p:nvPr>
        </p:nvSpPr>
        <p:spPr>
          <a:xfrm>
            <a:off x="1577975" y="4051300"/>
            <a:ext cx="5838825" cy="43497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algn="ctr" eaLnBrk="0" hangingPunct="0"/>
            <a:r>
              <a:rPr lang="en-US" altLang="zh-CN" sz="1500" dirty="0">
                <a:solidFill>
                  <a:srgbClr val="404040"/>
                </a:solidFill>
                <a:latin typeface="Meiryo" charset="-128"/>
                <a:ea typeface="Meiryo" charset="-128"/>
              </a:rPr>
              <a:t> </a:t>
            </a:r>
            <a:r>
              <a:rPr lang="zh-CN" altLang="zh-CN" sz="2000">
                <a:sym typeface="+mn-ea"/>
              </a:rPr>
              <a:t>沈阳节奏能源科技有限公司</a:t>
            </a:r>
            <a:endParaRPr lang="zh-CN" altLang="zh-CN" sz="1500" kern="1200" baseline="0" dirty="0">
              <a:solidFill>
                <a:srgbClr val="979797"/>
              </a:solidFill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  <a:p>
            <a:pPr algn="ctr" eaLnBrk="0" hangingPunct="0"/>
            <a:endParaRPr lang="zh-CN" altLang="zh-CN" sz="15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sz="1500" dirty="0">
              <a:solidFill>
                <a:srgbClr val="404040"/>
              </a:solidFill>
              <a:latin typeface="Meiryo" charset="-128"/>
              <a:ea typeface="Meiryo" charset="-128"/>
            </a:endParaRPr>
          </a:p>
        </p:txBody>
      </p:sp>
      <p:sp>
        <p:nvSpPr>
          <p:cNvPr id="20" name="Freeform 15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4978400" y="3944938"/>
            <a:ext cx="185738" cy="192088"/>
          </a:xfrm>
          <a:custGeom>
            <a:avLst/>
            <a:gdLst>
              <a:gd name="T0" fmla="*/ 641 w 792"/>
              <a:gd name="T1" fmla="*/ 278 h 954"/>
              <a:gd name="T2" fmla="*/ 639 w 792"/>
              <a:gd name="T3" fmla="*/ 331 h 954"/>
              <a:gd name="T4" fmla="*/ 623 w 792"/>
              <a:gd name="T5" fmla="*/ 376 h 954"/>
              <a:gd name="T6" fmla="*/ 598 w 792"/>
              <a:gd name="T7" fmla="*/ 403 h 954"/>
              <a:gd name="T8" fmla="*/ 559 w 792"/>
              <a:gd name="T9" fmla="*/ 497 h 954"/>
              <a:gd name="T10" fmla="*/ 516 w 792"/>
              <a:gd name="T11" fmla="*/ 546 h 954"/>
              <a:gd name="T12" fmla="*/ 481 w 792"/>
              <a:gd name="T13" fmla="*/ 567 h 954"/>
              <a:gd name="T14" fmla="*/ 387 w 792"/>
              <a:gd name="T15" fmla="*/ 573 h 954"/>
              <a:gd name="T16" fmla="*/ 313 w 792"/>
              <a:gd name="T17" fmla="*/ 567 h 954"/>
              <a:gd name="T18" fmla="*/ 258 w 792"/>
              <a:gd name="T19" fmla="*/ 534 h 954"/>
              <a:gd name="T20" fmla="*/ 217 w 792"/>
              <a:gd name="T21" fmla="*/ 473 h 954"/>
              <a:gd name="T22" fmla="*/ 182 w 792"/>
              <a:gd name="T23" fmla="*/ 397 h 954"/>
              <a:gd name="T24" fmla="*/ 160 w 792"/>
              <a:gd name="T25" fmla="*/ 364 h 954"/>
              <a:gd name="T26" fmla="*/ 150 w 792"/>
              <a:gd name="T27" fmla="*/ 288 h 954"/>
              <a:gd name="T28" fmla="*/ 164 w 792"/>
              <a:gd name="T29" fmla="*/ 268 h 954"/>
              <a:gd name="T30" fmla="*/ 160 w 792"/>
              <a:gd name="T31" fmla="*/ 161 h 954"/>
              <a:gd name="T32" fmla="*/ 188 w 792"/>
              <a:gd name="T33" fmla="*/ 71 h 954"/>
              <a:gd name="T34" fmla="*/ 240 w 792"/>
              <a:gd name="T35" fmla="*/ 30 h 954"/>
              <a:gd name="T36" fmla="*/ 336 w 792"/>
              <a:gd name="T37" fmla="*/ 4 h 954"/>
              <a:gd name="T38" fmla="*/ 442 w 792"/>
              <a:gd name="T39" fmla="*/ 4 h 954"/>
              <a:gd name="T40" fmla="*/ 539 w 792"/>
              <a:gd name="T41" fmla="*/ 28 h 954"/>
              <a:gd name="T42" fmla="*/ 598 w 792"/>
              <a:gd name="T43" fmla="*/ 71 h 954"/>
              <a:gd name="T44" fmla="*/ 633 w 792"/>
              <a:gd name="T45" fmla="*/ 170 h 954"/>
              <a:gd name="T46" fmla="*/ 623 w 792"/>
              <a:gd name="T47" fmla="*/ 268 h 954"/>
              <a:gd name="T48" fmla="*/ 448 w 792"/>
              <a:gd name="T49" fmla="*/ 819 h 954"/>
              <a:gd name="T50" fmla="*/ 696 w 792"/>
              <a:gd name="T51" fmla="*/ 628 h 954"/>
              <a:gd name="T52" fmla="*/ 743 w 792"/>
              <a:gd name="T53" fmla="*/ 702 h 954"/>
              <a:gd name="T54" fmla="*/ 790 w 792"/>
              <a:gd name="T55" fmla="*/ 864 h 954"/>
              <a:gd name="T56" fmla="*/ 792 w 792"/>
              <a:gd name="T57" fmla="*/ 954 h 954"/>
              <a:gd name="T58" fmla="*/ 6 w 792"/>
              <a:gd name="T59" fmla="*/ 872 h 954"/>
              <a:gd name="T60" fmla="*/ 37 w 792"/>
              <a:gd name="T61" fmla="*/ 735 h 954"/>
              <a:gd name="T62" fmla="*/ 82 w 792"/>
              <a:gd name="T63" fmla="*/ 653 h 954"/>
              <a:gd name="T64" fmla="*/ 362 w 792"/>
              <a:gd name="T65" fmla="*/ 817 h 954"/>
              <a:gd name="T66" fmla="*/ 369 w 792"/>
              <a:gd name="T67" fmla="*/ 616 h 954"/>
              <a:gd name="T68" fmla="*/ 547 w 792"/>
              <a:gd name="T69" fmla="*/ 225 h 954"/>
              <a:gd name="T70" fmla="*/ 446 w 792"/>
              <a:gd name="T71" fmla="*/ 235 h 954"/>
              <a:gd name="T72" fmla="*/ 340 w 792"/>
              <a:gd name="T73" fmla="*/ 209 h 954"/>
              <a:gd name="T74" fmla="*/ 307 w 792"/>
              <a:gd name="T75" fmla="*/ 206 h 954"/>
              <a:gd name="T76" fmla="*/ 246 w 792"/>
              <a:gd name="T77" fmla="*/ 221 h 954"/>
              <a:gd name="T78" fmla="*/ 223 w 792"/>
              <a:gd name="T79" fmla="*/ 299 h 954"/>
              <a:gd name="T80" fmla="*/ 193 w 792"/>
              <a:gd name="T81" fmla="*/ 299 h 954"/>
              <a:gd name="T82" fmla="*/ 195 w 792"/>
              <a:gd name="T83" fmla="*/ 340 h 954"/>
              <a:gd name="T84" fmla="*/ 205 w 792"/>
              <a:gd name="T85" fmla="*/ 364 h 954"/>
              <a:gd name="T86" fmla="*/ 229 w 792"/>
              <a:gd name="T87" fmla="*/ 385 h 954"/>
              <a:gd name="T88" fmla="*/ 262 w 792"/>
              <a:gd name="T89" fmla="*/ 473 h 954"/>
              <a:gd name="T90" fmla="*/ 299 w 792"/>
              <a:gd name="T91" fmla="*/ 518 h 954"/>
              <a:gd name="T92" fmla="*/ 344 w 792"/>
              <a:gd name="T93" fmla="*/ 532 h 954"/>
              <a:gd name="T94" fmla="*/ 455 w 792"/>
              <a:gd name="T95" fmla="*/ 530 h 954"/>
              <a:gd name="T96" fmla="*/ 500 w 792"/>
              <a:gd name="T97" fmla="*/ 507 h 954"/>
              <a:gd name="T98" fmla="*/ 537 w 792"/>
              <a:gd name="T99" fmla="*/ 456 h 954"/>
              <a:gd name="T100" fmla="*/ 563 w 792"/>
              <a:gd name="T101" fmla="*/ 374 h 954"/>
              <a:gd name="T102" fmla="*/ 584 w 792"/>
              <a:gd name="T103" fmla="*/ 362 h 954"/>
              <a:gd name="T104" fmla="*/ 598 w 792"/>
              <a:gd name="T105" fmla="*/ 327 h 954"/>
              <a:gd name="T106" fmla="*/ 596 w 792"/>
              <a:gd name="T107" fmla="*/ 299 h 954"/>
              <a:gd name="T108" fmla="*/ 565 w 792"/>
              <a:gd name="T109" fmla="*/ 280 h 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792" h="954">
                <a:moveTo>
                  <a:pt x="623" y="268"/>
                </a:moveTo>
                <a:lnTo>
                  <a:pt x="623" y="268"/>
                </a:lnTo>
                <a:lnTo>
                  <a:pt x="631" y="272"/>
                </a:lnTo>
                <a:lnTo>
                  <a:pt x="641" y="278"/>
                </a:lnTo>
                <a:lnTo>
                  <a:pt x="641" y="288"/>
                </a:lnTo>
                <a:lnTo>
                  <a:pt x="641" y="288"/>
                </a:lnTo>
                <a:lnTo>
                  <a:pt x="641" y="311"/>
                </a:lnTo>
                <a:lnTo>
                  <a:pt x="639" y="331"/>
                </a:lnTo>
                <a:lnTo>
                  <a:pt x="635" y="348"/>
                </a:lnTo>
                <a:lnTo>
                  <a:pt x="629" y="364"/>
                </a:lnTo>
                <a:lnTo>
                  <a:pt x="629" y="364"/>
                </a:lnTo>
                <a:lnTo>
                  <a:pt x="623" y="376"/>
                </a:lnTo>
                <a:lnTo>
                  <a:pt x="616" y="387"/>
                </a:lnTo>
                <a:lnTo>
                  <a:pt x="608" y="397"/>
                </a:lnTo>
                <a:lnTo>
                  <a:pt x="598" y="403"/>
                </a:lnTo>
                <a:lnTo>
                  <a:pt x="598" y="403"/>
                </a:lnTo>
                <a:lnTo>
                  <a:pt x="590" y="430"/>
                </a:lnTo>
                <a:lnTo>
                  <a:pt x="582" y="454"/>
                </a:lnTo>
                <a:lnTo>
                  <a:pt x="571" y="477"/>
                </a:lnTo>
                <a:lnTo>
                  <a:pt x="559" y="497"/>
                </a:lnTo>
                <a:lnTo>
                  <a:pt x="559" y="497"/>
                </a:lnTo>
                <a:lnTo>
                  <a:pt x="545" y="520"/>
                </a:lnTo>
                <a:lnTo>
                  <a:pt x="526" y="538"/>
                </a:lnTo>
                <a:lnTo>
                  <a:pt x="516" y="546"/>
                </a:lnTo>
                <a:lnTo>
                  <a:pt x="506" y="554"/>
                </a:lnTo>
                <a:lnTo>
                  <a:pt x="494" y="561"/>
                </a:lnTo>
                <a:lnTo>
                  <a:pt x="481" y="567"/>
                </a:lnTo>
                <a:lnTo>
                  <a:pt x="481" y="567"/>
                </a:lnTo>
                <a:lnTo>
                  <a:pt x="465" y="569"/>
                </a:lnTo>
                <a:lnTo>
                  <a:pt x="442" y="573"/>
                </a:lnTo>
                <a:lnTo>
                  <a:pt x="416" y="573"/>
                </a:lnTo>
                <a:lnTo>
                  <a:pt x="387" y="573"/>
                </a:lnTo>
                <a:lnTo>
                  <a:pt x="387" y="573"/>
                </a:lnTo>
                <a:lnTo>
                  <a:pt x="360" y="573"/>
                </a:lnTo>
                <a:lnTo>
                  <a:pt x="334" y="571"/>
                </a:lnTo>
                <a:lnTo>
                  <a:pt x="313" y="567"/>
                </a:lnTo>
                <a:lnTo>
                  <a:pt x="299" y="563"/>
                </a:lnTo>
                <a:lnTo>
                  <a:pt x="299" y="563"/>
                </a:lnTo>
                <a:lnTo>
                  <a:pt x="276" y="550"/>
                </a:lnTo>
                <a:lnTo>
                  <a:pt x="258" y="534"/>
                </a:lnTo>
                <a:lnTo>
                  <a:pt x="242" y="516"/>
                </a:lnTo>
                <a:lnTo>
                  <a:pt x="227" y="493"/>
                </a:lnTo>
                <a:lnTo>
                  <a:pt x="227" y="493"/>
                </a:lnTo>
                <a:lnTo>
                  <a:pt x="217" y="473"/>
                </a:lnTo>
                <a:lnTo>
                  <a:pt x="209" y="450"/>
                </a:lnTo>
                <a:lnTo>
                  <a:pt x="195" y="405"/>
                </a:lnTo>
                <a:lnTo>
                  <a:pt x="195" y="405"/>
                </a:lnTo>
                <a:lnTo>
                  <a:pt x="182" y="397"/>
                </a:lnTo>
                <a:lnTo>
                  <a:pt x="174" y="389"/>
                </a:lnTo>
                <a:lnTo>
                  <a:pt x="166" y="378"/>
                </a:lnTo>
                <a:lnTo>
                  <a:pt x="160" y="364"/>
                </a:lnTo>
                <a:lnTo>
                  <a:pt x="160" y="364"/>
                </a:lnTo>
                <a:lnTo>
                  <a:pt x="156" y="350"/>
                </a:lnTo>
                <a:lnTo>
                  <a:pt x="152" y="331"/>
                </a:lnTo>
                <a:lnTo>
                  <a:pt x="150" y="311"/>
                </a:lnTo>
                <a:lnTo>
                  <a:pt x="150" y="288"/>
                </a:lnTo>
                <a:lnTo>
                  <a:pt x="150" y="278"/>
                </a:lnTo>
                <a:lnTo>
                  <a:pt x="158" y="272"/>
                </a:lnTo>
                <a:lnTo>
                  <a:pt x="158" y="272"/>
                </a:lnTo>
                <a:lnTo>
                  <a:pt x="164" y="268"/>
                </a:lnTo>
                <a:lnTo>
                  <a:pt x="164" y="268"/>
                </a:lnTo>
                <a:lnTo>
                  <a:pt x="162" y="227"/>
                </a:lnTo>
                <a:lnTo>
                  <a:pt x="160" y="192"/>
                </a:lnTo>
                <a:lnTo>
                  <a:pt x="160" y="161"/>
                </a:lnTo>
                <a:lnTo>
                  <a:pt x="164" y="135"/>
                </a:lnTo>
                <a:lnTo>
                  <a:pt x="168" y="112"/>
                </a:lnTo>
                <a:lnTo>
                  <a:pt x="176" y="92"/>
                </a:lnTo>
                <a:lnTo>
                  <a:pt x="188" y="71"/>
                </a:lnTo>
                <a:lnTo>
                  <a:pt x="203" y="53"/>
                </a:lnTo>
                <a:lnTo>
                  <a:pt x="203" y="53"/>
                </a:lnTo>
                <a:lnTo>
                  <a:pt x="219" y="41"/>
                </a:lnTo>
                <a:lnTo>
                  <a:pt x="240" y="30"/>
                </a:lnTo>
                <a:lnTo>
                  <a:pt x="262" y="20"/>
                </a:lnTo>
                <a:lnTo>
                  <a:pt x="285" y="14"/>
                </a:lnTo>
                <a:lnTo>
                  <a:pt x="311" y="8"/>
                </a:lnTo>
                <a:lnTo>
                  <a:pt x="336" y="4"/>
                </a:lnTo>
                <a:lnTo>
                  <a:pt x="362" y="2"/>
                </a:lnTo>
                <a:lnTo>
                  <a:pt x="389" y="0"/>
                </a:lnTo>
                <a:lnTo>
                  <a:pt x="416" y="2"/>
                </a:lnTo>
                <a:lnTo>
                  <a:pt x="442" y="4"/>
                </a:lnTo>
                <a:lnTo>
                  <a:pt x="469" y="8"/>
                </a:lnTo>
                <a:lnTo>
                  <a:pt x="494" y="12"/>
                </a:lnTo>
                <a:lnTo>
                  <a:pt x="518" y="20"/>
                </a:lnTo>
                <a:lnTo>
                  <a:pt x="539" y="28"/>
                </a:lnTo>
                <a:lnTo>
                  <a:pt x="559" y="39"/>
                </a:lnTo>
                <a:lnTo>
                  <a:pt x="577" y="49"/>
                </a:lnTo>
                <a:lnTo>
                  <a:pt x="577" y="49"/>
                </a:lnTo>
                <a:lnTo>
                  <a:pt x="598" y="71"/>
                </a:lnTo>
                <a:lnTo>
                  <a:pt x="612" y="94"/>
                </a:lnTo>
                <a:lnTo>
                  <a:pt x="623" y="116"/>
                </a:lnTo>
                <a:lnTo>
                  <a:pt x="629" y="143"/>
                </a:lnTo>
                <a:lnTo>
                  <a:pt x="633" y="170"/>
                </a:lnTo>
                <a:lnTo>
                  <a:pt x="633" y="200"/>
                </a:lnTo>
                <a:lnTo>
                  <a:pt x="629" y="233"/>
                </a:lnTo>
                <a:lnTo>
                  <a:pt x="623" y="268"/>
                </a:lnTo>
                <a:lnTo>
                  <a:pt x="623" y="268"/>
                </a:lnTo>
                <a:close/>
                <a:moveTo>
                  <a:pt x="440" y="616"/>
                </a:moveTo>
                <a:lnTo>
                  <a:pt x="442" y="643"/>
                </a:lnTo>
                <a:lnTo>
                  <a:pt x="426" y="669"/>
                </a:lnTo>
                <a:lnTo>
                  <a:pt x="448" y="819"/>
                </a:lnTo>
                <a:lnTo>
                  <a:pt x="541" y="618"/>
                </a:lnTo>
                <a:lnTo>
                  <a:pt x="684" y="614"/>
                </a:lnTo>
                <a:lnTo>
                  <a:pt x="684" y="614"/>
                </a:lnTo>
                <a:lnTo>
                  <a:pt x="696" y="628"/>
                </a:lnTo>
                <a:lnTo>
                  <a:pt x="709" y="645"/>
                </a:lnTo>
                <a:lnTo>
                  <a:pt x="721" y="661"/>
                </a:lnTo>
                <a:lnTo>
                  <a:pt x="733" y="681"/>
                </a:lnTo>
                <a:lnTo>
                  <a:pt x="743" y="702"/>
                </a:lnTo>
                <a:lnTo>
                  <a:pt x="754" y="722"/>
                </a:lnTo>
                <a:lnTo>
                  <a:pt x="770" y="769"/>
                </a:lnTo>
                <a:lnTo>
                  <a:pt x="782" y="817"/>
                </a:lnTo>
                <a:lnTo>
                  <a:pt x="790" y="864"/>
                </a:lnTo>
                <a:lnTo>
                  <a:pt x="792" y="911"/>
                </a:lnTo>
                <a:lnTo>
                  <a:pt x="792" y="931"/>
                </a:lnTo>
                <a:lnTo>
                  <a:pt x="792" y="954"/>
                </a:lnTo>
                <a:lnTo>
                  <a:pt x="792" y="954"/>
                </a:lnTo>
                <a:lnTo>
                  <a:pt x="0" y="954"/>
                </a:lnTo>
                <a:lnTo>
                  <a:pt x="0" y="954"/>
                </a:lnTo>
                <a:lnTo>
                  <a:pt x="2" y="915"/>
                </a:lnTo>
                <a:lnTo>
                  <a:pt x="6" y="872"/>
                </a:lnTo>
                <a:lnTo>
                  <a:pt x="12" y="827"/>
                </a:lnTo>
                <a:lnTo>
                  <a:pt x="23" y="782"/>
                </a:lnTo>
                <a:lnTo>
                  <a:pt x="29" y="757"/>
                </a:lnTo>
                <a:lnTo>
                  <a:pt x="37" y="735"/>
                </a:lnTo>
                <a:lnTo>
                  <a:pt x="47" y="712"/>
                </a:lnTo>
                <a:lnTo>
                  <a:pt x="57" y="692"/>
                </a:lnTo>
                <a:lnTo>
                  <a:pt x="68" y="671"/>
                </a:lnTo>
                <a:lnTo>
                  <a:pt x="82" y="653"/>
                </a:lnTo>
                <a:lnTo>
                  <a:pt x="96" y="634"/>
                </a:lnTo>
                <a:lnTo>
                  <a:pt x="113" y="618"/>
                </a:lnTo>
                <a:lnTo>
                  <a:pt x="242" y="620"/>
                </a:lnTo>
                <a:lnTo>
                  <a:pt x="362" y="817"/>
                </a:lnTo>
                <a:lnTo>
                  <a:pt x="385" y="669"/>
                </a:lnTo>
                <a:lnTo>
                  <a:pt x="369" y="643"/>
                </a:lnTo>
                <a:lnTo>
                  <a:pt x="369" y="616"/>
                </a:lnTo>
                <a:lnTo>
                  <a:pt x="369" y="616"/>
                </a:lnTo>
                <a:lnTo>
                  <a:pt x="405" y="614"/>
                </a:lnTo>
                <a:lnTo>
                  <a:pt x="440" y="616"/>
                </a:lnTo>
                <a:lnTo>
                  <a:pt x="440" y="616"/>
                </a:lnTo>
                <a:close/>
                <a:moveTo>
                  <a:pt x="547" y="225"/>
                </a:moveTo>
                <a:lnTo>
                  <a:pt x="547" y="225"/>
                </a:lnTo>
                <a:lnTo>
                  <a:pt x="500" y="231"/>
                </a:lnTo>
                <a:lnTo>
                  <a:pt x="473" y="235"/>
                </a:lnTo>
                <a:lnTo>
                  <a:pt x="446" y="235"/>
                </a:lnTo>
                <a:lnTo>
                  <a:pt x="420" y="233"/>
                </a:lnTo>
                <a:lnTo>
                  <a:pt x="391" y="229"/>
                </a:lnTo>
                <a:lnTo>
                  <a:pt x="365" y="221"/>
                </a:lnTo>
                <a:lnTo>
                  <a:pt x="340" y="209"/>
                </a:lnTo>
                <a:lnTo>
                  <a:pt x="340" y="209"/>
                </a:lnTo>
                <a:lnTo>
                  <a:pt x="330" y="204"/>
                </a:lnTo>
                <a:lnTo>
                  <a:pt x="319" y="204"/>
                </a:lnTo>
                <a:lnTo>
                  <a:pt x="307" y="206"/>
                </a:lnTo>
                <a:lnTo>
                  <a:pt x="295" y="211"/>
                </a:lnTo>
                <a:lnTo>
                  <a:pt x="270" y="217"/>
                </a:lnTo>
                <a:lnTo>
                  <a:pt x="258" y="221"/>
                </a:lnTo>
                <a:lnTo>
                  <a:pt x="246" y="221"/>
                </a:lnTo>
                <a:lnTo>
                  <a:pt x="246" y="221"/>
                </a:lnTo>
                <a:lnTo>
                  <a:pt x="233" y="249"/>
                </a:lnTo>
                <a:lnTo>
                  <a:pt x="225" y="282"/>
                </a:lnTo>
                <a:lnTo>
                  <a:pt x="223" y="299"/>
                </a:lnTo>
                <a:lnTo>
                  <a:pt x="205" y="297"/>
                </a:lnTo>
                <a:lnTo>
                  <a:pt x="205" y="297"/>
                </a:lnTo>
                <a:lnTo>
                  <a:pt x="193" y="299"/>
                </a:lnTo>
                <a:lnTo>
                  <a:pt x="193" y="299"/>
                </a:lnTo>
                <a:lnTo>
                  <a:pt x="188" y="301"/>
                </a:lnTo>
                <a:lnTo>
                  <a:pt x="188" y="301"/>
                </a:lnTo>
                <a:lnTo>
                  <a:pt x="190" y="327"/>
                </a:lnTo>
                <a:lnTo>
                  <a:pt x="195" y="340"/>
                </a:lnTo>
                <a:lnTo>
                  <a:pt x="197" y="350"/>
                </a:lnTo>
                <a:lnTo>
                  <a:pt x="197" y="350"/>
                </a:lnTo>
                <a:lnTo>
                  <a:pt x="201" y="358"/>
                </a:lnTo>
                <a:lnTo>
                  <a:pt x="205" y="364"/>
                </a:lnTo>
                <a:lnTo>
                  <a:pt x="211" y="368"/>
                </a:lnTo>
                <a:lnTo>
                  <a:pt x="217" y="370"/>
                </a:lnTo>
                <a:lnTo>
                  <a:pt x="227" y="374"/>
                </a:lnTo>
                <a:lnTo>
                  <a:pt x="229" y="385"/>
                </a:lnTo>
                <a:lnTo>
                  <a:pt x="229" y="385"/>
                </a:lnTo>
                <a:lnTo>
                  <a:pt x="244" y="432"/>
                </a:lnTo>
                <a:lnTo>
                  <a:pt x="252" y="454"/>
                </a:lnTo>
                <a:lnTo>
                  <a:pt x="262" y="473"/>
                </a:lnTo>
                <a:lnTo>
                  <a:pt x="262" y="473"/>
                </a:lnTo>
                <a:lnTo>
                  <a:pt x="272" y="491"/>
                </a:lnTo>
                <a:lnTo>
                  <a:pt x="285" y="505"/>
                </a:lnTo>
                <a:lnTo>
                  <a:pt x="299" y="518"/>
                </a:lnTo>
                <a:lnTo>
                  <a:pt x="315" y="526"/>
                </a:lnTo>
                <a:lnTo>
                  <a:pt x="315" y="526"/>
                </a:lnTo>
                <a:lnTo>
                  <a:pt x="326" y="530"/>
                </a:lnTo>
                <a:lnTo>
                  <a:pt x="344" y="532"/>
                </a:lnTo>
                <a:lnTo>
                  <a:pt x="387" y="534"/>
                </a:lnTo>
                <a:lnTo>
                  <a:pt x="387" y="534"/>
                </a:lnTo>
                <a:lnTo>
                  <a:pt x="436" y="532"/>
                </a:lnTo>
                <a:lnTo>
                  <a:pt x="455" y="530"/>
                </a:lnTo>
                <a:lnTo>
                  <a:pt x="467" y="528"/>
                </a:lnTo>
                <a:lnTo>
                  <a:pt x="467" y="528"/>
                </a:lnTo>
                <a:lnTo>
                  <a:pt x="485" y="520"/>
                </a:lnTo>
                <a:lnTo>
                  <a:pt x="500" y="507"/>
                </a:lnTo>
                <a:lnTo>
                  <a:pt x="514" y="493"/>
                </a:lnTo>
                <a:lnTo>
                  <a:pt x="526" y="477"/>
                </a:lnTo>
                <a:lnTo>
                  <a:pt x="526" y="477"/>
                </a:lnTo>
                <a:lnTo>
                  <a:pt x="537" y="456"/>
                </a:lnTo>
                <a:lnTo>
                  <a:pt x="545" y="434"/>
                </a:lnTo>
                <a:lnTo>
                  <a:pt x="553" y="409"/>
                </a:lnTo>
                <a:lnTo>
                  <a:pt x="561" y="385"/>
                </a:lnTo>
                <a:lnTo>
                  <a:pt x="563" y="374"/>
                </a:lnTo>
                <a:lnTo>
                  <a:pt x="573" y="370"/>
                </a:lnTo>
                <a:lnTo>
                  <a:pt x="573" y="370"/>
                </a:lnTo>
                <a:lnTo>
                  <a:pt x="580" y="366"/>
                </a:lnTo>
                <a:lnTo>
                  <a:pt x="584" y="362"/>
                </a:lnTo>
                <a:lnTo>
                  <a:pt x="588" y="356"/>
                </a:lnTo>
                <a:lnTo>
                  <a:pt x="592" y="350"/>
                </a:lnTo>
                <a:lnTo>
                  <a:pt x="592" y="350"/>
                </a:lnTo>
                <a:lnTo>
                  <a:pt x="598" y="327"/>
                </a:lnTo>
                <a:lnTo>
                  <a:pt x="600" y="301"/>
                </a:lnTo>
                <a:lnTo>
                  <a:pt x="600" y="301"/>
                </a:lnTo>
                <a:lnTo>
                  <a:pt x="596" y="299"/>
                </a:lnTo>
                <a:lnTo>
                  <a:pt x="596" y="299"/>
                </a:lnTo>
                <a:lnTo>
                  <a:pt x="586" y="297"/>
                </a:lnTo>
                <a:lnTo>
                  <a:pt x="567" y="299"/>
                </a:lnTo>
                <a:lnTo>
                  <a:pt x="565" y="280"/>
                </a:lnTo>
                <a:lnTo>
                  <a:pt x="565" y="280"/>
                </a:lnTo>
                <a:lnTo>
                  <a:pt x="557" y="252"/>
                </a:lnTo>
                <a:lnTo>
                  <a:pt x="547" y="225"/>
                </a:lnTo>
                <a:lnTo>
                  <a:pt x="547" y="225"/>
                </a:lnTo>
                <a:close/>
              </a:path>
            </a:pathLst>
          </a:custGeom>
          <a:solidFill>
            <a:srgbClr val="578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normAutofit fontScale="52500" lnSpcReduction="20000"/>
          </a:bodyPr>
          <a:lstStyle/>
          <a:p>
            <a:pPr fontAlgn="base"/>
            <a:endParaRPr lang="zh-CN" altLang="en-US" sz="1350" strike="noStrike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4338" name="文本框 12"/>
          <p:cNvSpPr txBox="1"/>
          <p:nvPr>
            <p:custDataLst>
              <p:tags r:id="rId2"/>
            </p:custDataLst>
          </p:nvPr>
        </p:nvSpPr>
        <p:spPr>
          <a:xfrm>
            <a:off x="1030288" y="3592513"/>
            <a:ext cx="1658937" cy="3984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000" b="1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CONTENTS</a:t>
            </a:r>
            <a:endParaRPr lang="en-US" altLang="zh-CN" sz="2000" b="1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14339" name="文本框 13"/>
          <p:cNvSpPr txBox="1"/>
          <p:nvPr>
            <p:custDataLst>
              <p:tags r:id="rId3"/>
            </p:custDataLst>
          </p:nvPr>
        </p:nvSpPr>
        <p:spPr>
          <a:xfrm>
            <a:off x="942975" y="2738438"/>
            <a:ext cx="1798638" cy="920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5400" b="1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目 录</a:t>
            </a:r>
            <a:endParaRPr lang="zh-CN" altLang="en-US" sz="5400" b="1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14340" name="文本框 14"/>
          <p:cNvSpPr txBox="1"/>
          <p:nvPr>
            <p:custDataLst>
              <p:tags r:id="rId4"/>
            </p:custDataLst>
          </p:nvPr>
        </p:nvSpPr>
        <p:spPr>
          <a:xfrm>
            <a:off x="4832350" y="1493838"/>
            <a:ext cx="33686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</a:rPr>
              <a:t>单相变压器</a:t>
            </a:r>
            <a:endParaRPr lang="zh-CN" altLang="en-US" sz="2800" b="1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41" name="文本框 16"/>
          <p:cNvSpPr txBox="1"/>
          <p:nvPr>
            <p:custDataLst>
              <p:tags r:id="rId5"/>
            </p:custDataLst>
          </p:nvPr>
        </p:nvSpPr>
        <p:spPr>
          <a:xfrm>
            <a:off x="3957638" y="1476375"/>
            <a:ext cx="719137" cy="5826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3200" dirty="0">
                <a:solidFill>
                  <a:srgbClr val="578B18"/>
                </a:solidFill>
                <a:latin typeface="Impact" panose="020B0806030902050204" pitchFamily="34" charset="0"/>
                <a:ea typeface="方正舒体" panose="02010601030101010101" pitchFamily="2" charset="-122"/>
                <a:sym typeface="黑体" panose="02010609060101010101" charset="-122"/>
              </a:rPr>
              <a:t>01</a:t>
            </a:r>
            <a:endParaRPr lang="en-US" altLang="zh-CN" sz="3200" b="1" dirty="0">
              <a:solidFill>
                <a:srgbClr val="578B18"/>
              </a:solidFill>
              <a:latin typeface="Impact" panose="020B0806030902050204" pitchFamily="34" charset="0"/>
              <a:ea typeface="方正舒体" panose="02010601030101010101" pitchFamily="2" charset="-122"/>
              <a:sym typeface="黑体" panose="02010609060101010101" charset="-122"/>
            </a:endParaRPr>
          </a:p>
        </p:txBody>
      </p:sp>
      <p:sp>
        <p:nvSpPr>
          <p:cNvPr id="14342" name="文本框 15"/>
          <p:cNvSpPr txBox="1"/>
          <p:nvPr>
            <p:custDataLst>
              <p:tags r:id="rId6"/>
            </p:custDataLst>
          </p:nvPr>
        </p:nvSpPr>
        <p:spPr>
          <a:xfrm>
            <a:off x="4832350" y="2493963"/>
            <a:ext cx="3319463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 dirty="0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单相箱变</a:t>
            </a:r>
            <a:endParaRPr lang="zh-CN" altLang="en-US" sz="2800" b="1" dirty="0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14343" name="文本框 17"/>
          <p:cNvSpPr txBox="1"/>
          <p:nvPr>
            <p:custDataLst>
              <p:tags r:id="rId7"/>
            </p:custDataLst>
          </p:nvPr>
        </p:nvSpPr>
        <p:spPr>
          <a:xfrm>
            <a:off x="3957638" y="2476500"/>
            <a:ext cx="768350" cy="5826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3200" dirty="0">
                <a:solidFill>
                  <a:srgbClr val="578B18"/>
                </a:solidFill>
                <a:latin typeface="Impact" panose="020B0806030902050204" pitchFamily="34" charset="0"/>
                <a:ea typeface="方正舒体" panose="02010601030101010101" pitchFamily="2" charset="-122"/>
                <a:sym typeface="黑体" panose="02010609060101010101" charset="-122"/>
              </a:rPr>
              <a:t>02</a:t>
            </a:r>
            <a:endParaRPr lang="en-US" altLang="zh-CN" sz="3200" b="1" dirty="0">
              <a:solidFill>
                <a:srgbClr val="578B18"/>
              </a:solidFill>
              <a:latin typeface="Impact" panose="020B0806030902050204" pitchFamily="34" charset="0"/>
              <a:ea typeface="方正舒体" panose="02010601030101010101" pitchFamily="2" charset="-122"/>
              <a:sym typeface="黑体" panose="02010609060101010101" charset="-122"/>
            </a:endParaRPr>
          </a:p>
        </p:txBody>
      </p:sp>
      <p:sp>
        <p:nvSpPr>
          <p:cNvPr id="14344" name="文本框 18"/>
          <p:cNvSpPr txBox="1"/>
          <p:nvPr>
            <p:custDataLst>
              <p:tags r:id="rId8"/>
            </p:custDataLst>
          </p:nvPr>
        </p:nvSpPr>
        <p:spPr>
          <a:xfrm>
            <a:off x="4832350" y="3494088"/>
            <a:ext cx="33686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三相箱变</a:t>
            </a:r>
            <a:endParaRPr lang="zh-CN" altLang="en-US" sz="2800" b="1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14345" name="文本框 20"/>
          <p:cNvSpPr txBox="1"/>
          <p:nvPr>
            <p:custDataLst>
              <p:tags r:id="rId9"/>
            </p:custDataLst>
          </p:nvPr>
        </p:nvSpPr>
        <p:spPr>
          <a:xfrm>
            <a:off x="3957638" y="3476625"/>
            <a:ext cx="698500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3200" dirty="0">
                <a:solidFill>
                  <a:srgbClr val="578B18"/>
                </a:solidFill>
                <a:latin typeface="Impact" panose="020B0806030902050204" pitchFamily="34" charset="0"/>
                <a:ea typeface="方正舒体" panose="02010601030101010101" pitchFamily="2" charset="-122"/>
                <a:sym typeface="黑体" panose="02010609060101010101" charset="-122"/>
              </a:rPr>
              <a:t>03</a:t>
            </a:r>
            <a:endParaRPr lang="en-US" altLang="zh-CN" sz="3200" b="1" dirty="0">
              <a:solidFill>
                <a:srgbClr val="578B18"/>
              </a:solidFill>
              <a:latin typeface="Impact" panose="020B0806030902050204" pitchFamily="34" charset="0"/>
              <a:ea typeface="方正舒体" panose="02010601030101010101" pitchFamily="2" charset="-122"/>
              <a:sym typeface="黑体" panose="02010609060101010101" charset="-122"/>
            </a:endParaRPr>
          </a:p>
        </p:txBody>
      </p:sp>
      <p:sp>
        <p:nvSpPr>
          <p:cNvPr id="14346" name="文本框 19"/>
          <p:cNvSpPr txBox="1"/>
          <p:nvPr>
            <p:custDataLst>
              <p:tags r:id="rId10"/>
            </p:custDataLst>
          </p:nvPr>
        </p:nvSpPr>
        <p:spPr>
          <a:xfrm>
            <a:off x="4832350" y="4494213"/>
            <a:ext cx="3319463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报价时候考虑的因素</a:t>
            </a:r>
            <a:endParaRPr lang="zh-CN" altLang="en-US" sz="2800" b="1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14347" name="文本框 21"/>
          <p:cNvSpPr txBox="1"/>
          <p:nvPr>
            <p:custDataLst>
              <p:tags r:id="rId11"/>
            </p:custDataLst>
          </p:nvPr>
        </p:nvSpPr>
        <p:spPr>
          <a:xfrm>
            <a:off x="3957638" y="4476750"/>
            <a:ext cx="754062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3200" dirty="0">
                <a:solidFill>
                  <a:srgbClr val="578B18"/>
                </a:solidFill>
                <a:latin typeface="Impact" panose="020B0806030902050204" pitchFamily="34" charset="0"/>
                <a:ea typeface="方正舒体" panose="02010601030101010101" pitchFamily="2" charset="-122"/>
                <a:sym typeface="黑体" panose="02010609060101010101" charset="-122"/>
              </a:rPr>
              <a:t>04</a:t>
            </a:r>
            <a:endParaRPr lang="en-US" altLang="zh-CN" sz="3200" b="1" dirty="0">
              <a:solidFill>
                <a:srgbClr val="578B18"/>
              </a:solidFill>
              <a:latin typeface="Impact" panose="020B0806030902050204" pitchFamily="34" charset="0"/>
              <a:ea typeface="方正舒体" panose="02010601030101010101" pitchFamily="2" charset="-122"/>
              <a:sym typeface="黑体" panose="02010609060101010101" charset="-122"/>
            </a:endParaRPr>
          </a:p>
        </p:txBody>
      </p:sp>
      <p:pic>
        <p:nvPicPr>
          <p:cNvPr id="14348" name="图片 2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14558" t="41307" r="40846" b="11092"/>
          <a:stretch>
            <a:fillRect/>
          </a:stretch>
        </p:blipFill>
        <p:spPr>
          <a:xfrm>
            <a:off x="234950" y="4862513"/>
            <a:ext cx="2811463" cy="195103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1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561975"/>
            <a:ext cx="7370763" cy="5383213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1169988"/>
            <a:ext cx="7442200" cy="4670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6" name="文本框 2"/>
          <p:cNvSpPr txBox="1"/>
          <p:nvPr/>
        </p:nvSpPr>
        <p:spPr>
          <a:xfrm>
            <a:off x="850900" y="523875"/>
            <a:ext cx="368617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主要市场</a:t>
            </a:r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文本框 34"/>
          <p:cNvSpPr txBox="1"/>
          <p:nvPr>
            <p:custDataLst>
              <p:tags r:id="rId1"/>
            </p:custDataLst>
          </p:nvPr>
        </p:nvSpPr>
        <p:spPr>
          <a:xfrm>
            <a:off x="1763713" y="2416175"/>
            <a:ext cx="1773238" cy="141922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algn="ctr" defTabSz="685800">
              <a:defRPr/>
            </a:pPr>
            <a:r>
              <a:rPr lang="en-US" altLang="zh-CN" sz="8625" noProof="1" dirty="0">
                <a:solidFill>
                  <a:srgbClr val="578B18"/>
                </a:solidFill>
                <a:latin typeface="Impact" panose="020B0806030902050204" pitchFamily="34" charset="0"/>
                <a:ea typeface="方正舒体" panose="02010601030101010101" pitchFamily="2" charset="-122"/>
                <a:cs typeface="+mn-cs"/>
                <a:sym typeface="+mn-ea"/>
              </a:rPr>
              <a:t>01</a:t>
            </a:r>
            <a:endParaRPr lang="en-US" altLang="zh-CN" sz="8625" noProof="1" dirty="0">
              <a:solidFill>
                <a:srgbClr val="578B18"/>
              </a:solidFill>
              <a:latin typeface="Impact" panose="020B0806030902050204" pitchFamily="34" charset="0"/>
              <a:ea typeface="方正舒体" panose="02010601030101010101" pitchFamily="2" charset="-122"/>
              <a:sym typeface="+mn-ea"/>
            </a:endParaRPr>
          </a:p>
        </p:txBody>
      </p:sp>
      <p:sp>
        <p:nvSpPr>
          <p:cNvPr id="17410" name="标题 4"/>
          <p:cNvSpPr>
            <a:spLocks noGrp="1"/>
          </p:cNvSpPr>
          <p:nvPr>
            <p:ph type="title" hasCustomPrompt="1"/>
          </p:nvPr>
        </p:nvSpPr>
        <p:spPr>
          <a:xfrm>
            <a:off x="3314700" y="2416175"/>
            <a:ext cx="3840163" cy="1073150"/>
          </a:xfrm>
        </p:spPr>
        <p:txBody>
          <a:bodyPr lIns="90000" tIns="46800" rIns="90000" bIns="46800" anchor="b" anchorCtr="0"/>
          <a:p>
            <a:pPr defTabSz="685800">
              <a:buNone/>
            </a:pPr>
            <a:r>
              <a:rPr lang="zh-CN" altLang="en-US" kern="1200" dirty="0">
                <a:solidFill>
                  <a:srgbClr val="578B18"/>
                </a:solidFill>
                <a:latin typeface="+mj-lt"/>
                <a:ea typeface="+mj-ea"/>
                <a:cs typeface="+mj-cs"/>
              </a:rPr>
              <a:t>单相变压器</a:t>
            </a:r>
            <a:endParaRPr lang="zh-CN" altLang="en-US" kern="1200" dirty="0">
              <a:solidFill>
                <a:srgbClr val="578B18"/>
              </a:solidFill>
              <a:latin typeface="+mj-lt"/>
              <a:ea typeface="+mj-ea"/>
              <a:cs typeface="+mj-cs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433" name="图片 1" descr="单相变压器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38" y="193675"/>
            <a:ext cx="7927975" cy="4084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4" name="文本框 1"/>
          <p:cNvSpPr txBox="1"/>
          <p:nvPr/>
        </p:nvSpPr>
        <p:spPr>
          <a:xfrm>
            <a:off x="930275" y="4529138"/>
            <a:ext cx="7283450" cy="20304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单相杆式配电变压器是专为分散式配电网络设计的，用于服务城镇和农村居民的架空配电负载。 它们还适用于轻型和多样化的电源应用。 这些变压器设计用于电力公用配电系统中通常遇到的应用条件。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提供2种基本的变压器类型和2种金属芯类型的常规类型和完全自我保护类型，对于变压器芯，可提供2种类型的材料：硅钢片绕芯和非晶金属芯。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"/>
          <p:cNvSpPr>
            <a:spLocks noGrp="1"/>
          </p:cNvSpPr>
          <p:nvPr>
            <p:ph type="title"/>
          </p:nvPr>
        </p:nvSpPr>
        <p:spPr/>
        <p:txBody>
          <a:bodyPr wrap="square" lIns="90000" tIns="46800" rIns="90000" bIns="46800" anchor="ctr" anchorCtr="0"/>
          <a:p>
            <a:pPr algn="r"/>
            <a:r>
              <a:rPr lang="zh-CN" altLang="en-US" b="1" dirty="0">
                <a:solidFill>
                  <a:srgbClr val="578B18"/>
                </a:solidFill>
                <a:sym typeface="Arial" panose="020B0604020202020204" pitchFamily="34" charset="0"/>
              </a:rPr>
              <a:t>                          </a:t>
            </a:r>
            <a:endParaRPr lang="zh-CN" altLang="en-US" b="1" dirty="0">
              <a:solidFill>
                <a:srgbClr val="578B18"/>
              </a:solidFill>
              <a:sym typeface="Arial" panose="020B0604020202020204" pitchFamily="34" charset="0"/>
            </a:endParaRPr>
          </a:p>
        </p:txBody>
      </p:sp>
      <p:pic>
        <p:nvPicPr>
          <p:cNvPr id="19458" name="图片 5" descr="QQ截图202003071047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463" y="558800"/>
            <a:ext cx="7735887" cy="5473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文本框 1"/>
          <p:cNvSpPr txBox="1"/>
          <p:nvPr/>
        </p:nvSpPr>
        <p:spPr>
          <a:xfrm>
            <a:off x="688975" y="903288"/>
            <a:ext cx="17192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陶瓷高压套管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文本框 2"/>
          <p:cNvSpPr txBox="1"/>
          <p:nvPr/>
        </p:nvSpPr>
        <p:spPr>
          <a:xfrm>
            <a:off x="1212850" y="1814513"/>
            <a:ext cx="9826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桶箍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文本框 3"/>
          <p:cNvSpPr txBox="1"/>
          <p:nvPr/>
        </p:nvSpPr>
        <p:spPr>
          <a:xfrm>
            <a:off x="1301750" y="2182813"/>
            <a:ext cx="8937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挂钩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文本框 4"/>
          <p:cNvSpPr txBox="1"/>
          <p:nvPr/>
        </p:nvSpPr>
        <p:spPr>
          <a:xfrm>
            <a:off x="571500" y="2676525"/>
            <a:ext cx="11922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低压套管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文本框 5"/>
          <p:cNvSpPr txBox="1"/>
          <p:nvPr/>
        </p:nvSpPr>
        <p:spPr>
          <a:xfrm>
            <a:off x="571500" y="3111500"/>
            <a:ext cx="11922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接地铜带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4" name="文本框 6"/>
          <p:cNvSpPr txBox="1"/>
          <p:nvPr/>
        </p:nvSpPr>
        <p:spPr>
          <a:xfrm>
            <a:off x="7124700" y="714375"/>
            <a:ext cx="887413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高压避雷器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文本框 7"/>
          <p:cNvSpPr txBox="1"/>
          <p:nvPr/>
        </p:nvSpPr>
        <p:spPr>
          <a:xfrm>
            <a:off x="6846888" y="1481138"/>
            <a:ext cx="12207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注油阀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6" name="文本框 8"/>
          <p:cNvSpPr txBox="1"/>
          <p:nvPr/>
        </p:nvSpPr>
        <p:spPr>
          <a:xfrm>
            <a:off x="7643813" y="1814513"/>
            <a:ext cx="87153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挂架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7" name="文本框 9"/>
          <p:cNvSpPr txBox="1"/>
          <p:nvPr/>
        </p:nvSpPr>
        <p:spPr>
          <a:xfrm>
            <a:off x="7389813" y="2133600"/>
            <a:ext cx="1125537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无励磁调压开关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8" name="文本框 10"/>
          <p:cNvSpPr txBox="1"/>
          <p:nvPr/>
        </p:nvSpPr>
        <p:spPr>
          <a:xfrm>
            <a:off x="6864350" y="2551113"/>
            <a:ext cx="7794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铭牌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9" name="文本框 11"/>
          <p:cNvSpPr txBox="1"/>
          <p:nvPr/>
        </p:nvSpPr>
        <p:spPr>
          <a:xfrm>
            <a:off x="4167188" y="1617663"/>
            <a:ext cx="960437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低压断路器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70" name="文本框 12"/>
          <p:cNvSpPr txBox="1"/>
          <p:nvPr/>
        </p:nvSpPr>
        <p:spPr>
          <a:xfrm>
            <a:off x="3948113" y="2989263"/>
            <a:ext cx="13985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接地端子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71" name="文本框 13"/>
          <p:cNvSpPr txBox="1"/>
          <p:nvPr/>
        </p:nvSpPr>
        <p:spPr>
          <a:xfrm>
            <a:off x="3824288" y="5953125"/>
            <a:ext cx="1379537" cy="6461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个高压套管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5" name="图片 1" descr="25kva single ph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688" y="504825"/>
            <a:ext cx="4340225" cy="4340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6" name="图片 2" descr="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25" y="504825"/>
            <a:ext cx="4314825" cy="4314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7" name="文本框 3"/>
          <p:cNvSpPr txBox="1"/>
          <p:nvPr/>
        </p:nvSpPr>
        <p:spPr>
          <a:xfrm>
            <a:off x="749300" y="5321300"/>
            <a:ext cx="281463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Conventional type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文本框 4"/>
          <p:cNvSpPr txBox="1"/>
          <p:nvPr/>
        </p:nvSpPr>
        <p:spPr>
          <a:xfrm>
            <a:off x="5716588" y="5321300"/>
            <a:ext cx="2813050" cy="11985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CSP type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断路器 熔丝 避雷器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Circuit breaker fuse lighting arrester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文本框 1"/>
          <p:cNvSpPr txBox="1"/>
          <p:nvPr/>
        </p:nvSpPr>
        <p:spPr>
          <a:xfrm>
            <a:off x="2185988" y="722313"/>
            <a:ext cx="10636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传统型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文本框 2"/>
          <p:cNvSpPr txBox="1"/>
          <p:nvPr/>
        </p:nvSpPr>
        <p:spPr>
          <a:xfrm>
            <a:off x="6330950" y="820738"/>
            <a:ext cx="14335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自我保护型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 descr="微信图片_202303201734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" y="404495"/>
            <a:ext cx="1190625" cy="1077595"/>
          </a:xfrm>
          <a:prstGeom prst="rect">
            <a:avLst/>
          </a:prstGeom>
        </p:spPr>
      </p:pic>
      <p:pic>
        <p:nvPicPr>
          <p:cNvPr id="3" name="图片 2" descr="微信图片_2023032017345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14215" y="476250"/>
            <a:ext cx="1202690" cy="10890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文本框 1"/>
          <p:cNvSpPr txBox="1"/>
          <p:nvPr/>
        </p:nvSpPr>
        <p:spPr>
          <a:xfrm>
            <a:off x="877888" y="428625"/>
            <a:ext cx="10969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技术参数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2530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77888" y="1590675"/>
            <a:ext cx="7551737" cy="41846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238" y="711200"/>
            <a:ext cx="3195638" cy="682625"/>
          </a:xfrm>
        </p:spPr>
        <p:txBody>
          <a:bodyPr lIns="90000" tIns="46800" rIns="90000" bIns="46800" anchor="t">
            <a:normAutofit fontScale="90000"/>
          </a:bodyPr>
          <a:lstStyle/>
          <a:p>
            <a:pPr marL="0" marR="0" indent="0" algn="l" defTabSz="6858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 dirty="0">
                <a:solidFill>
                  <a:srgbClr val="578B18"/>
                </a:solidFill>
                <a:latin typeface="+mj-lt"/>
                <a:ea typeface="+mj-ea"/>
                <a:cs typeface="+mj-cs"/>
              </a:rPr>
              <a:t>铁芯 绕组</a:t>
            </a:r>
            <a:endParaRPr kumimoji="0" lang="zh-CN" altLang="en-US" sz="3600" b="0" i="0" u="none" strike="noStrike" kern="1200" cap="none" spc="0" normalizeH="0" baseline="0" noProof="1" dirty="0">
              <a:solidFill>
                <a:srgbClr val="578B18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554" name="文本框 2"/>
          <p:cNvSpPr txBox="1"/>
          <p:nvPr/>
        </p:nvSpPr>
        <p:spPr>
          <a:xfrm>
            <a:off x="1449388" y="5619750"/>
            <a:ext cx="62912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单相制作过程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http://v.163.com/static/1/VTR49FHMJ.html </a:t>
            </a:r>
            <a:endParaRPr lang="en-US" altLang="zh-CN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3555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2192338"/>
            <a:ext cx="3467100" cy="26019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图片 2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238" y="2192338"/>
            <a:ext cx="3468687" cy="2601912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矩形 20"/>
          <p:cNvSpPr/>
          <p:nvPr>
            <p:custDataLst>
              <p:tags r:id="rId1"/>
            </p:custDataLst>
          </p:nvPr>
        </p:nvSpPr>
        <p:spPr>
          <a:xfrm>
            <a:off x="-3175" y="236538"/>
            <a:ext cx="119063" cy="473075"/>
          </a:xfrm>
          <a:prstGeom prst="rect">
            <a:avLst/>
          </a:prstGeom>
          <a:solidFill>
            <a:srgbClr val="578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138113" y="236538"/>
            <a:ext cx="96838" cy="473075"/>
          </a:xfrm>
          <a:prstGeom prst="rect">
            <a:avLst/>
          </a:prstGeom>
          <a:solidFill>
            <a:srgbClr val="578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  <p:pic>
        <p:nvPicPr>
          <p:cNvPr id="25603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13" y="855663"/>
            <a:ext cx="7218362" cy="54133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文本框 1"/>
          <p:cNvSpPr txBox="1"/>
          <p:nvPr/>
        </p:nvSpPr>
        <p:spPr>
          <a:xfrm>
            <a:off x="822325" y="612775"/>
            <a:ext cx="49244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包装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6626" name="图片 2" descr="爆款详情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1276350"/>
            <a:ext cx="6800850" cy="4098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7" name="文本框 1"/>
          <p:cNvSpPr txBox="1"/>
          <p:nvPr/>
        </p:nvSpPr>
        <p:spPr>
          <a:xfrm>
            <a:off x="1236663" y="5473700"/>
            <a:ext cx="65039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</a:rPr>
              <a:t>最小起订量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台，一个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40HQ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可以装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50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台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文本框 34"/>
          <p:cNvSpPr txBox="1"/>
          <p:nvPr>
            <p:custDataLst>
              <p:tags r:id="rId1"/>
            </p:custDataLst>
          </p:nvPr>
        </p:nvSpPr>
        <p:spPr>
          <a:xfrm>
            <a:off x="1763713" y="2416175"/>
            <a:ext cx="1773238" cy="141922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algn="ctr" defTabSz="685800">
              <a:defRPr/>
            </a:pPr>
            <a:r>
              <a:rPr lang="en-US" altLang="zh-CN" sz="8625" noProof="1" dirty="0">
                <a:solidFill>
                  <a:srgbClr val="578B18"/>
                </a:solidFill>
                <a:latin typeface="Impact" panose="020B0806030902050204" pitchFamily="34" charset="0"/>
                <a:ea typeface="方正舒体" panose="02010601030101010101" pitchFamily="2" charset="-122"/>
                <a:cs typeface="+mn-cs"/>
                <a:sym typeface="+mn-ea"/>
              </a:rPr>
              <a:t>02</a:t>
            </a:r>
            <a:endParaRPr lang="en-US" altLang="zh-CN" sz="8625" noProof="1" dirty="0">
              <a:solidFill>
                <a:srgbClr val="578B18"/>
              </a:solidFill>
              <a:latin typeface="Impact" panose="020B0806030902050204" pitchFamily="34" charset="0"/>
              <a:ea typeface="方正舒体" panose="02010601030101010101" pitchFamily="2" charset="-122"/>
              <a:sym typeface="+mn-ea"/>
            </a:endParaRPr>
          </a:p>
        </p:txBody>
      </p:sp>
      <p:sp>
        <p:nvSpPr>
          <p:cNvPr id="27650" name="标题 4"/>
          <p:cNvSpPr>
            <a:spLocks noGrp="1"/>
          </p:cNvSpPr>
          <p:nvPr>
            <p:ph type="title" hasCustomPrompt="1"/>
          </p:nvPr>
        </p:nvSpPr>
        <p:spPr>
          <a:xfrm>
            <a:off x="3457575" y="2416175"/>
            <a:ext cx="3840163" cy="1073150"/>
          </a:xfrm>
        </p:spPr>
        <p:txBody>
          <a:bodyPr lIns="90000" tIns="46800" rIns="90000" bIns="46800" anchor="b" anchorCtr="0"/>
          <a:p>
            <a:pPr defTabSz="685800">
              <a:buNone/>
            </a:pPr>
            <a:r>
              <a:rPr lang="zh-CN" altLang="en-US" b="1" kern="1200" dirty="0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黑体" panose="02010609060101010101" charset="-122"/>
              </a:rPr>
              <a:t>单相箱变</a:t>
            </a:r>
            <a:endParaRPr lang="zh-CN" altLang="en-US" b="1" kern="1200" dirty="0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3" name="图片 1" descr="padmount_transform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588" y="400050"/>
            <a:ext cx="5838825" cy="46482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7" name="图片 1" descr="QQ截图202003071048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596900"/>
            <a:ext cx="8632825" cy="5343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698" name="文本框 1"/>
          <p:cNvSpPr txBox="1"/>
          <p:nvPr/>
        </p:nvSpPr>
        <p:spPr>
          <a:xfrm>
            <a:off x="1855788" y="596900"/>
            <a:ext cx="9048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锁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文本框 2"/>
          <p:cNvSpPr txBox="1"/>
          <p:nvPr/>
        </p:nvSpPr>
        <p:spPr>
          <a:xfrm>
            <a:off x="1543050" y="1493838"/>
            <a:ext cx="14224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安全标签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文本框 3"/>
          <p:cNvSpPr txBox="1"/>
          <p:nvPr/>
        </p:nvSpPr>
        <p:spPr>
          <a:xfrm>
            <a:off x="1141413" y="2192338"/>
            <a:ext cx="1520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插入式熔丝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文本框 4"/>
          <p:cNvSpPr txBox="1"/>
          <p:nvPr/>
        </p:nvSpPr>
        <p:spPr>
          <a:xfrm>
            <a:off x="1016000" y="3481388"/>
            <a:ext cx="190023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高压套管座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2" name="文本框 5"/>
          <p:cNvSpPr txBox="1"/>
          <p:nvPr/>
        </p:nvSpPr>
        <p:spPr>
          <a:xfrm>
            <a:off x="525463" y="3022600"/>
            <a:ext cx="116681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肘型接头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3" name="文本框 6"/>
          <p:cNvSpPr txBox="1"/>
          <p:nvPr/>
        </p:nvSpPr>
        <p:spPr>
          <a:xfrm>
            <a:off x="638175" y="4252913"/>
            <a:ext cx="730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接地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4" name="文本框 7"/>
          <p:cNvSpPr txBox="1"/>
          <p:nvPr/>
        </p:nvSpPr>
        <p:spPr>
          <a:xfrm>
            <a:off x="2117725" y="5264150"/>
            <a:ext cx="5810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锁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文本框 8"/>
          <p:cNvSpPr txBox="1"/>
          <p:nvPr/>
        </p:nvSpPr>
        <p:spPr>
          <a:xfrm>
            <a:off x="7637463" y="1633538"/>
            <a:ext cx="1111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铭牌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6" name="文本框 9"/>
          <p:cNvSpPr txBox="1"/>
          <p:nvPr/>
        </p:nvSpPr>
        <p:spPr>
          <a:xfrm>
            <a:off x="7794625" y="2001838"/>
            <a:ext cx="954088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压力释放阀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7" name="文本框 10"/>
          <p:cNvSpPr txBox="1"/>
          <p:nvPr/>
        </p:nvSpPr>
        <p:spPr>
          <a:xfrm>
            <a:off x="7192963" y="2717800"/>
            <a:ext cx="619125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注油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8" name="文本框 11"/>
          <p:cNvSpPr txBox="1"/>
          <p:nvPr/>
        </p:nvSpPr>
        <p:spPr>
          <a:xfrm>
            <a:off x="7872413" y="3636963"/>
            <a:ext cx="11604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低压套管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9" name="文本框 12"/>
          <p:cNvSpPr txBox="1"/>
          <p:nvPr/>
        </p:nvSpPr>
        <p:spPr>
          <a:xfrm>
            <a:off x="8180388" y="4179888"/>
            <a:ext cx="11318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接地铜条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10" name="文本框 13"/>
          <p:cNvSpPr txBox="1"/>
          <p:nvPr/>
        </p:nvSpPr>
        <p:spPr>
          <a:xfrm>
            <a:off x="7307263" y="4491038"/>
            <a:ext cx="8731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放油阀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11" name="文本框 14"/>
          <p:cNvSpPr txBox="1"/>
          <p:nvPr/>
        </p:nvSpPr>
        <p:spPr>
          <a:xfrm>
            <a:off x="7512050" y="4895850"/>
            <a:ext cx="903288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可移动底座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21" name="图片 1" descr="232e35e7968c120a5d6dcd65cbf2c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313" y="708025"/>
            <a:ext cx="8161337" cy="544353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文本框 34"/>
          <p:cNvSpPr txBox="1"/>
          <p:nvPr>
            <p:custDataLst>
              <p:tags r:id="rId1"/>
            </p:custDataLst>
          </p:nvPr>
        </p:nvSpPr>
        <p:spPr>
          <a:xfrm>
            <a:off x="1763713" y="2416175"/>
            <a:ext cx="1773238" cy="141922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algn="ctr" defTabSz="685800">
              <a:defRPr/>
            </a:pPr>
            <a:r>
              <a:rPr lang="en-US" altLang="zh-CN" sz="8625" noProof="1" dirty="0">
                <a:solidFill>
                  <a:srgbClr val="578B18"/>
                </a:solidFill>
                <a:latin typeface="Impact" panose="020B0806030902050204" pitchFamily="34" charset="0"/>
                <a:ea typeface="方正舒体" panose="02010601030101010101" pitchFamily="2" charset="-122"/>
                <a:cs typeface="+mn-cs"/>
                <a:sym typeface="+mn-ea"/>
              </a:rPr>
              <a:t>03</a:t>
            </a:r>
            <a:endParaRPr lang="en-US" altLang="zh-CN" sz="8625" noProof="1" dirty="0">
              <a:solidFill>
                <a:srgbClr val="578B18"/>
              </a:solidFill>
              <a:latin typeface="Impact" panose="020B0806030902050204" pitchFamily="34" charset="0"/>
              <a:ea typeface="方正舒体" panose="02010601030101010101" pitchFamily="2" charset="-122"/>
              <a:sym typeface="+mn-ea"/>
            </a:endParaRPr>
          </a:p>
        </p:txBody>
      </p:sp>
      <p:sp>
        <p:nvSpPr>
          <p:cNvPr id="31746" name="标题 4"/>
          <p:cNvSpPr>
            <a:spLocks noGrp="1"/>
          </p:cNvSpPr>
          <p:nvPr>
            <p:ph type="title" hasCustomPrompt="1"/>
          </p:nvPr>
        </p:nvSpPr>
        <p:spPr>
          <a:xfrm>
            <a:off x="3305175" y="2498725"/>
            <a:ext cx="3840163" cy="1073150"/>
          </a:xfrm>
        </p:spPr>
        <p:txBody>
          <a:bodyPr lIns="90000" tIns="46800" rIns="90000" bIns="46800" anchor="b" anchorCtr="0"/>
          <a:p>
            <a:pPr defTabSz="685800">
              <a:buNone/>
            </a:pPr>
            <a:r>
              <a:rPr lang="zh-CN" altLang="en-US" b="1" kern="1200" dirty="0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黑体" panose="02010609060101010101" charset="-122"/>
              </a:rPr>
              <a:t>三相箱变</a:t>
            </a:r>
            <a:endParaRPr lang="zh-CN" altLang="en-US" b="1" kern="1200" dirty="0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15"/>
          <p:cNvSpPr/>
          <p:nvPr>
            <p:custDataLst>
              <p:tags r:id="rId1"/>
            </p:custDataLst>
          </p:nvPr>
        </p:nvSpPr>
        <p:spPr>
          <a:xfrm>
            <a:off x="800100" y="1484313"/>
            <a:ext cx="7096125" cy="388937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defTabSz="685800">
              <a:lnSpc>
                <a:spcPct val="130000"/>
              </a:lnSpc>
            </a:pPr>
            <a:endParaRPr lang="zh-CN" altLang="en-US" sz="20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pPr algn="ctr" defTabSz="685800">
              <a:lnSpc>
                <a:spcPct val="130000"/>
              </a:lnSpc>
            </a:pPr>
            <a:r>
              <a:rPr lang="zh-CN" altLang="en-US" sz="20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      </a:t>
            </a:r>
            <a:endParaRPr lang="zh-CN" altLang="en-US" sz="20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17" name="AutoShape 7"/>
          <p:cNvSpPr/>
          <p:nvPr>
            <p:custDataLst>
              <p:tags r:id="rId2"/>
            </p:custDataLst>
          </p:nvPr>
        </p:nvSpPr>
        <p:spPr bwMode="auto">
          <a:xfrm>
            <a:off x="7270750" y="3641725"/>
            <a:ext cx="525463" cy="525463"/>
          </a:xfrm>
          <a:custGeom>
            <a:avLst/>
            <a:gdLst>
              <a:gd name="T0" fmla="+- 0 10800 1271"/>
              <a:gd name="T1" fmla="*/ T0 w 19058"/>
              <a:gd name="T2" fmla="+- 0 10799 1270"/>
              <a:gd name="T3" fmla="*/ 10799 h 19059"/>
              <a:gd name="T4" fmla="+- 0 10800 1271"/>
              <a:gd name="T5" fmla="*/ T4 w 19058"/>
              <a:gd name="T6" fmla="+- 0 10799 1270"/>
              <a:gd name="T7" fmla="*/ 10799 h 19059"/>
              <a:gd name="T8" fmla="+- 0 10800 1271"/>
              <a:gd name="T9" fmla="*/ T8 w 19058"/>
              <a:gd name="T10" fmla="+- 0 10799 1270"/>
              <a:gd name="T11" fmla="*/ 10799 h 19059"/>
              <a:gd name="T12" fmla="+- 0 10800 1271"/>
              <a:gd name="T13" fmla="*/ T12 w 19058"/>
              <a:gd name="T14" fmla="+- 0 10799 1270"/>
              <a:gd name="T15" fmla="*/ 10799 h 1905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058" h="19059">
                <a:moveTo>
                  <a:pt x="6430" y="17268"/>
                </a:moveTo>
                <a:cubicBezTo>
                  <a:pt x="2162" y="15559"/>
                  <a:pt x="82" y="10698"/>
                  <a:pt x="1790" y="6431"/>
                </a:cubicBezTo>
                <a:cubicBezTo>
                  <a:pt x="3499" y="2164"/>
                  <a:pt x="8360" y="81"/>
                  <a:pt x="12627" y="1791"/>
                </a:cubicBezTo>
                <a:cubicBezTo>
                  <a:pt x="16894" y="3499"/>
                  <a:pt x="18975" y="8361"/>
                  <a:pt x="17267" y="12628"/>
                </a:cubicBezTo>
                <a:cubicBezTo>
                  <a:pt x="15558" y="16895"/>
                  <a:pt x="10696" y="18976"/>
                  <a:pt x="6430" y="17268"/>
                </a:cubicBezTo>
                <a:moveTo>
                  <a:pt x="13070" y="685"/>
                </a:moveTo>
                <a:cubicBezTo>
                  <a:pt x="8186" y="-1270"/>
                  <a:pt x="2641" y="1103"/>
                  <a:pt x="685" y="5987"/>
                </a:cubicBezTo>
                <a:cubicBezTo>
                  <a:pt x="-1271" y="10872"/>
                  <a:pt x="1103" y="16418"/>
                  <a:pt x="5987" y="18373"/>
                </a:cubicBezTo>
                <a:cubicBezTo>
                  <a:pt x="10871" y="20330"/>
                  <a:pt x="16416" y="17955"/>
                  <a:pt x="18373" y="13071"/>
                </a:cubicBezTo>
                <a:cubicBezTo>
                  <a:pt x="20329" y="8186"/>
                  <a:pt x="17954" y="2641"/>
                  <a:pt x="13070" y="68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9" name="AutoShape 8"/>
          <p:cNvSpPr/>
          <p:nvPr>
            <p:custDataLst>
              <p:tags r:id="rId3"/>
            </p:custDataLst>
          </p:nvPr>
        </p:nvSpPr>
        <p:spPr bwMode="auto">
          <a:xfrm>
            <a:off x="7500938" y="3870325"/>
            <a:ext cx="65088" cy="66675"/>
          </a:xfrm>
          <a:custGeom>
            <a:avLst/>
            <a:gdLst>
              <a:gd name="T0" fmla="+- 0 10801 1272"/>
              <a:gd name="T1" fmla="*/ T0 w 19059"/>
              <a:gd name="T2" fmla="+- 0 10800 1272"/>
              <a:gd name="T3" fmla="*/ 10800 h 19056"/>
              <a:gd name="T4" fmla="+- 0 10801 1272"/>
              <a:gd name="T5" fmla="*/ T4 w 19059"/>
              <a:gd name="T6" fmla="+- 0 10800 1272"/>
              <a:gd name="T7" fmla="*/ 10800 h 19056"/>
              <a:gd name="T8" fmla="+- 0 10801 1272"/>
              <a:gd name="T9" fmla="*/ T8 w 19059"/>
              <a:gd name="T10" fmla="+- 0 10800 1272"/>
              <a:gd name="T11" fmla="*/ 10800 h 19056"/>
              <a:gd name="T12" fmla="+- 0 10801 1272"/>
              <a:gd name="T13" fmla="*/ T12 w 19059"/>
              <a:gd name="T14" fmla="+- 0 10800 1272"/>
              <a:gd name="T15" fmla="*/ 10800 h 19056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059" h="19056">
                <a:moveTo>
                  <a:pt x="7753" y="13951"/>
                </a:moveTo>
                <a:cubicBezTo>
                  <a:pt x="5315" y="12969"/>
                  <a:pt x="4129" y="10197"/>
                  <a:pt x="5101" y="7755"/>
                </a:cubicBezTo>
                <a:cubicBezTo>
                  <a:pt x="6083" y="5323"/>
                  <a:pt x="8860" y="4132"/>
                  <a:pt x="11298" y="5104"/>
                </a:cubicBezTo>
                <a:cubicBezTo>
                  <a:pt x="13735" y="6081"/>
                  <a:pt x="14926" y="8858"/>
                  <a:pt x="13949" y="11300"/>
                </a:cubicBezTo>
                <a:cubicBezTo>
                  <a:pt x="12972" y="13737"/>
                  <a:pt x="10195" y="14923"/>
                  <a:pt x="7753" y="13951"/>
                </a:cubicBezTo>
                <a:moveTo>
                  <a:pt x="13070" y="686"/>
                </a:moveTo>
                <a:cubicBezTo>
                  <a:pt x="8190" y="-1272"/>
                  <a:pt x="2640" y="1104"/>
                  <a:pt x="686" y="5988"/>
                </a:cubicBezTo>
                <a:cubicBezTo>
                  <a:pt x="-1272" y="10872"/>
                  <a:pt x="1105" y="16416"/>
                  <a:pt x="5985" y="18369"/>
                </a:cubicBezTo>
                <a:cubicBezTo>
                  <a:pt x="10870" y="20328"/>
                  <a:pt x="16415" y="17951"/>
                  <a:pt x="18374" y="13072"/>
                </a:cubicBezTo>
                <a:cubicBezTo>
                  <a:pt x="20328" y="8188"/>
                  <a:pt x="17960" y="2644"/>
                  <a:pt x="13070" y="68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0" name="AutoShape 9"/>
          <p:cNvSpPr/>
          <p:nvPr>
            <p:custDataLst>
              <p:tags r:id="rId4"/>
            </p:custDataLst>
          </p:nvPr>
        </p:nvSpPr>
        <p:spPr bwMode="auto">
          <a:xfrm>
            <a:off x="7434263" y="3805238"/>
            <a:ext cx="196850" cy="196850"/>
          </a:xfrm>
          <a:custGeom>
            <a:avLst/>
            <a:gdLst>
              <a:gd name="T0" fmla="+- 0 10800 1271"/>
              <a:gd name="T1" fmla="*/ T0 w 19059"/>
              <a:gd name="T2" fmla="+- 0 10800 1271"/>
              <a:gd name="T3" fmla="*/ 10800 h 19058"/>
              <a:gd name="T4" fmla="+- 0 10800 1271"/>
              <a:gd name="T5" fmla="*/ T4 w 19059"/>
              <a:gd name="T6" fmla="+- 0 10800 1271"/>
              <a:gd name="T7" fmla="*/ 10800 h 19058"/>
              <a:gd name="T8" fmla="+- 0 10800 1271"/>
              <a:gd name="T9" fmla="*/ T8 w 19059"/>
              <a:gd name="T10" fmla="+- 0 10800 1271"/>
              <a:gd name="T11" fmla="*/ 10800 h 19058"/>
              <a:gd name="T12" fmla="+- 0 10800 1271"/>
              <a:gd name="T13" fmla="*/ T12 w 19059"/>
              <a:gd name="T14" fmla="+- 0 10800 1271"/>
              <a:gd name="T15" fmla="*/ 10800 h 19058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059" h="19058">
                <a:moveTo>
                  <a:pt x="7169" y="15424"/>
                </a:moveTo>
                <a:cubicBezTo>
                  <a:pt x="3916" y="14123"/>
                  <a:pt x="2331" y="10417"/>
                  <a:pt x="3632" y="7167"/>
                </a:cubicBezTo>
                <a:cubicBezTo>
                  <a:pt x="4934" y="3917"/>
                  <a:pt x="8638" y="2331"/>
                  <a:pt x="11889" y="3632"/>
                </a:cubicBezTo>
                <a:cubicBezTo>
                  <a:pt x="15141" y="4934"/>
                  <a:pt x="16728" y="8640"/>
                  <a:pt x="15425" y="11890"/>
                </a:cubicBezTo>
                <a:cubicBezTo>
                  <a:pt x="14124" y="15140"/>
                  <a:pt x="10419" y="16728"/>
                  <a:pt x="7169" y="15424"/>
                </a:cubicBezTo>
                <a:moveTo>
                  <a:pt x="13071" y="685"/>
                </a:moveTo>
                <a:cubicBezTo>
                  <a:pt x="8186" y="-1271"/>
                  <a:pt x="2639" y="1104"/>
                  <a:pt x="686" y="5987"/>
                </a:cubicBezTo>
                <a:cubicBezTo>
                  <a:pt x="-1271" y="10871"/>
                  <a:pt x="1104" y="16416"/>
                  <a:pt x="5987" y="18372"/>
                </a:cubicBezTo>
                <a:cubicBezTo>
                  <a:pt x="10874" y="20329"/>
                  <a:pt x="16418" y="17955"/>
                  <a:pt x="18375" y="13070"/>
                </a:cubicBezTo>
                <a:cubicBezTo>
                  <a:pt x="20328" y="8186"/>
                  <a:pt x="17956" y="2641"/>
                  <a:pt x="13071" y="68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325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" name="AutoShape 10"/>
          <p:cNvSpPr/>
          <p:nvPr>
            <p:custDataLst>
              <p:tags r:id="rId5"/>
            </p:custDataLst>
          </p:nvPr>
        </p:nvSpPr>
        <p:spPr bwMode="auto">
          <a:xfrm>
            <a:off x="7566025" y="3937000"/>
            <a:ext cx="82550" cy="84138"/>
          </a:xfrm>
          <a:custGeom>
            <a:avLst/>
            <a:gdLst>
              <a:gd name="T0" fmla="+- 0 10804 288"/>
              <a:gd name="T1" fmla="*/ T0 w 21033"/>
              <a:gd name="T2" fmla="+- 0 10798 277"/>
              <a:gd name="T3" fmla="*/ 10798 h 21043"/>
              <a:gd name="T4" fmla="+- 0 10804 288"/>
              <a:gd name="T5" fmla="*/ T4 w 21033"/>
              <a:gd name="T6" fmla="+- 0 10798 277"/>
              <a:gd name="T7" fmla="*/ 10798 h 21043"/>
              <a:gd name="T8" fmla="+- 0 10804 288"/>
              <a:gd name="T9" fmla="*/ T8 w 21033"/>
              <a:gd name="T10" fmla="+- 0 10798 277"/>
              <a:gd name="T11" fmla="*/ 10798 h 21043"/>
              <a:gd name="T12" fmla="+- 0 10804 288"/>
              <a:gd name="T13" fmla="*/ T12 w 21033"/>
              <a:gd name="T14" fmla="+- 0 10798 277"/>
              <a:gd name="T15" fmla="*/ 10798 h 21043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033" h="21043">
                <a:moveTo>
                  <a:pt x="20881" y="2825"/>
                </a:moveTo>
                <a:cubicBezTo>
                  <a:pt x="21312" y="1771"/>
                  <a:pt x="20787" y="572"/>
                  <a:pt x="19713" y="149"/>
                </a:cubicBezTo>
                <a:cubicBezTo>
                  <a:pt x="18636" y="-277"/>
                  <a:pt x="17414" y="238"/>
                  <a:pt x="16984" y="1296"/>
                </a:cubicBezTo>
                <a:lnTo>
                  <a:pt x="16980" y="1292"/>
                </a:lnTo>
                <a:cubicBezTo>
                  <a:pt x="13964" y="8692"/>
                  <a:pt x="8182" y="14184"/>
                  <a:pt x="1269" y="17089"/>
                </a:cubicBezTo>
                <a:cubicBezTo>
                  <a:pt x="207" y="17536"/>
                  <a:pt x="-288" y="18747"/>
                  <a:pt x="170" y="19789"/>
                </a:cubicBezTo>
                <a:cubicBezTo>
                  <a:pt x="629" y="20840"/>
                  <a:pt x="1863" y="21323"/>
                  <a:pt x="2924" y="20876"/>
                </a:cubicBezTo>
                <a:cubicBezTo>
                  <a:pt x="2961" y="20860"/>
                  <a:pt x="2982" y="20828"/>
                  <a:pt x="3014" y="20815"/>
                </a:cubicBezTo>
                <a:cubicBezTo>
                  <a:pt x="10874" y="17480"/>
                  <a:pt x="17451" y="11227"/>
                  <a:pt x="20877" y="2825"/>
                </a:cubicBezTo>
                <a:cubicBezTo>
                  <a:pt x="20877" y="2825"/>
                  <a:pt x="20881" y="2825"/>
                  <a:pt x="20881" y="28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" name="AutoShape 11"/>
          <p:cNvSpPr/>
          <p:nvPr>
            <p:custDataLst>
              <p:tags r:id="rId6"/>
            </p:custDataLst>
          </p:nvPr>
        </p:nvSpPr>
        <p:spPr bwMode="auto">
          <a:xfrm>
            <a:off x="7599363" y="3970338"/>
            <a:ext cx="115888" cy="120650"/>
          </a:xfrm>
          <a:custGeom>
            <a:avLst/>
            <a:gdLst>
              <a:gd name="T0" fmla="+- 0 10803 203"/>
              <a:gd name="T1" fmla="*/ T0 w 21201"/>
              <a:gd name="T2" fmla="+- 0 10798 194"/>
              <a:gd name="T3" fmla="*/ 10798 h 21209"/>
              <a:gd name="T4" fmla="+- 0 10803 203"/>
              <a:gd name="T5" fmla="*/ T4 w 21201"/>
              <a:gd name="T6" fmla="+- 0 10798 194"/>
              <a:gd name="T7" fmla="*/ 10798 h 21209"/>
              <a:gd name="T8" fmla="+- 0 10803 203"/>
              <a:gd name="T9" fmla="*/ T8 w 21201"/>
              <a:gd name="T10" fmla="+- 0 10798 194"/>
              <a:gd name="T11" fmla="*/ 10798 h 21209"/>
              <a:gd name="T12" fmla="+- 0 10803 203"/>
              <a:gd name="T13" fmla="*/ T12 w 21201"/>
              <a:gd name="T14" fmla="+- 0 10798 194"/>
              <a:gd name="T15" fmla="*/ 10798 h 2120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201" h="21209">
                <a:moveTo>
                  <a:pt x="20267" y="104"/>
                </a:moveTo>
                <a:cubicBezTo>
                  <a:pt x="19508" y="-194"/>
                  <a:pt x="18645" y="169"/>
                  <a:pt x="18339" y="912"/>
                </a:cubicBezTo>
                <a:cubicBezTo>
                  <a:pt x="14991" y="9110"/>
                  <a:pt x="8568" y="15198"/>
                  <a:pt x="894" y="18420"/>
                </a:cubicBezTo>
                <a:cubicBezTo>
                  <a:pt x="144" y="18735"/>
                  <a:pt x="-203" y="19589"/>
                  <a:pt x="121" y="20327"/>
                </a:cubicBezTo>
                <a:cubicBezTo>
                  <a:pt x="442" y="21068"/>
                  <a:pt x="1314" y="21406"/>
                  <a:pt x="2067" y="21090"/>
                </a:cubicBezTo>
                <a:cubicBezTo>
                  <a:pt x="2102" y="21073"/>
                  <a:pt x="2125" y="21042"/>
                  <a:pt x="2159" y="21025"/>
                </a:cubicBezTo>
                <a:cubicBezTo>
                  <a:pt x="10491" y="17500"/>
                  <a:pt x="17461" y="10881"/>
                  <a:pt x="21095" y="1994"/>
                </a:cubicBezTo>
                <a:cubicBezTo>
                  <a:pt x="21397" y="1250"/>
                  <a:pt x="21026" y="404"/>
                  <a:pt x="20267" y="10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" name="AutoShape 12"/>
          <p:cNvSpPr/>
          <p:nvPr>
            <p:custDataLst>
              <p:tags r:id="rId7"/>
            </p:custDataLst>
          </p:nvPr>
        </p:nvSpPr>
        <p:spPr bwMode="auto">
          <a:xfrm>
            <a:off x="7583488" y="3952875"/>
            <a:ext cx="98425" cy="101600"/>
          </a:xfrm>
          <a:custGeom>
            <a:avLst/>
            <a:gdLst>
              <a:gd name="T0" fmla="+- 0 10802 238"/>
              <a:gd name="T1" fmla="*/ T0 w 21128"/>
              <a:gd name="T2" fmla="+- 0 10797 227"/>
              <a:gd name="T3" fmla="*/ 10797 h 21141"/>
              <a:gd name="T4" fmla="+- 0 10802 238"/>
              <a:gd name="T5" fmla="*/ T4 w 21128"/>
              <a:gd name="T6" fmla="+- 0 10797 227"/>
              <a:gd name="T7" fmla="*/ 10797 h 21141"/>
              <a:gd name="T8" fmla="+- 0 10802 238"/>
              <a:gd name="T9" fmla="*/ T8 w 21128"/>
              <a:gd name="T10" fmla="+- 0 10797 227"/>
              <a:gd name="T11" fmla="*/ 10797 h 21141"/>
              <a:gd name="T12" fmla="+- 0 10802 238"/>
              <a:gd name="T13" fmla="*/ T12 w 21128"/>
              <a:gd name="T14" fmla="+- 0 10797 227"/>
              <a:gd name="T15" fmla="*/ 10797 h 21141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128" h="21141">
                <a:moveTo>
                  <a:pt x="20035" y="122"/>
                </a:moveTo>
                <a:cubicBezTo>
                  <a:pt x="19142" y="-227"/>
                  <a:pt x="18134" y="195"/>
                  <a:pt x="17778" y="1071"/>
                </a:cubicBezTo>
                <a:cubicBezTo>
                  <a:pt x="14571" y="8936"/>
                  <a:pt x="8412" y="14778"/>
                  <a:pt x="1051" y="17867"/>
                </a:cubicBezTo>
                <a:lnTo>
                  <a:pt x="1054" y="17867"/>
                </a:lnTo>
                <a:cubicBezTo>
                  <a:pt x="172" y="18240"/>
                  <a:pt x="-238" y="19242"/>
                  <a:pt x="142" y="20108"/>
                </a:cubicBezTo>
                <a:cubicBezTo>
                  <a:pt x="522" y="20973"/>
                  <a:pt x="1543" y="21372"/>
                  <a:pt x="2425" y="21003"/>
                </a:cubicBezTo>
                <a:cubicBezTo>
                  <a:pt x="2459" y="20986"/>
                  <a:pt x="2476" y="20956"/>
                  <a:pt x="2514" y="20936"/>
                </a:cubicBezTo>
                <a:cubicBezTo>
                  <a:pt x="10651" y="17491"/>
                  <a:pt x="17459" y="11027"/>
                  <a:pt x="21002" y="2339"/>
                </a:cubicBezTo>
                <a:cubicBezTo>
                  <a:pt x="21361" y="1463"/>
                  <a:pt x="20927" y="472"/>
                  <a:pt x="20035" y="12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AutoShape 13"/>
          <p:cNvSpPr/>
          <p:nvPr>
            <p:custDataLst>
              <p:tags r:id="rId8"/>
            </p:custDataLst>
          </p:nvPr>
        </p:nvSpPr>
        <p:spPr bwMode="auto">
          <a:xfrm>
            <a:off x="7418388" y="3789363"/>
            <a:ext cx="80963" cy="82550"/>
          </a:xfrm>
          <a:custGeom>
            <a:avLst/>
            <a:gdLst>
              <a:gd name="T0" fmla="+- 0 10797 278"/>
              <a:gd name="T1" fmla="*/ T0 w 21039"/>
              <a:gd name="T2" fmla="+- 0 10803 281"/>
              <a:gd name="T3" fmla="*/ 10803 h 21044"/>
              <a:gd name="T4" fmla="+- 0 10797 278"/>
              <a:gd name="T5" fmla="*/ T4 w 21039"/>
              <a:gd name="T6" fmla="+- 0 10803 281"/>
              <a:gd name="T7" fmla="*/ 10803 h 21044"/>
              <a:gd name="T8" fmla="+- 0 10797 278"/>
              <a:gd name="T9" fmla="*/ T8 w 21039"/>
              <a:gd name="T10" fmla="+- 0 10803 281"/>
              <a:gd name="T11" fmla="*/ 10803 h 21044"/>
              <a:gd name="T12" fmla="+- 0 10797 278"/>
              <a:gd name="T13" fmla="*/ T12 w 21039"/>
              <a:gd name="T14" fmla="+- 0 10803 281"/>
              <a:gd name="T15" fmla="*/ 10803 h 21044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039" h="21044">
                <a:moveTo>
                  <a:pt x="20871" y="1248"/>
                </a:moveTo>
                <a:cubicBezTo>
                  <a:pt x="20411" y="197"/>
                  <a:pt x="19177" y="-281"/>
                  <a:pt x="18112" y="169"/>
                </a:cubicBezTo>
                <a:cubicBezTo>
                  <a:pt x="18075" y="181"/>
                  <a:pt x="18050" y="214"/>
                  <a:pt x="18021" y="226"/>
                </a:cubicBezTo>
                <a:cubicBezTo>
                  <a:pt x="10159" y="3562"/>
                  <a:pt x="3583" y="9820"/>
                  <a:pt x="152" y="18220"/>
                </a:cubicBezTo>
                <a:lnTo>
                  <a:pt x="148" y="18220"/>
                </a:lnTo>
                <a:cubicBezTo>
                  <a:pt x="-278" y="19278"/>
                  <a:pt x="242" y="20473"/>
                  <a:pt x="1320" y="20896"/>
                </a:cubicBezTo>
                <a:cubicBezTo>
                  <a:pt x="2398" y="21318"/>
                  <a:pt x="3620" y="20803"/>
                  <a:pt x="4046" y="19749"/>
                </a:cubicBezTo>
                <a:lnTo>
                  <a:pt x="4051" y="19749"/>
                </a:lnTo>
                <a:cubicBezTo>
                  <a:pt x="7068" y="12356"/>
                  <a:pt x="12856" y="6858"/>
                  <a:pt x="19764" y="3956"/>
                </a:cubicBezTo>
                <a:cubicBezTo>
                  <a:pt x="20830" y="3506"/>
                  <a:pt x="21322" y="2298"/>
                  <a:pt x="20871" y="124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" name="AutoShape 14"/>
          <p:cNvSpPr/>
          <p:nvPr>
            <p:custDataLst>
              <p:tags r:id="rId9"/>
            </p:custDataLst>
          </p:nvPr>
        </p:nvSpPr>
        <p:spPr bwMode="auto">
          <a:xfrm>
            <a:off x="7353300" y="3724275"/>
            <a:ext cx="117475" cy="119063"/>
          </a:xfrm>
          <a:custGeom>
            <a:avLst/>
            <a:gdLst>
              <a:gd name="T0" fmla="+- 0 10797 198"/>
              <a:gd name="T1" fmla="*/ T0 w 21199"/>
              <a:gd name="T2" fmla="+- 0 10802 198"/>
              <a:gd name="T3" fmla="*/ 10802 h 21208"/>
              <a:gd name="T4" fmla="+- 0 10797 198"/>
              <a:gd name="T5" fmla="*/ T4 w 21199"/>
              <a:gd name="T6" fmla="+- 0 10802 198"/>
              <a:gd name="T7" fmla="*/ 10802 h 21208"/>
              <a:gd name="T8" fmla="+- 0 10797 198"/>
              <a:gd name="T9" fmla="*/ T8 w 21199"/>
              <a:gd name="T10" fmla="+- 0 10802 198"/>
              <a:gd name="T11" fmla="*/ 10802 h 21208"/>
              <a:gd name="T12" fmla="+- 0 10797 198"/>
              <a:gd name="T13" fmla="*/ T12 w 21199"/>
              <a:gd name="T14" fmla="+- 0 10802 198"/>
              <a:gd name="T15" fmla="*/ 10802 h 21208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199" h="21208">
                <a:moveTo>
                  <a:pt x="21077" y="880"/>
                </a:moveTo>
                <a:cubicBezTo>
                  <a:pt x="20753" y="142"/>
                  <a:pt x="19881" y="-198"/>
                  <a:pt x="19129" y="117"/>
                </a:cubicBezTo>
                <a:cubicBezTo>
                  <a:pt x="19097" y="131"/>
                  <a:pt x="19071" y="162"/>
                  <a:pt x="19039" y="179"/>
                </a:cubicBezTo>
                <a:cubicBezTo>
                  <a:pt x="10706" y="3707"/>
                  <a:pt x="3739" y="10322"/>
                  <a:pt x="106" y="19208"/>
                </a:cubicBezTo>
                <a:cubicBezTo>
                  <a:pt x="-198" y="19957"/>
                  <a:pt x="172" y="20803"/>
                  <a:pt x="934" y="21101"/>
                </a:cubicBezTo>
                <a:cubicBezTo>
                  <a:pt x="1689" y="21401"/>
                  <a:pt x="2552" y="21041"/>
                  <a:pt x="2859" y="20292"/>
                </a:cubicBezTo>
                <a:cubicBezTo>
                  <a:pt x="6206" y="12096"/>
                  <a:pt x="12625" y="6008"/>
                  <a:pt x="20301" y="2787"/>
                </a:cubicBezTo>
                <a:cubicBezTo>
                  <a:pt x="21051" y="2469"/>
                  <a:pt x="21402" y="1618"/>
                  <a:pt x="21077" y="88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6" name="AutoShape 15"/>
          <p:cNvSpPr/>
          <p:nvPr>
            <p:custDataLst>
              <p:tags r:id="rId10"/>
            </p:custDataLst>
          </p:nvPr>
        </p:nvSpPr>
        <p:spPr bwMode="auto">
          <a:xfrm>
            <a:off x="7386638" y="3756025"/>
            <a:ext cx="100013" cy="103188"/>
          </a:xfrm>
          <a:custGeom>
            <a:avLst/>
            <a:gdLst>
              <a:gd name="T0" fmla="+- 0 10796 232"/>
              <a:gd name="T1" fmla="*/ T0 w 21129"/>
              <a:gd name="T2" fmla="+- 0 10804 234"/>
              <a:gd name="T3" fmla="*/ 10804 h 21141"/>
              <a:gd name="T4" fmla="+- 0 10796 232"/>
              <a:gd name="T5" fmla="*/ T4 w 21129"/>
              <a:gd name="T6" fmla="+- 0 10804 234"/>
              <a:gd name="T7" fmla="*/ 10804 h 21141"/>
              <a:gd name="T8" fmla="+- 0 10796 232"/>
              <a:gd name="T9" fmla="*/ T8 w 21129"/>
              <a:gd name="T10" fmla="+- 0 10804 234"/>
              <a:gd name="T11" fmla="*/ 10804 h 21141"/>
              <a:gd name="T12" fmla="+- 0 10796 232"/>
              <a:gd name="T13" fmla="*/ T12 w 21129"/>
              <a:gd name="T14" fmla="+- 0 10804 234"/>
              <a:gd name="T15" fmla="*/ 10804 h 21141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129" h="21141">
                <a:moveTo>
                  <a:pt x="20075" y="3267"/>
                </a:moveTo>
                <a:cubicBezTo>
                  <a:pt x="20953" y="2898"/>
                  <a:pt x="21368" y="1899"/>
                  <a:pt x="20987" y="1030"/>
                </a:cubicBezTo>
                <a:cubicBezTo>
                  <a:pt x="20611" y="168"/>
                  <a:pt x="19589" y="-234"/>
                  <a:pt x="18707" y="138"/>
                </a:cubicBezTo>
                <a:cubicBezTo>
                  <a:pt x="18670" y="152"/>
                  <a:pt x="18649" y="185"/>
                  <a:pt x="18615" y="198"/>
                </a:cubicBezTo>
                <a:cubicBezTo>
                  <a:pt x="10481" y="3647"/>
                  <a:pt x="3673" y="10118"/>
                  <a:pt x="124" y="18802"/>
                </a:cubicBezTo>
                <a:cubicBezTo>
                  <a:pt x="-232" y="19678"/>
                  <a:pt x="205" y="20666"/>
                  <a:pt x="1094" y="21019"/>
                </a:cubicBezTo>
                <a:cubicBezTo>
                  <a:pt x="1983" y="21366"/>
                  <a:pt x="2991" y="20946"/>
                  <a:pt x="3354" y="20071"/>
                </a:cubicBezTo>
                <a:cubicBezTo>
                  <a:pt x="6561" y="12205"/>
                  <a:pt x="12717" y="6360"/>
                  <a:pt x="20075" y="3274"/>
                </a:cubicBezTo>
                <a:cubicBezTo>
                  <a:pt x="20075" y="3274"/>
                  <a:pt x="20075" y="3267"/>
                  <a:pt x="20075" y="32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2779" name="文本框 33"/>
          <p:cNvSpPr txBox="1"/>
          <p:nvPr>
            <p:custDataLst>
              <p:tags r:id="rId11"/>
            </p:custDataLst>
          </p:nvPr>
        </p:nvSpPr>
        <p:spPr>
          <a:xfrm>
            <a:off x="273050" y="228600"/>
            <a:ext cx="30162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分类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1</a:t>
            </a:r>
            <a:endParaRPr lang="en-US" altLang="zh-CN" sz="24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-3175" y="236538"/>
            <a:ext cx="119063" cy="473075"/>
          </a:xfrm>
          <a:prstGeom prst="rect">
            <a:avLst/>
          </a:prstGeom>
          <a:solidFill>
            <a:srgbClr val="578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  <p:sp>
        <p:nvSpPr>
          <p:cNvPr id="38" name="矩形 37"/>
          <p:cNvSpPr/>
          <p:nvPr>
            <p:custDataLst>
              <p:tags r:id="rId13"/>
            </p:custDataLst>
          </p:nvPr>
        </p:nvSpPr>
        <p:spPr>
          <a:xfrm>
            <a:off x="138113" y="236538"/>
            <a:ext cx="96838" cy="473075"/>
          </a:xfrm>
          <a:prstGeom prst="rect">
            <a:avLst/>
          </a:prstGeom>
          <a:solidFill>
            <a:srgbClr val="578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  <p:pic>
        <p:nvPicPr>
          <p:cNvPr id="32782" name="图片 1" descr="三相箱变 (3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4225" y="787400"/>
            <a:ext cx="5216525" cy="3871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83" name="文本框 1"/>
          <p:cNvSpPr txBox="1"/>
          <p:nvPr/>
        </p:nvSpPr>
        <p:spPr>
          <a:xfrm>
            <a:off x="1285875" y="4949825"/>
            <a:ext cx="700405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美式箱变是将变压器器身、高压负荷开关、熔断器等元件一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同放在变压器油箱内,因浸在油中,元件体积大为缩小,结构更为紧凑,安装方便、灵活。全绝缘、全密封结构、安全可靠、操作方便、免维护。广泛应用于住宅小区、高业中心、厂矿企业、机场、车站、学校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太阳能发电，风力发电等场所。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793" name="图片 1" descr="QQ截图20200307110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088" y="752475"/>
            <a:ext cx="6981825" cy="535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4" name="文本框 1"/>
          <p:cNvSpPr txBox="1"/>
          <p:nvPr/>
        </p:nvSpPr>
        <p:spPr>
          <a:xfrm>
            <a:off x="2266950" y="752475"/>
            <a:ext cx="1316038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插入式熔丝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文本框 2"/>
          <p:cNvSpPr txBox="1"/>
          <p:nvPr/>
        </p:nvSpPr>
        <p:spPr>
          <a:xfrm>
            <a:off x="3868738" y="890588"/>
            <a:ext cx="9779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滴油槽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6" name="文本框 3"/>
          <p:cNvSpPr txBox="1"/>
          <p:nvPr/>
        </p:nvSpPr>
        <p:spPr>
          <a:xfrm>
            <a:off x="2019300" y="2782888"/>
            <a:ext cx="11652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负荷开关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7" name="文本框 5"/>
          <p:cNvSpPr txBox="1"/>
          <p:nvPr/>
        </p:nvSpPr>
        <p:spPr>
          <a:xfrm>
            <a:off x="1938338" y="6011863"/>
            <a:ext cx="1016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门槛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8" name="文本框 6"/>
          <p:cNvSpPr txBox="1"/>
          <p:nvPr/>
        </p:nvSpPr>
        <p:spPr>
          <a:xfrm>
            <a:off x="3459163" y="6154738"/>
            <a:ext cx="68103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挂架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9" name="文本框 7"/>
          <p:cNvSpPr txBox="1"/>
          <p:nvPr/>
        </p:nvSpPr>
        <p:spPr>
          <a:xfrm>
            <a:off x="3582988" y="5238750"/>
            <a:ext cx="14525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位调压开关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0" name="文本框 9"/>
          <p:cNvSpPr txBox="1"/>
          <p:nvPr/>
        </p:nvSpPr>
        <p:spPr>
          <a:xfrm>
            <a:off x="4749800" y="1412875"/>
            <a:ext cx="9032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油位计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1" name="文本框 10"/>
          <p:cNvSpPr txBox="1"/>
          <p:nvPr/>
        </p:nvSpPr>
        <p:spPr>
          <a:xfrm>
            <a:off x="6359525" y="808038"/>
            <a:ext cx="10683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铭牌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2" name="文本框 11"/>
          <p:cNvSpPr txBox="1"/>
          <p:nvPr/>
        </p:nvSpPr>
        <p:spPr>
          <a:xfrm>
            <a:off x="6919913" y="3370263"/>
            <a:ext cx="1143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低压端子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531813"/>
            <a:ext cx="8535988" cy="543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8" name="文本框 1"/>
          <p:cNvSpPr txBox="1"/>
          <p:nvPr/>
        </p:nvSpPr>
        <p:spPr>
          <a:xfrm>
            <a:off x="915988" y="1627188"/>
            <a:ext cx="1439862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工位负荷开关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文本框 2"/>
          <p:cNvSpPr txBox="1"/>
          <p:nvPr/>
        </p:nvSpPr>
        <p:spPr>
          <a:xfrm>
            <a:off x="3175000" y="1520825"/>
            <a:ext cx="1524000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工位负荷开关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文本框 3"/>
          <p:cNvSpPr txBox="1"/>
          <p:nvPr/>
        </p:nvSpPr>
        <p:spPr>
          <a:xfrm>
            <a:off x="1128713" y="5949950"/>
            <a:ext cx="1066800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备用熔丝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文本框 4"/>
          <p:cNvSpPr txBox="1"/>
          <p:nvPr/>
        </p:nvSpPr>
        <p:spPr>
          <a:xfrm>
            <a:off x="319088" y="3441700"/>
            <a:ext cx="652462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断路器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文本框 5"/>
          <p:cNvSpPr txBox="1"/>
          <p:nvPr/>
        </p:nvSpPr>
        <p:spPr>
          <a:xfrm>
            <a:off x="3325813" y="5932488"/>
            <a:ext cx="885825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插入式熔丝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1" name="图片 1" descr="72ddfeefa9ec643e938372c7b7d42e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188" y="457200"/>
            <a:ext cx="7062787" cy="488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2" name="文本框 2"/>
          <p:cNvSpPr txBox="1"/>
          <p:nvPr/>
        </p:nvSpPr>
        <p:spPr>
          <a:xfrm>
            <a:off x="3284538" y="5529263"/>
            <a:ext cx="3727450" cy="1198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Dead front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结构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Loadbreak ELbow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肘形接头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Loadbreak Insert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高压套管   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Bushing well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套管坐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文本框 1"/>
          <p:cNvSpPr txBox="1"/>
          <p:nvPr/>
        </p:nvSpPr>
        <p:spPr>
          <a:xfrm>
            <a:off x="5078413" y="5529263"/>
            <a:ext cx="1393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插入式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AutoShape 7"/>
          <p:cNvSpPr/>
          <p:nvPr>
            <p:custDataLst>
              <p:tags r:id="rId1"/>
            </p:custDataLst>
          </p:nvPr>
        </p:nvSpPr>
        <p:spPr bwMode="auto">
          <a:xfrm>
            <a:off x="7270750" y="3640138"/>
            <a:ext cx="525463" cy="525463"/>
          </a:xfrm>
          <a:custGeom>
            <a:avLst/>
            <a:gdLst>
              <a:gd name="T0" fmla="+- 0 10800 1271"/>
              <a:gd name="T1" fmla="*/ T0 w 19058"/>
              <a:gd name="T2" fmla="+- 0 10799 1270"/>
              <a:gd name="T3" fmla="*/ 10799 h 19059"/>
              <a:gd name="T4" fmla="+- 0 10800 1271"/>
              <a:gd name="T5" fmla="*/ T4 w 19058"/>
              <a:gd name="T6" fmla="+- 0 10799 1270"/>
              <a:gd name="T7" fmla="*/ 10799 h 19059"/>
              <a:gd name="T8" fmla="+- 0 10800 1271"/>
              <a:gd name="T9" fmla="*/ T8 w 19058"/>
              <a:gd name="T10" fmla="+- 0 10799 1270"/>
              <a:gd name="T11" fmla="*/ 10799 h 19059"/>
              <a:gd name="T12" fmla="+- 0 10800 1271"/>
              <a:gd name="T13" fmla="*/ T12 w 19058"/>
              <a:gd name="T14" fmla="+- 0 10799 1270"/>
              <a:gd name="T15" fmla="*/ 10799 h 1905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058" h="19059">
                <a:moveTo>
                  <a:pt x="6430" y="17268"/>
                </a:moveTo>
                <a:cubicBezTo>
                  <a:pt x="2162" y="15559"/>
                  <a:pt x="82" y="10698"/>
                  <a:pt x="1790" y="6431"/>
                </a:cubicBezTo>
                <a:cubicBezTo>
                  <a:pt x="3499" y="2164"/>
                  <a:pt x="8360" y="81"/>
                  <a:pt x="12627" y="1791"/>
                </a:cubicBezTo>
                <a:cubicBezTo>
                  <a:pt x="16894" y="3499"/>
                  <a:pt x="18975" y="8361"/>
                  <a:pt x="17267" y="12628"/>
                </a:cubicBezTo>
                <a:cubicBezTo>
                  <a:pt x="15558" y="16895"/>
                  <a:pt x="10696" y="18976"/>
                  <a:pt x="6430" y="17268"/>
                </a:cubicBezTo>
                <a:moveTo>
                  <a:pt x="13070" y="685"/>
                </a:moveTo>
                <a:cubicBezTo>
                  <a:pt x="8186" y="-1270"/>
                  <a:pt x="2641" y="1103"/>
                  <a:pt x="685" y="5987"/>
                </a:cubicBezTo>
                <a:cubicBezTo>
                  <a:pt x="-1271" y="10872"/>
                  <a:pt x="1103" y="16418"/>
                  <a:pt x="5987" y="18373"/>
                </a:cubicBezTo>
                <a:cubicBezTo>
                  <a:pt x="10871" y="20330"/>
                  <a:pt x="16416" y="17955"/>
                  <a:pt x="18373" y="13071"/>
                </a:cubicBezTo>
                <a:cubicBezTo>
                  <a:pt x="20329" y="8186"/>
                  <a:pt x="17954" y="2641"/>
                  <a:pt x="13070" y="68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9" name="AutoShape 8"/>
          <p:cNvSpPr/>
          <p:nvPr>
            <p:custDataLst>
              <p:tags r:id="rId2"/>
            </p:custDataLst>
          </p:nvPr>
        </p:nvSpPr>
        <p:spPr bwMode="auto">
          <a:xfrm>
            <a:off x="7500938" y="3870325"/>
            <a:ext cx="65088" cy="66675"/>
          </a:xfrm>
          <a:custGeom>
            <a:avLst/>
            <a:gdLst>
              <a:gd name="T0" fmla="+- 0 10801 1272"/>
              <a:gd name="T1" fmla="*/ T0 w 19059"/>
              <a:gd name="T2" fmla="+- 0 10800 1272"/>
              <a:gd name="T3" fmla="*/ 10800 h 19056"/>
              <a:gd name="T4" fmla="+- 0 10801 1272"/>
              <a:gd name="T5" fmla="*/ T4 w 19059"/>
              <a:gd name="T6" fmla="+- 0 10800 1272"/>
              <a:gd name="T7" fmla="*/ 10800 h 19056"/>
              <a:gd name="T8" fmla="+- 0 10801 1272"/>
              <a:gd name="T9" fmla="*/ T8 w 19059"/>
              <a:gd name="T10" fmla="+- 0 10800 1272"/>
              <a:gd name="T11" fmla="*/ 10800 h 19056"/>
              <a:gd name="T12" fmla="+- 0 10801 1272"/>
              <a:gd name="T13" fmla="*/ T12 w 19059"/>
              <a:gd name="T14" fmla="+- 0 10800 1272"/>
              <a:gd name="T15" fmla="*/ 10800 h 19056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059" h="19056">
                <a:moveTo>
                  <a:pt x="7753" y="13951"/>
                </a:moveTo>
                <a:cubicBezTo>
                  <a:pt x="5315" y="12969"/>
                  <a:pt x="4129" y="10197"/>
                  <a:pt x="5101" y="7755"/>
                </a:cubicBezTo>
                <a:cubicBezTo>
                  <a:pt x="6083" y="5323"/>
                  <a:pt x="8860" y="4132"/>
                  <a:pt x="11298" y="5104"/>
                </a:cubicBezTo>
                <a:cubicBezTo>
                  <a:pt x="13735" y="6081"/>
                  <a:pt x="14926" y="8858"/>
                  <a:pt x="13949" y="11300"/>
                </a:cubicBezTo>
                <a:cubicBezTo>
                  <a:pt x="12972" y="13737"/>
                  <a:pt x="10195" y="14923"/>
                  <a:pt x="7753" y="13951"/>
                </a:cubicBezTo>
                <a:moveTo>
                  <a:pt x="13070" y="686"/>
                </a:moveTo>
                <a:cubicBezTo>
                  <a:pt x="8190" y="-1272"/>
                  <a:pt x="2640" y="1104"/>
                  <a:pt x="686" y="5988"/>
                </a:cubicBezTo>
                <a:cubicBezTo>
                  <a:pt x="-1272" y="10872"/>
                  <a:pt x="1105" y="16416"/>
                  <a:pt x="5985" y="18369"/>
                </a:cubicBezTo>
                <a:cubicBezTo>
                  <a:pt x="10870" y="20328"/>
                  <a:pt x="16415" y="17951"/>
                  <a:pt x="18374" y="13072"/>
                </a:cubicBezTo>
                <a:cubicBezTo>
                  <a:pt x="20328" y="8188"/>
                  <a:pt x="17960" y="2644"/>
                  <a:pt x="13070" y="68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0" name="AutoShape 9"/>
          <p:cNvSpPr/>
          <p:nvPr>
            <p:custDataLst>
              <p:tags r:id="rId3"/>
            </p:custDataLst>
          </p:nvPr>
        </p:nvSpPr>
        <p:spPr bwMode="auto">
          <a:xfrm>
            <a:off x="7434263" y="3805238"/>
            <a:ext cx="196850" cy="196850"/>
          </a:xfrm>
          <a:custGeom>
            <a:avLst/>
            <a:gdLst>
              <a:gd name="T0" fmla="+- 0 10800 1271"/>
              <a:gd name="T1" fmla="*/ T0 w 19059"/>
              <a:gd name="T2" fmla="+- 0 10800 1271"/>
              <a:gd name="T3" fmla="*/ 10800 h 19058"/>
              <a:gd name="T4" fmla="+- 0 10800 1271"/>
              <a:gd name="T5" fmla="*/ T4 w 19059"/>
              <a:gd name="T6" fmla="+- 0 10800 1271"/>
              <a:gd name="T7" fmla="*/ 10800 h 19058"/>
              <a:gd name="T8" fmla="+- 0 10800 1271"/>
              <a:gd name="T9" fmla="*/ T8 w 19059"/>
              <a:gd name="T10" fmla="+- 0 10800 1271"/>
              <a:gd name="T11" fmla="*/ 10800 h 19058"/>
              <a:gd name="T12" fmla="+- 0 10800 1271"/>
              <a:gd name="T13" fmla="*/ T12 w 19059"/>
              <a:gd name="T14" fmla="+- 0 10800 1271"/>
              <a:gd name="T15" fmla="*/ 10800 h 19058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059" h="19058">
                <a:moveTo>
                  <a:pt x="7169" y="15424"/>
                </a:moveTo>
                <a:cubicBezTo>
                  <a:pt x="3916" y="14123"/>
                  <a:pt x="2331" y="10417"/>
                  <a:pt x="3632" y="7167"/>
                </a:cubicBezTo>
                <a:cubicBezTo>
                  <a:pt x="4934" y="3917"/>
                  <a:pt x="8638" y="2331"/>
                  <a:pt x="11889" y="3632"/>
                </a:cubicBezTo>
                <a:cubicBezTo>
                  <a:pt x="15141" y="4934"/>
                  <a:pt x="16728" y="8640"/>
                  <a:pt x="15425" y="11890"/>
                </a:cubicBezTo>
                <a:cubicBezTo>
                  <a:pt x="14124" y="15140"/>
                  <a:pt x="10419" y="16728"/>
                  <a:pt x="7169" y="15424"/>
                </a:cubicBezTo>
                <a:moveTo>
                  <a:pt x="13071" y="685"/>
                </a:moveTo>
                <a:cubicBezTo>
                  <a:pt x="8186" y="-1271"/>
                  <a:pt x="2639" y="1104"/>
                  <a:pt x="686" y="5987"/>
                </a:cubicBezTo>
                <a:cubicBezTo>
                  <a:pt x="-1271" y="10871"/>
                  <a:pt x="1104" y="16416"/>
                  <a:pt x="5987" y="18372"/>
                </a:cubicBezTo>
                <a:cubicBezTo>
                  <a:pt x="10874" y="20329"/>
                  <a:pt x="16418" y="17955"/>
                  <a:pt x="18375" y="13070"/>
                </a:cubicBezTo>
                <a:cubicBezTo>
                  <a:pt x="20328" y="8186"/>
                  <a:pt x="17956" y="2641"/>
                  <a:pt x="13071" y="68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325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" name="AutoShape 10"/>
          <p:cNvSpPr/>
          <p:nvPr>
            <p:custDataLst>
              <p:tags r:id="rId4"/>
            </p:custDataLst>
          </p:nvPr>
        </p:nvSpPr>
        <p:spPr bwMode="auto">
          <a:xfrm>
            <a:off x="7566025" y="3937000"/>
            <a:ext cx="82550" cy="84138"/>
          </a:xfrm>
          <a:custGeom>
            <a:avLst/>
            <a:gdLst>
              <a:gd name="T0" fmla="+- 0 10804 288"/>
              <a:gd name="T1" fmla="*/ T0 w 21033"/>
              <a:gd name="T2" fmla="+- 0 10798 277"/>
              <a:gd name="T3" fmla="*/ 10798 h 21043"/>
              <a:gd name="T4" fmla="+- 0 10804 288"/>
              <a:gd name="T5" fmla="*/ T4 w 21033"/>
              <a:gd name="T6" fmla="+- 0 10798 277"/>
              <a:gd name="T7" fmla="*/ 10798 h 21043"/>
              <a:gd name="T8" fmla="+- 0 10804 288"/>
              <a:gd name="T9" fmla="*/ T8 w 21033"/>
              <a:gd name="T10" fmla="+- 0 10798 277"/>
              <a:gd name="T11" fmla="*/ 10798 h 21043"/>
              <a:gd name="T12" fmla="+- 0 10804 288"/>
              <a:gd name="T13" fmla="*/ T12 w 21033"/>
              <a:gd name="T14" fmla="+- 0 10798 277"/>
              <a:gd name="T15" fmla="*/ 10798 h 21043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033" h="21043">
                <a:moveTo>
                  <a:pt x="20881" y="2825"/>
                </a:moveTo>
                <a:cubicBezTo>
                  <a:pt x="21312" y="1771"/>
                  <a:pt x="20787" y="572"/>
                  <a:pt x="19713" y="149"/>
                </a:cubicBezTo>
                <a:cubicBezTo>
                  <a:pt x="18636" y="-277"/>
                  <a:pt x="17414" y="238"/>
                  <a:pt x="16984" y="1296"/>
                </a:cubicBezTo>
                <a:lnTo>
                  <a:pt x="16980" y="1292"/>
                </a:lnTo>
                <a:cubicBezTo>
                  <a:pt x="13964" y="8692"/>
                  <a:pt x="8182" y="14184"/>
                  <a:pt x="1269" y="17089"/>
                </a:cubicBezTo>
                <a:cubicBezTo>
                  <a:pt x="207" y="17536"/>
                  <a:pt x="-288" y="18747"/>
                  <a:pt x="170" y="19789"/>
                </a:cubicBezTo>
                <a:cubicBezTo>
                  <a:pt x="629" y="20840"/>
                  <a:pt x="1863" y="21323"/>
                  <a:pt x="2924" y="20876"/>
                </a:cubicBezTo>
                <a:cubicBezTo>
                  <a:pt x="2961" y="20860"/>
                  <a:pt x="2982" y="20828"/>
                  <a:pt x="3014" y="20815"/>
                </a:cubicBezTo>
                <a:cubicBezTo>
                  <a:pt x="10874" y="17480"/>
                  <a:pt x="17451" y="11227"/>
                  <a:pt x="20877" y="2825"/>
                </a:cubicBezTo>
                <a:cubicBezTo>
                  <a:pt x="20877" y="2825"/>
                  <a:pt x="20881" y="2825"/>
                  <a:pt x="20881" y="28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" name="AutoShape 11"/>
          <p:cNvSpPr/>
          <p:nvPr>
            <p:custDataLst>
              <p:tags r:id="rId5"/>
            </p:custDataLst>
          </p:nvPr>
        </p:nvSpPr>
        <p:spPr bwMode="auto">
          <a:xfrm>
            <a:off x="7599363" y="3970338"/>
            <a:ext cx="115888" cy="120650"/>
          </a:xfrm>
          <a:custGeom>
            <a:avLst/>
            <a:gdLst>
              <a:gd name="T0" fmla="+- 0 10803 203"/>
              <a:gd name="T1" fmla="*/ T0 w 21201"/>
              <a:gd name="T2" fmla="+- 0 10798 194"/>
              <a:gd name="T3" fmla="*/ 10798 h 21209"/>
              <a:gd name="T4" fmla="+- 0 10803 203"/>
              <a:gd name="T5" fmla="*/ T4 w 21201"/>
              <a:gd name="T6" fmla="+- 0 10798 194"/>
              <a:gd name="T7" fmla="*/ 10798 h 21209"/>
              <a:gd name="T8" fmla="+- 0 10803 203"/>
              <a:gd name="T9" fmla="*/ T8 w 21201"/>
              <a:gd name="T10" fmla="+- 0 10798 194"/>
              <a:gd name="T11" fmla="*/ 10798 h 21209"/>
              <a:gd name="T12" fmla="+- 0 10803 203"/>
              <a:gd name="T13" fmla="*/ T12 w 21201"/>
              <a:gd name="T14" fmla="+- 0 10798 194"/>
              <a:gd name="T15" fmla="*/ 10798 h 2120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201" h="21209">
                <a:moveTo>
                  <a:pt x="20267" y="104"/>
                </a:moveTo>
                <a:cubicBezTo>
                  <a:pt x="19508" y="-194"/>
                  <a:pt x="18645" y="169"/>
                  <a:pt x="18339" y="912"/>
                </a:cubicBezTo>
                <a:cubicBezTo>
                  <a:pt x="14991" y="9110"/>
                  <a:pt x="8568" y="15198"/>
                  <a:pt x="894" y="18420"/>
                </a:cubicBezTo>
                <a:cubicBezTo>
                  <a:pt x="144" y="18735"/>
                  <a:pt x="-203" y="19589"/>
                  <a:pt x="121" y="20327"/>
                </a:cubicBezTo>
                <a:cubicBezTo>
                  <a:pt x="442" y="21068"/>
                  <a:pt x="1314" y="21406"/>
                  <a:pt x="2067" y="21090"/>
                </a:cubicBezTo>
                <a:cubicBezTo>
                  <a:pt x="2102" y="21073"/>
                  <a:pt x="2125" y="21042"/>
                  <a:pt x="2159" y="21025"/>
                </a:cubicBezTo>
                <a:cubicBezTo>
                  <a:pt x="10491" y="17500"/>
                  <a:pt x="17461" y="10881"/>
                  <a:pt x="21095" y="1994"/>
                </a:cubicBezTo>
                <a:cubicBezTo>
                  <a:pt x="21397" y="1250"/>
                  <a:pt x="21026" y="404"/>
                  <a:pt x="20267" y="10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" name="AutoShape 12"/>
          <p:cNvSpPr/>
          <p:nvPr>
            <p:custDataLst>
              <p:tags r:id="rId6"/>
            </p:custDataLst>
          </p:nvPr>
        </p:nvSpPr>
        <p:spPr bwMode="auto">
          <a:xfrm>
            <a:off x="7583488" y="3952875"/>
            <a:ext cx="98425" cy="101600"/>
          </a:xfrm>
          <a:custGeom>
            <a:avLst/>
            <a:gdLst>
              <a:gd name="T0" fmla="+- 0 10802 238"/>
              <a:gd name="T1" fmla="*/ T0 w 21128"/>
              <a:gd name="T2" fmla="+- 0 10797 227"/>
              <a:gd name="T3" fmla="*/ 10797 h 21141"/>
              <a:gd name="T4" fmla="+- 0 10802 238"/>
              <a:gd name="T5" fmla="*/ T4 w 21128"/>
              <a:gd name="T6" fmla="+- 0 10797 227"/>
              <a:gd name="T7" fmla="*/ 10797 h 21141"/>
              <a:gd name="T8" fmla="+- 0 10802 238"/>
              <a:gd name="T9" fmla="*/ T8 w 21128"/>
              <a:gd name="T10" fmla="+- 0 10797 227"/>
              <a:gd name="T11" fmla="*/ 10797 h 21141"/>
              <a:gd name="T12" fmla="+- 0 10802 238"/>
              <a:gd name="T13" fmla="*/ T12 w 21128"/>
              <a:gd name="T14" fmla="+- 0 10797 227"/>
              <a:gd name="T15" fmla="*/ 10797 h 21141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128" h="21141">
                <a:moveTo>
                  <a:pt x="20035" y="122"/>
                </a:moveTo>
                <a:cubicBezTo>
                  <a:pt x="19142" y="-227"/>
                  <a:pt x="18134" y="195"/>
                  <a:pt x="17778" y="1071"/>
                </a:cubicBezTo>
                <a:cubicBezTo>
                  <a:pt x="14571" y="8936"/>
                  <a:pt x="8412" y="14778"/>
                  <a:pt x="1051" y="17867"/>
                </a:cubicBezTo>
                <a:lnTo>
                  <a:pt x="1054" y="17867"/>
                </a:lnTo>
                <a:cubicBezTo>
                  <a:pt x="172" y="18240"/>
                  <a:pt x="-238" y="19242"/>
                  <a:pt x="142" y="20108"/>
                </a:cubicBezTo>
                <a:cubicBezTo>
                  <a:pt x="522" y="20973"/>
                  <a:pt x="1543" y="21372"/>
                  <a:pt x="2425" y="21003"/>
                </a:cubicBezTo>
                <a:cubicBezTo>
                  <a:pt x="2459" y="20986"/>
                  <a:pt x="2476" y="20956"/>
                  <a:pt x="2514" y="20936"/>
                </a:cubicBezTo>
                <a:cubicBezTo>
                  <a:pt x="10651" y="17491"/>
                  <a:pt x="17459" y="11027"/>
                  <a:pt x="21002" y="2339"/>
                </a:cubicBezTo>
                <a:cubicBezTo>
                  <a:pt x="21361" y="1463"/>
                  <a:pt x="20927" y="472"/>
                  <a:pt x="20035" y="12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AutoShape 13"/>
          <p:cNvSpPr/>
          <p:nvPr>
            <p:custDataLst>
              <p:tags r:id="rId7"/>
            </p:custDataLst>
          </p:nvPr>
        </p:nvSpPr>
        <p:spPr bwMode="auto">
          <a:xfrm>
            <a:off x="7418388" y="3789363"/>
            <a:ext cx="80963" cy="82550"/>
          </a:xfrm>
          <a:custGeom>
            <a:avLst/>
            <a:gdLst>
              <a:gd name="T0" fmla="+- 0 10797 278"/>
              <a:gd name="T1" fmla="*/ T0 w 21039"/>
              <a:gd name="T2" fmla="+- 0 10803 281"/>
              <a:gd name="T3" fmla="*/ 10803 h 21044"/>
              <a:gd name="T4" fmla="+- 0 10797 278"/>
              <a:gd name="T5" fmla="*/ T4 w 21039"/>
              <a:gd name="T6" fmla="+- 0 10803 281"/>
              <a:gd name="T7" fmla="*/ 10803 h 21044"/>
              <a:gd name="T8" fmla="+- 0 10797 278"/>
              <a:gd name="T9" fmla="*/ T8 w 21039"/>
              <a:gd name="T10" fmla="+- 0 10803 281"/>
              <a:gd name="T11" fmla="*/ 10803 h 21044"/>
              <a:gd name="T12" fmla="+- 0 10797 278"/>
              <a:gd name="T13" fmla="*/ T12 w 21039"/>
              <a:gd name="T14" fmla="+- 0 10803 281"/>
              <a:gd name="T15" fmla="*/ 10803 h 21044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039" h="21044">
                <a:moveTo>
                  <a:pt x="20871" y="1248"/>
                </a:moveTo>
                <a:cubicBezTo>
                  <a:pt x="20411" y="197"/>
                  <a:pt x="19177" y="-281"/>
                  <a:pt x="18112" y="169"/>
                </a:cubicBezTo>
                <a:cubicBezTo>
                  <a:pt x="18075" y="181"/>
                  <a:pt x="18050" y="214"/>
                  <a:pt x="18021" y="226"/>
                </a:cubicBezTo>
                <a:cubicBezTo>
                  <a:pt x="10159" y="3562"/>
                  <a:pt x="3583" y="9820"/>
                  <a:pt x="152" y="18220"/>
                </a:cubicBezTo>
                <a:lnTo>
                  <a:pt x="148" y="18220"/>
                </a:lnTo>
                <a:cubicBezTo>
                  <a:pt x="-278" y="19278"/>
                  <a:pt x="242" y="20473"/>
                  <a:pt x="1320" y="20896"/>
                </a:cubicBezTo>
                <a:cubicBezTo>
                  <a:pt x="2398" y="21318"/>
                  <a:pt x="3620" y="20803"/>
                  <a:pt x="4046" y="19749"/>
                </a:cubicBezTo>
                <a:lnTo>
                  <a:pt x="4051" y="19749"/>
                </a:lnTo>
                <a:cubicBezTo>
                  <a:pt x="7068" y="12356"/>
                  <a:pt x="12856" y="6858"/>
                  <a:pt x="19764" y="3956"/>
                </a:cubicBezTo>
                <a:cubicBezTo>
                  <a:pt x="20830" y="3506"/>
                  <a:pt x="21322" y="2298"/>
                  <a:pt x="20871" y="124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" name="AutoShape 14"/>
          <p:cNvSpPr/>
          <p:nvPr>
            <p:custDataLst>
              <p:tags r:id="rId8"/>
            </p:custDataLst>
          </p:nvPr>
        </p:nvSpPr>
        <p:spPr bwMode="auto">
          <a:xfrm>
            <a:off x="7353300" y="3724275"/>
            <a:ext cx="117475" cy="119063"/>
          </a:xfrm>
          <a:custGeom>
            <a:avLst/>
            <a:gdLst>
              <a:gd name="T0" fmla="+- 0 10797 198"/>
              <a:gd name="T1" fmla="*/ T0 w 21199"/>
              <a:gd name="T2" fmla="+- 0 10802 198"/>
              <a:gd name="T3" fmla="*/ 10802 h 21208"/>
              <a:gd name="T4" fmla="+- 0 10797 198"/>
              <a:gd name="T5" fmla="*/ T4 w 21199"/>
              <a:gd name="T6" fmla="+- 0 10802 198"/>
              <a:gd name="T7" fmla="*/ 10802 h 21208"/>
              <a:gd name="T8" fmla="+- 0 10797 198"/>
              <a:gd name="T9" fmla="*/ T8 w 21199"/>
              <a:gd name="T10" fmla="+- 0 10802 198"/>
              <a:gd name="T11" fmla="*/ 10802 h 21208"/>
              <a:gd name="T12" fmla="+- 0 10797 198"/>
              <a:gd name="T13" fmla="*/ T12 w 21199"/>
              <a:gd name="T14" fmla="+- 0 10802 198"/>
              <a:gd name="T15" fmla="*/ 10802 h 21208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199" h="21208">
                <a:moveTo>
                  <a:pt x="21077" y="880"/>
                </a:moveTo>
                <a:cubicBezTo>
                  <a:pt x="20753" y="142"/>
                  <a:pt x="19881" y="-198"/>
                  <a:pt x="19129" y="117"/>
                </a:cubicBezTo>
                <a:cubicBezTo>
                  <a:pt x="19097" y="131"/>
                  <a:pt x="19071" y="162"/>
                  <a:pt x="19039" y="179"/>
                </a:cubicBezTo>
                <a:cubicBezTo>
                  <a:pt x="10706" y="3707"/>
                  <a:pt x="3739" y="10322"/>
                  <a:pt x="106" y="19208"/>
                </a:cubicBezTo>
                <a:cubicBezTo>
                  <a:pt x="-198" y="19957"/>
                  <a:pt x="172" y="20803"/>
                  <a:pt x="934" y="21101"/>
                </a:cubicBezTo>
                <a:cubicBezTo>
                  <a:pt x="1689" y="21401"/>
                  <a:pt x="2552" y="21041"/>
                  <a:pt x="2859" y="20292"/>
                </a:cubicBezTo>
                <a:cubicBezTo>
                  <a:pt x="6206" y="12096"/>
                  <a:pt x="12625" y="6008"/>
                  <a:pt x="20301" y="2787"/>
                </a:cubicBezTo>
                <a:cubicBezTo>
                  <a:pt x="21051" y="2469"/>
                  <a:pt x="21402" y="1618"/>
                  <a:pt x="21077" y="88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6" name="AutoShape 15"/>
          <p:cNvSpPr/>
          <p:nvPr>
            <p:custDataLst>
              <p:tags r:id="rId9"/>
            </p:custDataLst>
          </p:nvPr>
        </p:nvSpPr>
        <p:spPr bwMode="auto">
          <a:xfrm>
            <a:off x="7386638" y="3756025"/>
            <a:ext cx="100013" cy="103188"/>
          </a:xfrm>
          <a:custGeom>
            <a:avLst/>
            <a:gdLst>
              <a:gd name="T0" fmla="+- 0 10796 232"/>
              <a:gd name="T1" fmla="*/ T0 w 21129"/>
              <a:gd name="T2" fmla="+- 0 10804 234"/>
              <a:gd name="T3" fmla="*/ 10804 h 21141"/>
              <a:gd name="T4" fmla="+- 0 10796 232"/>
              <a:gd name="T5" fmla="*/ T4 w 21129"/>
              <a:gd name="T6" fmla="+- 0 10804 234"/>
              <a:gd name="T7" fmla="*/ 10804 h 21141"/>
              <a:gd name="T8" fmla="+- 0 10796 232"/>
              <a:gd name="T9" fmla="*/ T8 w 21129"/>
              <a:gd name="T10" fmla="+- 0 10804 234"/>
              <a:gd name="T11" fmla="*/ 10804 h 21141"/>
              <a:gd name="T12" fmla="+- 0 10796 232"/>
              <a:gd name="T13" fmla="*/ T12 w 21129"/>
              <a:gd name="T14" fmla="+- 0 10804 234"/>
              <a:gd name="T15" fmla="*/ 10804 h 21141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129" h="21141">
                <a:moveTo>
                  <a:pt x="20075" y="3267"/>
                </a:moveTo>
                <a:cubicBezTo>
                  <a:pt x="20953" y="2898"/>
                  <a:pt x="21368" y="1899"/>
                  <a:pt x="20987" y="1030"/>
                </a:cubicBezTo>
                <a:cubicBezTo>
                  <a:pt x="20611" y="168"/>
                  <a:pt x="19589" y="-234"/>
                  <a:pt x="18707" y="138"/>
                </a:cubicBezTo>
                <a:cubicBezTo>
                  <a:pt x="18670" y="152"/>
                  <a:pt x="18649" y="185"/>
                  <a:pt x="18615" y="198"/>
                </a:cubicBezTo>
                <a:cubicBezTo>
                  <a:pt x="10481" y="3647"/>
                  <a:pt x="3673" y="10118"/>
                  <a:pt x="124" y="18802"/>
                </a:cubicBezTo>
                <a:cubicBezTo>
                  <a:pt x="-232" y="19678"/>
                  <a:pt x="205" y="20666"/>
                  <a:pt x="1094" y="21019"/>
                </a:cubicBezTo>
                <a:cubicBezTo>
                  <a:pt x="1983" y="21366"/>
                  <a:pt x="2991" y="20946"/>
                  <a:pt x="3354" y="20071"/>
                </a:cubicBezTo>
                <a:cubicBezTo>
                  <a:pt x="6561" y="12205"/>
                  <a:pt x="12717" y="6360"/>
                  <a:pt x="20075" y="3274"/>
                </a:cubicBezTo>
                <a:cubicBezTo>
                  <a:pt x="20075" y="3274"/>
                  <a:pt x="20075" y="3267"/>
                  <a:pt x="20075" y="32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 anchor="ctr">
            <a:normAutofit fontScale="25000" lnSpcReduction="20000"/>
          </a:bodyPr>
          <a:lstStyle/>
          <a:p>
            <a:pPr defTabSz="342900" fontAlgn="base"/>
            <a:endParaRPr lang="en-US" sz="2250" strike="noStrike" noProof="1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6874" name="文本框 33"/>
          <p:cNvSpPr txBox="1"/>
          <p:nvPr>
            <p:custDataLst>
              <p:tags r:id="rId10"/>
            </p:custDataLst>
          </p:nvPr>
        </p:nvSpPr>
        <p:spPr>
          <a:xfrm>
            <a:off x="273050" y="228600"/>
            <a:ext cx="30162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三相变压器分类</a:t>
            </a:r>
            <a:endParaRPr lang="en-US" altLang="zh-CN" sz="24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36" name="矩形 35"/>
          <p:cNvSpPr/>
          <p:nvPr>
            <p:custDataLst>
              <p:tags r:id="rId11"/>
            </p:custDataLst>
          </p:nvPr>
        </p:nvSpPr>
        <p:spPr>
          <a:xfrm>
            <a:off x="-3175" y="236538"/>
            <a:ext cx="119063" cy="473075"/>
          </a:xfrm>
          <a:prstGeom prst="rect">
            <a:avLst/>
          </a:prstGeom>
          <a:solidFill>
            <a:srgbClr val="578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  <p:sp>
        <p:nvSpPr>
          <p:cNvPr id="38" name="矩形 37"/>
          <p:cNvSpPr/>
          <p:nvPr>
            <p:custDataLst>
              <p:tags r:id="rId12"/>
            </p:custDataLst>
          </p:nvPr>
        </p:nvSpPr>
        <p:spPr>
          <a:xfrm>
            <a:off x="138113" y="236538"/>
            <a:ext cx="96838" cy="473075"/>
          </a:xfrm>
          <a:prstGeom prst="rect">
            <a:avLst/>
          </a:prstGeom>
          <a:solidFill>
            <a:srgbClr val="578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  <p:pic>
        <p:nvPicPr>
          <p:cNvPr id="36877" name="图片 1" descr="22"/>
          <p:cNvPicPr>
            <a:picLocks noChangeAspect="1"/>
          </p:cNvPicPr>
          <p:nvPr/>
        </p:nvPicPr>
        <p:blipFill>
          <a:blip r:embed="rId13"/>
          <a:srcRect l="6456" t="14944" r="4849" b="15726"/>
          <a:stretch>
            <a:fillRect/>
          </a:stretch>
        </p:blipFill>
        <p:spPr>
          <a:xfrm>
            <a:off x="683895" y="1556385"/>
            <a:ext cx="3960495" cy="30962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78" name="图片 2" descr="Radial feed_副本"/>
          <p:cNvPicPr>
            <a:picLocks noChangeAspect="1"/>
          </p:cNvPicPr>
          <p:nvPr/>
        </p:nvPicPr>
        <p:blipFill>
          <a:blip r:embed="rId14"/>
          <a:srcRect t="17335" r="-3182" b="16475"/>
          <a:stretch>
            <a:fillRect/>
          </a:stretch>
        </p:blipFill>
        <p:spPr>
          <a:xfrm>
            <a:off x="4476750" y="1700530"/>
            <a:ext cx="4488180" cy="28803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79" name="文本框 3"/>
          <p:cNvSpPr txBox="1"/>
          <p:nvPr/>
        </p:nvSpPr>
        <p:spPr>
          <a:xfrm>
            <a:off x="712788" y="5538788"/>
            <a:ext cx="24907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Loop feed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环网型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80" name="文本框 4"/>
          <p:cNvSpPr txBox="1"/>
          <p:nvPr/>
        </p:nvSpPr>
        <p:spPr>
          <a:xfrm>
            <a:off x="5305425" y="5538788"/>
            <a:ext cx="24907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Radial feed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终端型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8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888" y="401638"/>
            <a:ext cx="7675562" cy="5757862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文本框 34"/>
          <p:cNvSpPr txBox="1"/>
          <p:nvPr>
            <p:custDataLst>
              <p:tags r:id="rId1"/>
            </p:custDataLst>
          </p:nvPr>
        </p:nvSpPr>
        <p:spPr>
          <a:xfrm>
            <a:off x="1763713" y="2416175"/>
            <a:ext cx="1773238" cy="141922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algn="ctr" defTabSz="685800">
              <a:defRPr/>
            </a:pPr>
            <a:r>
              <a:rPr lang="en-US" altLang="zh-CN" sz="8625" noProof="1" dirty="0">
                <a:solidFill>
                  <a:srgbClr val="578B18"/>
                </a:solidFill>
                <a:latin typeface="Impact" panose="020B0806030902050204" pitchFamily="34" charset="0"/>
                <a:ea typeface="方正舒体" panose="02010601030101010101" pitchFamily="2" charset="-122"/>
                <a:cs typeface="+mn-cs"/>
                <a:sym typeface="+mn-ea"/>
              </a:rPr>
              <a:t>04</a:t>
            </a:r>
            <a:endParaRPr lang="en-US" altLang="zh-CN" sz="8625" noProof="1" dirty="0">
              <a:solidFill>
                <a:srgbClr val="578B18"/>
              </a:solidFill>
              <a:latin typeface="Impact" panose="020B0806030902050204" pitchFamily="34" charset="0"/>
              <a:ea typeface="方正舒体" panose="02010601030101010101" pitchFamily="2" charset="-122"/>
              <a:sym typeface="+mn-ea"/>
            </a:endParaRPr>
          </a:p>
        </p:txBody>
      </p:sp>
      <p:sp>
        <p:nvSpPr>
          <p:cNvPr id="38914" name="标题 4"/>
          <p:cNvSpPr>
            <a:spLocks noGrp="1"/>
          </p:cNvSpPr>
          <p:nvPr>
            <p:ph type="title" hasCustomPrompt="1"/>
          </p:nvPr>
        </p:nvSpPr>
        <p:spPr>
          <a:xfrm>
            <a:off x="3536950" y="2044700"/>
            <a:ext cx="3840163" cy="1473200"/>
          </a:xfrm>
        </p:spPr>
        <p:txBody>
          <a:bodyPr lIns="90000" tIns="46800" rIns="90000" bIns="46800" anchor="b" anchorCtr="0"/>
          <a:p>
            <a:pPr defTabSz="685800">
              <a:buNone/>
            </a:pPr>
            <a:r>
              <a:rPr lang="zh-CN" altLang="en-US" b="1" kern="1200">
                <a:solidFill>
                  <a:srgbClr val="578B1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黑体" panose="02010609060101010101" charset="-122"/>
              </a:rPr>
              <a:t>报价因素</a:t>
            </a:r>
            <a:endParaRPr lang="zh-CN" altLang="en-US" b="1" kern="1200" dirty="0">
              <a:solidFill>
                <a:srgbClr val="578B18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26987" y="6589713"/>
            <a:ext cx="9213850" cy="260350"/>
          </a:xfrm>
          <a:prstGeom prst="rect">
            <a:avLst/>
          </a:prstGeom>
          <a:solidFill>
            <a:srgbClr val="578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7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350" strike="noStrike" noProof="1"/>
          </a:p>
        </p:txBody>
      </p:sp>
      <p:sp>
        <p:nvSpPr>
          <p:cNvPr id="39938" name="文本框 4"/>
          <p:cNvSpPr txBox="1"/>
          <p:nvPr>
            <p:custDataLst>
              <p:tags r:id="rId2"/>
            </p:custDataLst>
          </p:nvPr>
        </p:nvSpPr>
        <p:spPr>
          <a:xfrm>
            <a:off x="3802063" y="1682750"/>
            <a:ext cx="4176712" cy="298450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r>
              <a:rPr lang="zh-CN" altLang="da-DK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1、电压（一次电压PRIMARY VOLTAGE, 二次电压SECONDARY VOLTAGE）</a:t>
            </a:r>
            <a:endParaRPr lang="zh-CN" altLang="da-DK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r>
              <a:rPr lang="zh-CN" altLang="da-DK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2、容量（CAPACITY）</a:t>
            </a:r>
            <a:endParaRPr lang="zh-CN" altLang="da-DK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r>
              <a:rPr lang="zh-CN" altLang="da-DK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3、频率（FREQUENCY</a:t>
            </a:r>
            <a:endParaRPr lang="zh-CN" altLang="da-DK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r>
              <a:rPr lang="zh-CN" altLang="da-DK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4、连接方式（CONNECTION TYPE）</a:t>
            </a:r>
            <a:endParaRPr lang="zh-CN" altLang="da-DK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r>
              <a:rPr lang="zh-CN" altLang="da-DK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5、绕组材质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winding material </a:t>
            </a:r>
            <a:endParaRPr lang="en-US" altLang="zh-CN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6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、变压器类型 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transformer type</a:t>
            </a:r>
            <a:endParaRPr lang="zh-CN" altLang="en-US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7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、损耗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NLL LL</a:t>
            </a:r>
            <a:endParaRPr lang="zh-CN" altLang="en-US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8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、生产的标准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Standard</a:t>
            </a:r>
            <a:endParaRPr lang="en-US" altLang="zh-CN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9.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变压器箱体材质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Tank material </a:t>
            </a:r>
            <a:endParaRPr lang="zh-CN" altLang="en-US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  <a:p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10.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要求的附件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 Accessories </a:t>
            </a:r>
            <a:endParaRPr lang="en-US" altLang="zh-CN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39939" name="文本框 23"/>
          <p:cNvSpPr txBox="1"/>
          <p:nvPr>
            <p:custDataLst>
              <p:tags r:id="rId3"/>
            </p:custDataLst>
          </p:nvPr>
        </p:nvSpPr>
        <p:spPr>
          <a:xfrm>
            <a:off x="273050" y="228600"/>
            <a:ext cx="30162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黑体" panose="02010609060101010101" charset="-122"/>
              </a:rPr>
              <a:t>报价因素</a:t>
            </a:r>
            <a:endParaRPr lang="zh-CN" altLang="en-US" sz="24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黑体" panose="02010609060101010101" charset="-122"/>
            </a:endParaRPr>
          </a:p>
        </p:txBody>
      </p:sp>
      <p:sp>
        <p:nvSpPr>
          <p:cNvPr id="25" name="矩形 24"/>
          <p:cNvSpPr/>
          <p:nvPr>
            <p:custDataLst>
              <p:tags r:id="rId4"/>
            </p:custDataLst>
          </p:nvPr>
        </p:nvSpPr>
        <p:spPr>
          <a:xfrm>
            <a:off x="-3175" y="236538"/>
            <a:ext cx="119063" cy="473075"/>
          </a:xfrm>
          <a:prstGeom prst="rect">
            <a:avLst/>
          </a:prstGeom>
          <a:solidFill>
            <a:srgbClr val="578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138113" y="236538"/>
            <a:ext cx="96838" cy="473075"/>
          </a:xfrm>
          <a:prstGeom prst="rect">
            <a:avLst/>
          </a:prstGeom>
          <a:solidFill>
            <a:srgbClr val="578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  <p:grpSp>
        <p:nvGrpSpPr>
          <p:cNvPr id="39942" name="组合 3"/>
          <p:cNvGrpSpPr/>
          <p:nvPr/>
        </p:nvGrpSpPr>
        <p:grpSpPr>
          <a:xfrm>
            <a:off x="230188" y="2614613"/>
            <a:ext cx="4440237" cy="3968750"/>
            <a:chOff x="331470" y="2547620"/>
            <a:chExt cx="4439920" cy="3967480"/>
          </a:xfrm>
        </p:grpSpPr>
        <p:sp>
          <p:nvSpPr>
            <p:cNvPr id="29" name="MH_Other_1"/>
            <p:cNvSpPr/>
            <p:nvPr/>
          </p:nvSpPr>
          <p:spPr>
            <a:xfrm>
              <a:off x="4130675" y="5658485"/>
              <a:ext cx="640715" cy="855980"/>
            </a:xfrm>
            <a:prstGeom prst="rtTriangle">
              <a:avLst/>
            </a:prstGeom>
            <a:solidFill>
              <a:srgbClr val="7FC6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MH_Other_2"/>
            <p:cNvSpPr/>
            <p:nvPr/>
          </p:nvSpPr>
          <p:spPr>
            <a:xfrm flipH="1">
              <a:off x="3515995" y="5659755"/>
              <a:ext cx="639445" cy="855345"/>
            </a:xfrm>
            <a:prstGeom prst="rtTriangle">
              <a:avLst/>
            </a:prstGeom>
            <a:solidFill>
              <a:srgbClr val="578B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MH_Other_3"/>
            <p:cNvSpPr/>
            <p:nvPr/>
          </p:nvSpPr>
          <p:spPr>
            <a:xfrm>
              <a:off x="3096260" y="4759325"/>
              <a:ext cx="640715" cy="1755775"/>
            </a:xfrm>
            <a:prstGeom prst="rtTriangle">
              <a:avLst/>
            </a:prstGeom>
            <a:solidFill>
              <a:srgbClr val="D2E6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MH_Other_4"/>
            <p:cNvSpPr/>
            <p:nvPr/>
          </p:nvSpPr>
          <p:spPr>
            <a:xfrm flipH="1">
              <a:off x="2458720" y="4760595"/>
              <a:ext cx="639445" cy="1754505"/>
            </a:xfrm>
            <a:prstGeom prst="rtTriangle">
              <a:avLst/>
            </a:prstGeom>
            <a:solidFill>
              <a:srgbClr val="BADA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MH_Other_5"/>
            <p:cNvSpPr/>
            <p:nvPr/>
          </p:nvSpPr>
          <p:spPr>
            <a:xfrm>
              <a:off x="2038985" y="3891915"/>
              <a:ext cx="639445" cy="2623185"/>
            </a:xfrm>
            <a:prstGeom prst="rtTriangle">
              <a:avLst/>
            </a:prstGeom>
            <a:solidFill>
              <a:srgbClr val="7FC6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MH_Other_6"/>
            <p:cNvSpPr/>
            <p:nvPr/>
          </p:nvSpPr>
          <p:spPr>
            <a:xfrm flipH="1">
              <a:off x="1395095" y="3891915"/>
              <a:ext cx="639445" cy="2623185"/>
            </a:xfrm>
            <a:prstGeom prst="rtTriangle">
              <a:avLst/>
            </a:prstGeom>
            <a:solidFill>
              <a:srgbClr val="578B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MH_Other_7"/>
            <p:cNvSpPr/>
            <p:nvPr/>
          </p:nvSpPr>
          <p:spPr>
            <a:xfrm>
              <a:off x="965835" y="2814955"/>
              <a:ext cx="640715" cy="3699510"/>
            </a:xfrm>
            <a:prstGeom prst="rtTriangle">
              <a:avLst/>
            </a:prstGeom>
            <a:solidFill>
              <a:srgbClr val="D2E6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MH_Other_8"/>
            <p:cNvSpPr/>
            <p:nvPr/>
          </p:nvSpPr>
          <p:spPr>
            <a:xfrm flipH="1">
              <a:off x="331470" y="2817495"/>
              <a:ext cx="639445" cy="3696970"/>
            </a:xfrm>
            <a:prstGeom prst="rtTriangle">
              <a:avLst/>
            </a:prstGeom>
            <a:solidFill>
              <a:srgbClr val="BADA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MH_Other_9"/>
            <p:cNvSpPr/>
            <p:nvPr/>
          </p:nvSpPr>
          <p:spPr>
            <a:xfrm>
              <a:off x="4217670" y="5273040"/>
              <a:ext cx="430530" cy="430530"/>
            </a:xfrm>
            <a:prstGeom prst="teardrop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marL="0" marR="0" lvl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uLnTx/>
                  <a:uFillTx/>
                  <a:latin typeface="Impact" panose="020B0806030902050204" pitchFamily="34" charset="0"/>
                  <a:ea typeface="方正舒体" panose="02010601030101010101" pitchFamily="2" charset="-122"/>
                  <a:cs typeface="+mn-cs"/>
                </a:rPr>
                <a:t>19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Impact" panose="020B0806030902050204" pitchFamily="34" charset="0"/>
                <a:ea typeface="方正舒体" panose="02010601030101010101" pitchFamily="2" charset="-122"/>
                <a:cs typeface="+mn-cs"/>
              </a:endParaRPr>
            </a:p>
          </p:txBody>
        </p:sp>
        <p:sp>
          <p:nvSpPr>
            <p:cNvPr id="40" name="MH_Other_10"/>
            <p:cNvSpPr/>
            <p:nvPr/>
          </p:nvSpPr>
          <p:spPr>
            <a:xfrm>
              <a:off x="3100705" y="4314190"/>
              <a:ext cx="430530" cy="430530"/>
            </a:xfrm>
            <a:prstGeom prst="teardrop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marL="0" marR="0" lvl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uLnTx/>
                  <a:uFillTx/>
                  <a:latin typeface="Impact" panose="020B0806030902050204" pitchFamily="34" charset="0"/>
                  <a:ea typeface="方正舒体" panose="02010601030101010101" pitchFamily="2" charset="-122"/>
                  <a:cs typeface="+mn-cs"/>
                </a:rPr>
                <a:t>50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Impact" panose="020B0806030902050204" pitchFamily="34" charset="0"/>
                <a:ea typeface="方正舒体" panose="02010601030101010101" pitchFamily="2" charset="-122"/>
                <a:cs typeface="+mn-cs"/>
              </a:endParaRPr>
            </a:p>
          </p:txBody>
        </p:sp>
        <p:sp>
          <p:nvSpPr>
            <p:cNvPr id="43" name="MH_Other_11"/>
            <p:cNvSpPr/>
            <p:nvPr/>
          </p:nvSpPr>
          <p:spPr>
            <a:xfrm>
              <a:off x="2035810" y="3483610"/>
              <a:ext cx="430530" cy="429895"/>
            </a:xfrm>
            <a:prstGeom prst="teardrop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marL="0" marR="0" lvl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uLnTx/>
                  <a:uFillTx/>
                  <a:latin typeface="Impact" panose="020B0806030902050204" pitchFamily="34" charset="0"/>
                  <a:ea typeface="方正舒体" panose="02010601030101010101" pitchFamily="2" charset="-122"/>
                  <a:cs typeface="+mn-cs"/>
                </a:rPr>
                <a:t>75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Impact" panose="020B0806030902050204" pitchFamily="34" charset="0"/>
                <a:ea typeface="方正舒体" panose="02010601030101010101" pitchFamily="2" charset="-122"/>
                <a:cs typeface="+mn-cs"/>
              </a:endParaRPr>
            </a:p>
          </p:txBody>
        </p:sp>
        <p:sp>
          <p:nvSpPr>
            <p:cNvPr id="46" name="MH_Other_12"/>
            <p:cNvSpPr/>
            <p:nvPr/>
          </p:nvSpPr>
          <p:spPr>
            <a:xfrm>
              <a:off x="1082675" y="2547620"/>
              <a:ext cx="429895" cy="430530"/>
            </a:xfrm>
            <a:prstGeom prst="teardrop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Impact" panose="020B0806030902050204" pitchFamily="34" charset="0"/>
                  <a:ea typeface="方正舒体" panose="02010601030101010101" pitchFamily="2" charset="-122"/>
                  <a:cs typeface="+mn-cs"/>
                </a:rPr>
                <a:t>99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mpact" panose="020B0806030902050204" pitchFamily="34" charset="0"/>
                <a:ea typeface="方正舒体" panose="02010601030101010101" pitchFamily="2" charset="-122"/>
                <a:cs typeface="+mn-cs"/>
              </a:endParaRPr>
            </a:p>
          </p:txBody>
        </p:sp>
      </p:grpSp>
    </p:spTree>
    <p:custDataLst>
      <p:tags r:id="rId6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标题 4"/>
          <p:cNvSpPr>
            <a:spLocks noGrp="1"/>
          </p:cNvSpPr>
          <p:nvPr>
            <p:ph type="title" hasCustomPrompt="1"/>
          </p:nvPr>
        </p:nvSpPr>
        <p:spPr>
          <a:xfrm>
            <a:off x="1763713" y="2281238"/>
            <a:ext cx="5616575" cy="1622425"/>
          </a:xfrm>
        </p:spPr>
        <p:txBody>
          <a:bodyPr lIns="90000" tIns="46800" rIns="90000" bIns="46800" anchor="ctr" anchorCtr="0"/>
          <a:p>
            <a:pPr defTabSz="685800">
              <a:buNone/>
            </a:pPr>
            <a:r>
              <a:rPr lang="en-US" altLang="zh-CN" b="1" kern="1200" dirty="0">
                <a:solidFill>
                  <a:srgbClr val="578B18"/>
                </a:solidFill>
                <a:latin typeface="Curlz MT" panose="04040404050702020202" charset="0"/>
                <a:ea typeface="Kozuka Gothic Pr6N B" pitchFamily="34" charset="-128"/>
                <a:cs typeface="+mj-cs"/>
              </a:rPr>
              <a:t>THANKS</a:t>
            </a:r>
            <a:endParaRPr lang="zh-CN" altLang="en-US" kern="1200" dirty="0">
              <a:solidFill>
                <a:srgbClr val="578B18"/>
              </a:solidFill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*i*6"/>
  <p:tag name="KSO_WM_TEMPLATE_CATEGORY" val="special"/>
  <p:tag name="KSO_WM_TEMPLATE_INDEX" val="20163066"/>
  <p:tag name="KSO_WM_UNIT_INDEX" val="6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0"/>
  <p:tag name="KSO_WM_TEMPLATE_CATEGORY" val="special"/>
  <p:tag name="KSO_WM_TEMPLATE_INDEX" val="20163066"/>
  <p:tag name="KSO_WM_UNIT_INDEX" val="0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3*i*3"/>
  <p:tag name="KSO_WM_TEMPLATE_CATEGORY" val="special"/>
  <p:tag name="KSO_WM_TEMPLATE_INDEX" val="20163066"/>
  <p:tag name="KSO_WM_UNIT_INDEX" val="3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6*i*1"/>
  <p:tag name="KSO_WM_TEMPLATE_CATEGORY" val="special"/>
  <p:tag name="KSO_WM_TEMPLATE_INDEX" val="20163066"/>
  <p:tag name="KSO_WM_UNIT_INDEX" val="1"/>
</p:tagLst>
</file>

<file path=ppt/tags/tag5.xml><?xml version="1.0" encoding="utf-8"?>
<p:tagLst xmlns:p="http://schemas.openxmlformats.org/presentationml/2006/main">
  <p:tag name="KSO_WM_TAG_VERSION" val="1.0"/>
  <p:tag name="KSO_WM_TEMPLATE_CATEGORY" val="basetag"/>
  <p:tag name="KSO_WM_TEMPLATE_INDEX" val="20164214"/>
</p:tagLst>
</file>

<file path=ppt/tags/tag6.xml><?xml version="1.0" encoding="utf-8"?>
<p:tagLst xmlns:p="http://schemas.openxmlformats.org/presentationml/2006/main">
  <p:tag name="KSO_WM_TAG_VERSION" val="1.0"/>
  <p:tag name="KSO_WM_TEMPLATE_CATEGORY" val="basetag"/>
  <p:tag name="KSO_WM_TEMPLATE_INDEX" val="20164214"/>
</p:tagLst>
</file>

<file path=ppt/tags/tag7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TEMPLATE_THUMBS_INDEX" val="1、6、7、11、12、13、18、21、23、26、32、33、35、37"/>
  <p:tag name="KSO_WM_BEAUTIFY_FLAG" val="#wm#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*i*0"/>
  <p:tag name="KSO_WM_TEMPLATE_CATEGORY" val="special"/>
  <p:tag name="KSO_WM_TEMPLATE_INDEX" val="20163066"/>
  <p:tag name="KSO_WM_UNIT_INDEX" val="0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*i*2"/>
  <p:tag name="KSO_WM_TEMPLATE_CATEGORY" val="special"/>
  <p:tag name="KSO_WM_TEMPLATE_INDEX" val="20163066"/>
  <p:tag name="KSO_WM_UNIT_INDEX" val="2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*i*3"/>
  <p:tag name="KSO_WM_TEMPLATE_CATEGORY" val="special"/>
  <p:tag name="KSO_WM_TEMPLATE_INDEX" val="20163066"/>
  <p:tag name="KSO_WM_UNIT_INDEX" val="3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*i*4"/>
  <p:tag name="KSO_WM_TEMPLATE_CATEGORY" val="special"/>
  <p:tag name="KSO_WM_TEMPLATE_INDEX" val="20163066"/>
  <p:tag name="KSO_WM_UNIT_INDEX" val="4"/>
</p:tagLst>
</file>

<file path=ppt/tags/tag12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1"/>
  <p:tag name="KSO_WM_SLIDE_INDEX" val="1"/>
  <p:tag name="KSO_WM_SLIDE_ITEM_CNT" val="0"/>
  <p:tag name="KSO_WM_SLIDE_LAYOUT" val="a_b"/>
  <p:tag name="KSO_WM_SLIDE_LAYOUT_CNT" val="0_0"/>
  <p:tag name="KSO_WM_SLIDE_TYPE" val="title"/>
  <p:tag name="KSO_WM_TEMPLATE_THUMBS_INDEX" val="1、6、7、11、12、13、18、21、23、26、32、33、35、37"/>
  <p:tag name="KSO_WM_BEAUTIFY_FLAG" val="#wm#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1"/>
  <p:tag name="KSO_WM_TEMPLATE_CATEGORY" val="special"/>
  <p:tag name="KSO_WM_TEMPLATE_INDEX" val="20163066"/>
  <p:tag name="KSO_WM_UNIT_INDEX" val="1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2"/>
  <p:tag name="KSO_WM_TEMPLATE_CATEGORY" val="special"/>
  <p:tag name="KSO_WM_TEMPLATE_INDEX" val="20163066"/>
  <p:tag name="KSO_WM_UNIT_INDEX" val="2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3"/>
  <p:tag name="KSO_WM_TEMPLATE_CATEGORY" val="special"/>
  <p:tag name="KSO_WM_TEMPLATE_INDEX" val="20163066"/>
  <p:tag name="KSO_WM_UNIT_INDEX" val="3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5"/>
  <p:tag name="KSO_WM_TEMPLATE_CATEGORY" val="special"/>
  <p:tag name="KSO_WM_TEMPLATE_INDEX" val="20163066"/>
  <p:tag name="KSO_WM_UNIT_INDEX" val="5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4"/>
  <p:tag name="KSO_WM_TEMPLATE_CATEGORY" val="special"/>
  <p:tag name="KSO_WM_TEMPLATE_INDEX" val="20163066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6"/>
  <p:tag name="KSO_WM_TEMPLATE_CATEGORY" val="special"/>
  <p:tag name="KSO_WM_TEMPLATE_INDEX" val="20163066"/>
  <p:tag name="KSO_WM_UNIT_INDEX" val="6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7"/>
  <p:tag name="KSO_WM_TEMPLATE_CATEGORY" val="special"/>
  <p:tag name="KSO_WM_TEMPLATE_INDEX" val="20163066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9"/>
  <p:tag name="KSO_WM_TEMPLATE_CATEGORY" val="special"/>
  <p:tag name="KSO_WM_TEMPLATE_INDEX" val="20163066"/>
  <p:tag name="KSO_WM_UNIT_INDEX" val="9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8"/>
  <p:tag name="KSO_WM_TEMPLATE_CATEGORY" val="special"/>
  <p:tag name="KSO_WM_TEMPLATE_INDEX" val="20163066"/>
  <p:tag name="KSO_WM_UNIT_INDEX" val="8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10"/>
  <p:tag name="KSO_WM_TEMPLATE_CATEGORY" val="special"/>
  <p:tag name="KSO_WM_TEMPLATE_INDEX" val="20163066"/>
  <p:tag name="KSO_WM_UNIT_INDEX" val="10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*i*0"/>
  <p:tag name="KSO_WM_TEMPLATE_CATEGORY" val="special"/>
  <p:tag name="KSO_WM_TEMPLATE_INDEX" val="20163066"/>
  <p:tag name="KSO_WM_UNIT_INDEX" val="0"/>
</p:tagLst>
</file>

<file path=ppt/tags/tag24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6"/>
  <p:tag name="KSO_WM_SLIDE_INDEX" val="6"/>
  <p:tag name="KSO_WM_SLIDE_ITEM_CNT" val="0"/>
  <p:tag name="KSO_WM_SLIDE_TYPE" val="contents"/>
  <p:tag name="KSO_WM_BEAUTIFY_FLAG" val="#wm#"/>
</p:tagLst>
</file>

<file path=ppt/tags/tag2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2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3*i*0"/>
  <p:tag name="KSO_WM_TEMPLATE_CATEGORY" val="special"/>
  <p:tag name="KSO_WM_TEMPLATE_INDEX" val="20163066"/>
  <p:tag name="KSO_WM_UNIT_INDEX" val="0"/>
</p:tagLst>
</file>

<file path=ppt/tags/tag28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7"/>
  <p:tag name="KSO_WM_SLIDE_INDEX" val="7"/>
  <p:tag name="KSO_WM_SLIDE_ITEM_CNT" val="0"/>
  <p:tag name="KSO_WM_SLIDE_TYPE" val="sectionTitle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30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3"/>
  <p:tag name="KSO_WM_SLIDE_INDEX" val="3"/>
  <p:tag name="KSO_WM_SLIDE_ITEM_CNT" val="0"/>
  <p:tag name="KSO_WM_SLIDE_TYPE" val="text"/>
  <p:tag name="KSO_WM_BEAUTIFY_FLAG" val="#wm#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33.xml><?xml version="1.0" encoding="utf-8"?>
<p:tagLst xmlns:p="http://schemas.openxmlformats.org/presentationml/2006/main">
  <p:tag name="KSO_WM_UNIT_PLACING_PICTURE_USER_VIEWPORT" val="{&quot;height&quot;:4845,&quot;width&quot;:8745}"/>
</p:tagLst>
</file>

<file path=ppt/tags/tag3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35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4"/>
  <p:tag name="KSO_WM_SLIDE_INDEX" val="4"/>
  <p:tag name="KSO_WM_SLIDE_ITEM_CNT" val="0"/>
  <p:tag name="KSO_WM_SLIDE_TYPE" val="text"/>
  <p:tag name="KSO_WM_BEAUTIFY_FLAG" val="#wm#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"/>
  <p:tag name="KSO_WM_TEMPLATE_CATEGORY" val="special"/>
  <p:tag name="KSO_WM_TEMPLATE_INDEX" val="20163066"/>
  <p:tag name="KSO_WM_UNIT_INDEX" val="1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2"/>
  <p:tag name="KSO_WM_TEMPLATE_CATEGORY" val="special"/>
  <p:tag name="KSO_WM_TEMPLATE_INDEX" val="20163066"/>
  <p:tag name="KSO_WM_UNIT_INDEX" val="2"/>
</p:tagLst>
</file>

<file path=ppt/tags/tag38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10"/>
  <p:tag name="KSO_WM_SLIDE_INDEX" val="10"/>
  <p:tag name="KSO_WM_SLIDE_ITEM_CNT" val="0"/>
  <p:tag name="KSO_WM_SLIDE_LAYOUT" val="a_f"/>
  <p:tag name="KSO_WM_SLIDE_LAYOUT_CNT" val="0_0"/>
  <p:tag name="KSO_WM_SLIDE_TYPE" val="text"/>
  <p:tag name="KSO_WM_BEAUTIFY_FLAG" val="#wm#"/>
</p:tagLst>
</file>

<file path=ppt/tags/tag3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3*i*0"/>
  <p:tag name="KSO_WM_TEMPLATE_CATEGORY" val="special"/>
  <p:tag name="KSO_WM_TEMPLATE_INDEX" val="20163066"/>
  <p:tag name="KSO_WM_UNIT_INDEX" val="0"/>
</p:tagLst>
</file>

<file path=ppt/tags/tag41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11"/>
  <p:tag name="KSO_WM_SLIDE_INDEX" val="11"/>
  <p:tag name="KSO_WM_SLIDE_ITEM_CNT" val="0"/>
  <p:tag name="KSO_WM_SLIDE_TYPE" val="sectionTitle"/>
  <p:tag name="KSO_WM_BEAUTIFY_FLAG" val="#wm#"/>
</p:tagLst>
</file>

<file path=ppt/tags/tag4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4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4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4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3*i*0"/>
  <p:tag name="KSO_WM_TEMPLATE_CATEGORY" val="special"/>
  <p:tag name="KSO_WM_TEMPLATE_INDEX" val="20163066"/>
  <p:tag name="KSO_WM_UNIT_INDEX" val="0"/>
</p:tagLst>
</file>

<file path=ppt/tags/tag46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19"/>
  <p:tag name="KSO_WM_SLIDE_INDEX" val="19"/>
  <p:tag name="KSO_WM_SLIDE_ITEM_CNT" val="0"/>
  <p:tag name="KSO_WM_SLIDE_TYPE" val="sectionTitle"/>
  <p:tag name="KSO_WM_BEAUTIFY_FLAG" val="#wm#"/>
</p:tagLst>
</file>

<file path=ppt/tags/tag4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4"/>
  <p:tag name="KSO_WM_TEMPLATE_CATEGORY" val="special"/>
  <p:tag name="KSO_WM_TEMPLATE_INDEX" val="20163066"/>
  <p:tag name="KSO_WM_UNIT_INDEX" val="4"/>
</p:tagLst>
</file>

<file path=ppt/tags/tag4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5"/>
  <p:tag name="KSO_WM_TEMPLATE_CATEGORY" val="special"/>
  <p:tag name="KSO_WM_TEMPLATE_INDEX" val="20163066"/>
  <p:tag name="KSO_WM_UNIT_INDEX" val="5"/>
</p:tagLst>
</file>

<file path=ppt/tags/tag4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6"/>
  <p:tag name="KSO_WM_TEMPLATE_CATEGORY" val="special"/>
  <p:tag name="KSO_WM_TEMPLATE_INDEX" val="20163066"/>
  <p:tag name="KSO_WM_UNIT_INDEX" val="6"/>
</p:tagLst>
</file>

<file path=ppt/tags/tag5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7"/>
  <p:tag name="KSO_WM_TEMPLATE_CATEGORY" val="special"/>
  <p:tag name="KSO_WM_TEMPLATE_INDEX" val="20163066"/>
  <p:tag name="KSO_WM_UNIT_INDEX" val="7"/>
</p:tagLst>
</file>

<file path=ppt/tags/tag5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8"/>
  <p:tag name="KSO_WM_TEMPLATE_CATEGORY" val="special"/>
  <p:tag name="KSO_WM_TEMPLATE_INDEX" val="20163066"/>
  <p:tag name="KSO_WM_UNIT_INDEX" val="8"/>
</p:tagLst>
</file>

<file path=ppt/tags/tag5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9"/>
  <p:tag name="KSO_WM_TEMPLATE_CATEGORY" val="special"/>
  <p:tag name="KSO_WM_TEMPLATE_INDEX" val="20163066"/>
  <p:tag name="KSO_WM_UNIT_INDEX" val="9"/>
</p:tagLst>
</file>

<file path=ppt/tags/tag5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0"/>
  <p:tag name="KSO_WM_TEMPLATE_CATEGORY" val="special"/>
  <p:tag name="KSO_WM_TEMPLATE_INDEX" val="20163066"/>
  <p:tag name="KSO_WM_UNIT_INDEX" val="10"/>
</p:tagLst>
</file>

<file path=ppt/tags/tag5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1"/>
  <p:tag name="KSO_WM_TEMPLATE_CATEGORY" val="special"/>
  <p:tag name="KSO_WM_TEMPLATE_INDEX" val="20163066"/>
  <p:tag name="KSO_WM_UNIT_INDEX" val="11"/>
</p:tagLst>
</file>

<file path=ppt/tags/tag5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2"/>
  <p:tag name="KSO_WM_TEMPLATE_CATEGORY" val="special"/>
  <p:tag name="KSO_WM_TEMPLATE_INDEX" val="20163066"/>
  <p:tag name="KSO_WM_UNIT_INDEX" val="12"/>
</p:tagLst>
</file>

<file path=ppt/tags/tag5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3"/>
  <p:tag name="KSO_WM_TEMPLATE_CATEGORY" val="special"/>
  <p:tag name="KSO_WM_TEMPLATE_INDEX" val="20163066"/>
  <p:tag name="KSO_WM_UNIT_INDEX" val="13"/>
</p:tagLst>
</file>

<file path=ppt/tags/tag5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0"/>
  <p:tag name="KSO_WM_TEMPLATE_CATEGORY" val="special"/>
  <p:tag name="KSO_WM_TEMPLATE_INDEX" val="20163066"/>
  <p:tag name="KSO_WM_UNIT_INDEX" val="0"/>
</p:tagLst>
</file>

<file path=ppt/tags/tag5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"/>
  <p:tag name="KSO_WM_TEMPLATE_CATEGORY" val="special"/>
  <p:tag name="KSO_WM_TEMPLATE_INDEX" val="20163066"/>
  <p:tag name="KSO_WM_UNIT_INDEX" val="1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2"/>
  <p:tag name="KSO_WM_TEMPLATE_CATEGORY" val="special"/>
  <p:tag name="KSO_WM_TEMPLATE_INDEX" val="20163066"/>
  <p:tag name="KSO_WM_UNIT_INDEX" val="2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24"/>
  <p:tag name="KSO_WM_SLIDE_INDEX" val="24"/>
  <p:tag name="KSO_WM_SLIDE_ITEM_CNT" val="0"/>
  <p:tag name="KSO_WM_SLIDE_LAYOUT" val="a_f"/>
  <p:tag name="KSO_WM_SLIDE_LAYOUT_CNT" val="0_0"/>
  <p:tag name="KSO_WM_SLIDE_TYPE" val="text"/>
  <p:tag name="KSO_WM_BEAUTIFY_FLAG" val="#wm#"/>
</p:tagLst>
</file>

<file path=ppt/tags/tag6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6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6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5"/>
  <p:tag name="KSO_WM_TEMPLATE_CATEGORY" val="special"/>
  <p:tag name="KSO_WM_TEMPLATE_INDEX" val="20163066"/>
  <p:tag name="KSO_WM_UNIT_INDEX" val="5"/>
</p:tagLst>
</file>

<file path=ppt/tags/tag6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6"/>
  <p:tag name="KSO_WM_TEMPLATE_CATEGORY" val="special"/>
  <p:tag name="KSO_WM_TEMPLATE_INDEX" val="20163066"/>
  <p:tag name="KSO_WM_UNIT_INDEX" val="6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7"/>
  <p:tag name="KSO_WM_TEMPLATE_CATEGORY" val="special"/>
  <p:tag name="KSO_WM_TEMPLATE_INDEX" val="20163066"/>
  <p:tag name="KSO_WM_UNIT_INDEX" val="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8"/>
  <p:tag name="KSO_WM_TEMPLATE_CATEGORY" val="special"/>
  <p:tag name="KSO_WM_TEMPLATE_INDEX" val="20163066"/>
  <p:tag name="KSO_WM_UNIT_INDEX" val="8"/>
</p:tagLst>
</file>

<file path=ppt/tags/tag6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9"/>
  <p:tag name="KSO_WM_TEMPLATE_CATEGORY" val="special"/>
  <p:tag name="KSO_WM_TEMPLATE_INDEX" val="20163066"/>
  <p:tag name="KSO_WM_UNIT_INDEX" val="9"/>
</p:tagLst>
</file>

<file path=ppt/tags/tag6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0"/>
  <p:tag name="KSO_WM_TEMPLATE_CATEGORY" val="special"/>
  <p:tag name="KSO_WM_TEMPLATE_INDEX" val="20163066"/>
  <p:tag name="KSO_WM_UNIT_INDEX" val="10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1"/>
  <p:tag name="KSO_WM_TEMPLATE_CATEGORY" val="special"/>
  <p:tag name="KSO_WM_TEMPLATE_INDEX" val="20163066"/>
  <p:tag name="KSO_WM_UNIT_INDEX" val="11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2"/>
  <p:tag name="KSO_WM_TEMPLATE_CATEGORY" val="special"/>
  <p:tag name="KSO_WM_TEMPLATE_INDEX" val="20163066"/>
  <p:tag name="KSO_WM_UNIT_INDEX" val="12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3"/>
  <p:tag name="KSO_WM_TEMPLATE_CATEGORY" val="special"/>
  <p:tag name="KSO_WM_TEMPLATE_INDEX" val="20163066"/>
  <p:tag name="KSO_WM_UNIT_INDEX" val="13"/>
</p:tagLst>
</file>

<file path=ppt/tags/tag7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0"/>
  <p:tag name="KSO_WM_TEMPLATE_CATEGORY" val="special"/>
  <p:tag name="KSO_WM_TEMPLATE_INDEX" val="20163066"/>
  <p:tag name="KSO_WM_UNIT_INDEX" val="0"/>
</p:tagLst>
</file>

<file path=ppt/tags/tag7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"/>
  <p:tag name="KSO_WM_TEMPLATE_CATEGORY" val="special"/>
  <p:tag name="KSO_WM_TEMPLATE_INDEX" val="20163066"/>
  <p:tag name="KSO_WM_UNIT_INDEX" val="1"/>
</p:tagLst>
</file>

<file path=ppt/tags/tag7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2"/>
  <p:tag name="KSO_WM_TEMPLATE_CATEGORY" val="special"/>
  <p:tag name="KSO_WM_TEMPLATE_INDEX" val="20163066"/>
  <p:tag name="KSO_WM_UNIT_INDEX" val="2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24"/>
  <p:tag name="KSO_WM_SLIDE_INDEX" val="24"/>
  <p:tag name="KSO_WM_SLIDE_ITEM_CNT" val="0"/>
  <p:tag name="KSO_WM_SLIDE_LAYOUT" val="a_f"/>
  <p:tag name="KSO_WM_SLIDE_LAYOUT_CNT" val="0_0"/>
  <p:tag name="KSO_WM_SLIDE_TYPE" val="text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14"/>
</p:tagLst>
</file>

<file path=ppt/tags/tag7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3*i*0"/>
  <p:tag name="KSO_WM_TEMPLATE_CATEGORY" val="special"/>
  <p:tag name="KSO_WM_TEMPLATE_INDEX" val="20163066"/>
  <p:tag name="KSO_WM_UNIT_INDEX" val="0"/>
</p:tagLst>
</file>

<file path=ppt/tags/tag79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25"/>
  <p:tag name="KSO_WM_SLIDE_INDEX" val="25"/>
  <p:tag name="KSO_WM_SLIDE_ITEM_CNT" val="0"/>
  <p:tag name="KSO_WM_SLIDE_TYPE" val="sectionTitle"/>
  <p:tag name="KSO_WM_BEAUTIFY_FLAG" val="#wm#"/>
</p:tagLst>
</file>

<file path=ppt/tags/tag8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4*i*19"/>
  <p:tag name="KSO_WM_TEMPLATE_CATEGORY" val="special"/>
  <p:tag name="KSO_WM_TEMPLATE_INDEX" val="20163066"/>
  <p:tag name="KSO_WM_UNIT_INDEX" val="19"/>
</p:tagLst>
</file>

<file path=ppt/tags/tag8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24*i*21"/>
  <p:tag name="KSO_WM_TEMPLATE_CATEGORY" val="special"/>
  <p:tag name="KSO_WM_TEMPLATE_INDEX" val="20163066"/>
  <p:tag name="KSO_WM_UNIT_INDEX" val="21"/>
</p:tagLst>
</file>

<file path=ppt/tags/tag8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0"/>
  <p:tag name="KSO_WM_TEMPLATE_CATEGORY" val="special"/>
  <p:tag name="KSO_WM_TEMPLATE_INDEX" val="20163066"/>
  <p:tag name="KSO_WM_UNIT_INDEX" val="0"/>
</p:tagLst>
</file>

<file path=ppt/tags/tag8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1"/>
  <p:tag name="KSO_WM_TEMPLATE_CATEGORY" val="special"/>
  <p:tag name="KSO_WM_TEMPLATE_INDEX" val="20163066"/>
  <p:tag name="KSO_WM_UNIT_INDEX" val="1"/>
</p:tagLst>
</file>

<file path=ppt/tags/tag8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066_17*i*2"/>
  <p:tag name="KSO_WM_TEMPLATE_CATEGORY" val="special"/>
  <p:tag name="KSO_WM_TEMPLATE_INDEX" val="20163066"/>
  <p:tag name="KSO_WM_UNIT_INDEX" val="2"/>
</p:tagLst>
</file>

<file path=ppt/tags/tag85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35"/>
  <p:tag name="KSO_WM_SLIDE_INDEX" val="35"/>
  <p:tag name="KSO_WM_SLIDE_ITEM_CNT" val="0"/>
  <p:tag name="KSO_WM_SLIDE_LAYOUT" val="a_f"/>
  <p:tag name="KSO_WM_SLIDE_LAYOUT_CNT" val="0_0"/>
  <p:tag name="KSO_WM_SLIDE_TYPE" val="text"/>
  <p:tag name="KSO_WM_BEAUTIFY_FLAG" val="#wm#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14"/>
  <p:tag name="KSO_WM_TAG_VERSION" val="1.0"/>
  <p:tag name="KSO_WM_SLIDE_ID" val="basetag20164214_37"/>
  <p:tag name="KSO_WM_SLIDE_INDEX" val="37"/>
  <p:tag name="KSO_WM_SLIDE_ITEM_CNT" val="0"/>
  <p:tag name="KSO_WM_SLIDE_TYPE" val="endPage"/>
  <p:tag name="KSO_WM_BEAUTIFY_FLAG" val="#wm#"/>
</p:tagLst>
</file>

<file path=ppt/tags/tag87.xml><?xml version="1.0" encoding="utf-8"?>
<p:tagLst xmlns:p="http://schemas.openxmlformats.org/presentationml/2006/main">
  <p:tag name="KSO_WPP_MARK_KEY" val="d8bb3600-9257-49b9-ac40-dfdfe2b175d1"/>
  <p:tag name="COMMONDATA" val="eyJoZGlkIjoiYzE1Y2MxZjZkOWI2MDI0M2NhYTZhMTdmYTY3MmJkODcifQ=="/>
</p:tagLst>
</file>

<file path=ppt/theme/theme1.xml><?xml version="1.0" encoding="utf-8"?>
<a:theme xmlns:a="http://schemas.openxmlformats.org/drawingml/2006/main" name="1_basetag20163066_docer798253.唯美清新毕业论文答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WPS 演示</Application>
  <PresentationFormat/>
  <Paragraphs>195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黑体</vt:lpstr>
      <vt:lpstr>微软雅黑</vt:lpstr>
      <vt:lpstr>Meiryo</vt:lpstr>
      <vt:lpstr>Yu Gothic</vt:lpstr>
      <vt:lpstr>Impact</vt:lpstr>
      <vt:lpstr>方正舒体</vt:lpstr>
      <vt:lpstr>Calibri</vt:lpstr>
      <vt:lpstr>Arial Unicode MS</vt:lpstr>
      <vt:lpstr>Curlz MT</vt:lpstr>
      <vt:lpstr>Kozuka Gothic Pr6N B</vt:lpstr>
      <vt:lpstr>1_basetag20163066_docer798253.唯美清新毕业论文答辩</vt:lpstr>
      <vt:lpstr>PowerPoint 演示文稿</vt:lpstr>
      <vt:lpstr>PowerPoint 演示文稿</vt:lpstr>
      <vt:lpstr>PowerPoint 演示文稿</vt:lpstr>
      <vt:lpstr>PowerPoint 演示文稿</vt:lpstr>
      <vt:lpstr>单相变压器</vt:lpstr>
      <vt:lpstr>PowerPoint 演示文稿</vt:lpstr>
      <vt:lpstr>                          </vt:lpstr>
      <vt:lpstr>PowerPoint 演示文稿</vt:lpstr>
      <vt:lpstr>PowerPoint 演示文稿</vt:lpstr>
      <vt:lpstr>铁芯 绕组</vt:lpstr>
      <vt:lpstr>PowerPoint 演示文稿</vt:lpstr>
      <vt:lpstr>PowerPoint 演示文稿</vt:lpstr>
      <vt:lpstr>单相箱变</vt:lpstr>
      <vt:lpstr>PowerPoint 演示文稿</vt:lpstr>
      <vt:lpstr>PowerPoint 演示文稿</vt:lpstr>
      <vt:lpstr>PowerPoint 演示文稿</vt:lpstr>
      <vt:lpstr>三相箱变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报价因素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孟晗</cp:lastModifiedBy>
  <cp:revision>20</cp:revision>
  <dcterms:created xsi:type="dcterms:W3CDTF">2017-12-27T08:34:00Z</dcterms:created>
  <dcterms:modified xsi:type="dcterms:W3CDTF">2023-04-12T03:07:00Z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185B8F14C1014155B773213E496AAE01</vt:lpwstr>
  </property>
</Properties>
</file>