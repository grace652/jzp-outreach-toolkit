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5" r:id="rId3"/>
  </p:sldMasterIdLst>
  <p:notesMasterIdLst>
    <p:notesMasterId r:id="rId5"/>
  </p:notesMasterIdLst>
  <p:sldIdLst>
    <p:sldId id="307" r:id="rId4"/>
    <p:sldId id="589" r:id="rId6"/>
    <p:sldId id="695" r:id="rId7"/>
    <p:sldId id="694" r:id="rId8"/>
    <p:sldId id="675" r:id="rId9"/>
    <p:sldId id="678" r:id="rId10"/>
    <p:sldId id="686" r:id="rId11"/>
    <p:sldId id="687" r:id="rId12"/>
    <p:sldId id="680" r:id="rId13"/>
    <p:sldId id="732" r:id="rId14"/>
    <p:sldId id="733" r:id="rId15"/>
    <p:sldId id="699" r:id="rId16"/>
    <p:sldId id="688" r:id="rId17"/>
    <p:sldId id="689" r:id="rId18"/>
    <p:sldId id="690" r:id="rId19"/>
    <p:sldId id="691" r:id="rId20"/>
    <p:sldId id="692" r:id="rId21"/>
    <p:sldId id="693" r:id="rId22"/>
    <p:sldId id="698" r:id="rId23"/>
    <p:sldId id="700" r:id="rId24"/>
    <p:sldId id="702" r:id="rId25"/>
    <p:sldId id="701" r:id="rId26"/>
    <p:sldId id="703" r:id="rId27"/>
    <p:sldId id="705" r:id="rId28"/>
    <p:sldId id="704" r:id="rId29"/>
    <p:sldId id="717" r:id="rId30"/>
    <p:sldId id="734" r:id="rId31"/>
    <p:sldId id="737" r:id="rId32"/>
    <p:sldId id="735" r:id="rId33"/>
    <p:sldId id="736" r:id="rId34"/>
    <p:sldId id="718" r:id="rId35"/>
    <p:sldId id="738" r:id="rId36"/>
    <p:sldId id="739" r:id="rId37"/>
    <p:sldId id="740" r:id="rId38"/>
    <p:sldId id="741" r:id="rId39"/>
    <p:sldId id="722" r:id="rId40"/>
    <p:sldId id="721" r:id="rId41"/>
    <p:sldId id="742" r:id="rId42"/>
    <p:sldId id="697" r:id="rId43"/>
  </p:sldIdLst>
  <p:sldSz cx="9144000" cy="5144770"/>
  <p:notesSz cx="6646545" cy="9777095"/>
  <p:custDataLst>
    <p:tags r:id="rId4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FF6600"/>
    <a:srgbClr val="000000"/>
    <a:srgbClr val="FFFFFF"/>
    <a:srgbClr val="FFFF99"/>
    <a:srgbClr val="CC99FF"/>
    <a:srgbClr val="0846AC"/>
    <a:srgbClr val="A4C5FA"/>
    <a:srgbClr val="74A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9666" autoAdjust="0"/>
    <p:restoredTop sz="82021" autoAdjust="0"/>
  </p:normalViewPr>
  <p:slideViewPr>
    <p:cSldViewPr showGuides="1">
      <p:cViewPr>
        <p:scale>
          <a:sx n="125" d="100"/>
          <a:sy n="125" d="100"/>
        </p:scale>
        <p:origin x="-1224" y="-78"/>
      </p:cViewPr>
      <p:guideLst>
        <p:guide orient="horz" pos="16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gs" Target="tags/tag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0307" cy="4888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fontAlgn="base" hangingPunct="1">
              <a:buClrTx/>
              <a:buSzTx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018" y="0"/>
            <a:ext cx="2880307" cy="4888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buClrTx/>
              <a:buSzTx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6687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687" y="4644271"/>
            <a:ext cx="5317490" cy="43998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45"/>
            <a:ext cx="2880307" cy="4888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base" hangingPunct="1">
              <a:buClrTx/>
              <a:buSzTx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018" y="9286845"/>
            <a:ext cx="2880307" cy="4888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fontAlgn="base" hangingPunct="1">
              <a:buClrTx/>
              <a:buSzTx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0C95A6E-E229-41E1-98CE-5198747D8CA2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5" name="备注占位符 2"/>
          <p:cNvSpPr>
            <a:spLocks noGrp="1" noChangeArrowheads="1"/>
          </p:cNvSpPr>
          <p:nvPr>
            <p:ph type="body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D97F5C6-5241-4493-8B36-60FC1BFA2368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endParaRPr lang="zh-CN" altLang="en-US" sz="2000" kern="2000" spc="100" baseline="0" dirty="0"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5" name="备注占位符 2"/>
          <p:cNvSpPr>
            <a:spLocks noGrp="1" noChangeArrowheads="1"/>
          </p:cNvSpPr>
          <p:nvPr>
            <p:ph type="body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D97F5C6-5241-4493-8B36-60FC1BFA2368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95A6E-E229-41E1-98CE-5198747D8CA2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microsoft.com/office/2007/relationships/media" Target="../media/audio1.wav"/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钢琴曲-2942.wav">
            <a:hlinkClick r:id="" action="ppaction://media"/>
          </p:cNvPr>
          <p:cNvPicPr>
            <a:picLocks noChangeAspect="1" noChangeArrowheads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04800" y="7391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10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27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949542"/>
            <a:ext cx="9144000" cy="195546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01458E"/>
                </a:solidFill>
                <a:latin typeface="Impact" panose="020B0806030902050204" pitchFamily="34" charset="0"/>
                <a:ea typeface="+mn-ea"/>
              </a:defRPr>
            </a:lvl1pPr>
          </a:lstStyle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832765" y="289069"/>
            <a:ext cx="698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</a:rPr>
              <a:t>PAGE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8745318" y="315209"/>
            <a:ext cx="291178" cy="261982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燕尾形 13"/>
          <p:cNvSpPr/>
          <p:nvPr userDrawn="1"/>
        </p:nvSpPr>
        <p:spPr>
          <a:xfrm rot="5400000">
            <a:off x="8853314" y="418332"/>
            <a:ext cx="108046" cy="1080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连接符 14"/>
          <p:cNvCxnSpPr>
            <a:stCxn id="16" idx="0"/>
          </p:cNvCxnSpPr>
          <p:nvPr userDrawn="1"/>
        </p:nvCxnSpPr>
        <p:spPr>
          <a:xfrm>
            <a:off x="0" y="627728"/>
            <a:ext cx="9144000" cy="0"/>
          </a:xfrm>
          <a:prstGeom prst="line">
            <a:avLst/>
          </a:prstGeom>
          <a:ln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36" descr="标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2993"/>
            <a:ext cx="432048" cy="457604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梯形 9"/>
          <p:cNvSpPr/>
          <p:nvPr userDrawn="1"/>
        </p:nvSpPr>
        <p:spPr>
          <a:xfrm>
            <a:off x="60310" y="550700"/>
            <a:ext cx="876629" cy="204980"/>
          </a:xfrm>
          <a:prstGeom prst="trapezoid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2"/>
          <p:cNvSpPr/>
          <p:nvPr userDrawn="1"/>
        </p:nvSpPr>
        <p:spPr>
          <a:xfrm>
            <a:off x="0" y="627728"/>
            <a:ext cx="1475656" cy="103537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-1" fmla="*/ 0 w 6877050"/>
              <a:gd name="connsiteY0-2" fmla="*/ 0 h 784750"/>
              <a:gd name="connsiteX1-3" fmla="*/ 6877050 w 6877050"/>
              <a:gd name="connsiteY1-4" fmla="*/ 0 h 784750"/>
              <a:gd name="connsiteX2-5" fmla="*/ 6877050 w 6877050"/>
              <a:gd name="connsiteY2-6" fmla="*/ 783320 h 784750"/>
              <a:gd name="connsiteX3-7" fmla="*/ 6505575 w 6877050"/>
              <a:gd name="connsiteY3-8" fmla="*/ 784750 h 784750"/>
              <a:gd name="connsiteX4-9" fmla="*/ 0 w 6877050"/>
              <a:gd name="connsiteY4-10" fmla="*/ 783320 h 784750"/>
              <a:gd name="connsiteX5" fmla="*/ 0 w 6877050"/>
              <a:gd name="connsiteY5" fmla="*/ 0 h 784750"/>
              <a:gd name="connsiteX0-11" fmla="*/ 0 w 6877050"/>
              <a:gd name="connsiteY0-12" fmla="*/ 0 h 784750"/>
              <a:gd name="connsiteX1-13" fmla="*/ 6877050 w 6877050"/>
              <a:gd name="connsiteY1-14" fmla="*/ 0 h 784750"/>
              <a:gd name="connsiteX2-15" fmla="*/ 6505575 w 6877050"/>
              <a:gd name="connsiteY2-16" fmla="*/ 784750 h 784750"/>
              <a:gd name="connsiteX3-17" fmla="*/ 0 w 6877050"/>
              <a:gd name="connsiteY3-18" fmla="*/ 783320 h 784750"/>
              <a:gd name="connsiteX4-19" fmla="*/ 0 w 6877050"/>
              <a:gd name="connsiteY4-20" fmla="*/ 0 h 7847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梯形 16"/>
          <p:cNvSpPr/>
          <p:nvPr userDrawn="1"/>
        </p:nvSpPr>
        <p:spPr>
          <a:xfrm flipV="1">
            <a:off x="110387" y="547717"/>
            <a:ext cx="774859" cy="207963"/>
          </a:xfrm>
          <a:prstGeom prst="trapezoid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4"/>
          <p:cNvSpPr txBox="1"/>
          <p:nvPr userDrawn="1"/>
        </p:nvSpPr>
        <p:spPr>
          <a:xfrm>
            <a:off x="163718" y="515174"/>
            <a:ext cx="7358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smtClean="0">
                <a:solidFill>
                  <a:schemeClr val="bg1"/>
                </a:solidFill>
              </a:rPr>
              <a:t>RYAN PPT</a:t>
            </a:r>
            <a:endParaRPr lang="zh-CN" altLang="en-US" sz="105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5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5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94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9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6375"/>
            <a:ext cx="8229600" cy="4389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blinds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825" y="898008"/>
            <a:ext cx="8642350" cy="43256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491" y="1500557"/>
            <a:ext cx="7907019" cy="320377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1" y="4784932"/>
            <a:ext cx="2926079" cy="25725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4932"/>
            <a:ext cx="2103120" cy="25725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C2D3A-5FEA-4BD5-9D4B-1A73E9B4317B}" type="datetime1">
              <a:rPr lang="en-US" altLang="zh-CN" smtClean="0"/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4932"/>
            <a:ext cx="2103120" cy="257254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 dirty="0"/>
          </a:p>
        </p:txBody>
      </p:sp>
    </p:spTree>
  </p:cSld>
  <p:clrMapOvr>
    <a:masterClrMapping/>
  </p:clrMapOvr>
  <p:transition spd="slow">
    <p:blinds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1" y="4784932"/>
            <a:ext cx="2926079" cy="257254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4932"/>
            <a:ext cx="2103120" cy="25725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6003F-1BB3-4A59-A079-FFE0E2506475}" type="datetime1">
              <a:rPr lang="en-US" altLang="zh-CN" smtClean="0"/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4932"/>
            <a:ext cx="2103120" cy="257254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 dirty="0"/>
          </a:p>
        </p:txBody>
      </p:sp>
    </p:spTree>
  </p:cSld>
  <p:clrMapOvr>
    <a:masterClrMapping/>
  </p:clrMapOvr>
  <p:transition spd="slow">
    <p:blinds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5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56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blinds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5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blinds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4.png"/><Relationship Id="rId17" Type="http://schemas.openxmlformats.org/officeDocument/2006/relationships/image" Target="../media/image3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Rectangle 131"/>
          <p:cNvSpPr>
            <a:spLocks noChangeArrowheads="1"/>
          </p:cNvSpPr>
          <p:nvPr/>
        </p:nvSpPr>
        <p:spPr bwMode="auto">
          <a:xfrm>
            <a:off x="0" y="846138"/>
            <a:ext cx="9145588" cy="41751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/>
          <a:lstStyle/>
          <a:p>
            <a:pPr algn="ctr" eaLnBrk="0" fontAlgn="ctr" hangingPunct="0">
              <a:buClr>
                <a:srgbClr val="FF0000"/>
              </a:buClr>
              <a:buSzPct val="70000"/>
              <a:defRPr/>
            </a:pPr>
            <a:endParaRPr lang="zh-CN" altLang="en-US"/>
          </a:p>
        </p:txBody>
      </p:sp>
      <p:pic>
        <p:nvPicPr>
          <p:cNvPr id="3075" name="Picture 132" descr="01副本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0" y="0"/>
            <a:ext cx="9180513" cy="516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" name="Line 133"/>
          <p:cNvSpPr>
            <a:spLocks noChangeShapeType="1"/>
          </p:cNvSpPr>
          <p:nvPr/>
        </p:nvSpPr>
        <p:spPr bwMode="auto">
          <a:xfrm>
            <a:off x="20638" y="628650"/>
            <a:ext cx="6480175" cy="0"/>
          </a:xfrm>
          <a:prstGeom prst="line">
            <a:avLst/>
          </a:prstGeom>
          <a:noFill/>
          <a:ln w="9525">
            <a:solidFill>
              <a:srgbClr val="073E97"/>
            </a:solidFill>
            <a:round/>
          </a:ln>
        </p:spPr>
        <p:txBody>
          <a:bodyPr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000875" y="28575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200" b="1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江苏瑞恩电气股份有限公司</a:t>
            </a:r>
            <a:endParaRPr lang="en-US" altLang="zh-CN" sz="1200" b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000875" y="500063"/>
            <a:ext cx="2428875" cy="214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en-US" altLang="zh-CN" sz="700" dirty="0">
                <a:latin typeface="Verdana" panose="020B0604030504040204" pitchFamily="34" charset="0"/>
                <a:ea typeface="宋体" panose="02010600030101010101" pitchFamily="2" charset="-122"/>
              </a:rPr>
              <a:t>JIANSU RYAN</a:t>
            </a:r>
            <a:r>
              <a:rPr lang="zh-CN" altLang="en-US" sz="70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700" dirty="0">
                <a:latin typeface="Verdana" panose="020B0604030504040204" pitchFamily="34" charset="0"/>
                <a:ea typeface="宋体" panose="02010600030101010101" pitchFamily="2" charset="-122"/>
              </a:rPr>
              <a:t>ELECTRIC GROUP CO.,LTD</a:t>
            </a:r>
            <a:endParaRPr lang="en-US" altLang="zh-CN" sz="7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079" name="图片 36" descr="标.png"/>
          <p:cNvPicPr>
            <a:picLocks noChangeAspect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6643688" y="285750"/>
            <a:ext cx="341312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</p:sldLayoutIdLst>
  <p:transition spd="slow">
    <p:blinds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6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40.png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60.jpeg"/><Relationship Id="rId1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65.png"/><Relationship Id="rId4" Type="http://schemas.openxmlformats.org/officeDocument/2006/relationships/image" Target="../media/image64.wmf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wmf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hyperlink" Target="http://www.redq.c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3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252520" cy="5145088"/>
          </a:xfrm>
          <a:prstGeom prst="rect">
            <a:avLst/>
          </a:prstGeom>
        </p:spPr>
      </p:pic>
      <p:pic>
        <p:nvPicPr>
          <p:cNvPr id="5123" name="Picture 12" descr="底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60" y="3004592"/>
            <a:ext cx="9144000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605" name="Text Box 197"/>
          <p:cNvSpPr txBox="1">
            <a:spLocks noChangeArrowheads="1"/>
          </p:cNvSpPr>
          <p:nvPr/>
        </p:nvSpPr>
        <p:spPr bwMode="ltGray">
          <a:xfrm>
            <a:off x="6429375" y="285750"/>
            <a:ext cx="2714625" cy="33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81667" tIns="40833" rIns="81667" bIns="40833"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zh-CN" altLang="en-US" sz="16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江苏瑞恩电气股份有限公司</a:t>
            </a:r>
            <a:endParaRPr lang="en-US" altLang="zh-CN" sz="16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5606" name="Text Box 198"/>
          <p:cNvSpPr txBox="1">
            <a:spLocks noChangeArrowheads="1"/>
          </p:cNvSpPr>
          <p:nvPr/>
        </p:nvSpPr>
        <p:spPr bwMode="ltGray">
          <a:xfrm>
            <a:off x="6209506" y="3436882"/>
            <a:ext cx="2031646" cy="451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1667" tIns="40833" rIns="81667" bIns="40833">
            <a:spAutoFit/>
          </a:bodyPr>
          <a:lstStyle/>
          <a:p>
            <a:pPr defTabSz="815975"/>
            <a:r>
              <a:rPr lang="en-US" altLang="zh-C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方正兰亭大黑_GBK"/>
              </a:rPr>
              <a:t>2023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en-US" altLang="zh-CN" sz="2400" dirty="0">
              <a:solidFill>
                <a:schemeClr val="tx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5611" name="Text Box 203"/>
          <p:cNvSpPr txBox="1">
            <a:spLocks noChangeArrowheads="1"/>
          </p:cNvSpPr>
          <p:nvPr/>
        </p:nvSpPr>
        <p:spPr bwMode="ltGray">
          <a:xfrm>
            <a:off x="2310897" y="714542"/>
            <a:ext cx="5817280" cy="17444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1667" tIns="40833" rIns="81667" bIns="40833">
            <a:spAutoFit/>
          </a:bodyPr>
          <a:lstStyle/>
          <a:p>
            <a:pPr algn="ctr" defTabSz="815975"/>
            <a:endParaRPr lang="en-US" altLang="zh-CN" sz="3600" dirty="0" smtClean="0">
              <a:solidFill>
                <a:srgbClr val="0000FF"/>
              </a:solidFill>
              <a:latin typeface="方正兰亭大黑_GBK"/>
              <a:ea typeface="黑体" panose="02010609060101010101" pitchFamily="49" charset="-122"/>
            </a:endParaRPr>
          </a:p>
          <a:p>
            <a:pPr algn="ctr" defTabSz="815975"/>
            <a:r>
              <a:rPr lang="zh-CN" altLang="en-US" sz="3600" dirty="0" smtClean="0">
                <a:solidFill>
                  <a:schemeClr val="tx2">
                    <a:lumMod val="75000"/>
                  </a:schemeClr>
                </a:solidFill>
                <a:latin typeface="方正兰亭大黑_GBK"/>
                <a:ea typeface="黑体" panose="02010609060101010101" pitchFamily="49" charset="-122"/>
              </a:rPr>
              <a:t>变压器、箱式变电站</a:t>
            </a:r>
            <a:endParaRPr lang="en-US" altLang="zh-CN" sz="3600" dirty="0" smtClean="0">
              <a:solidFill>
                <a:schemeClr val="tx2">
                  <a:lumMod val="75000"/>
                </a:schemeClr>
              </a:solidFill>
              <a:latin typeface="方正兰亭大黑_GBK"/>
              <a:ea typeface="黑体" panose="02010609060101010101" pitchFamily="49" charset="-122"/>
            </a:endParaRPr>
          </a:p>
          <a:p>
            <a:pPr algn="ctr" defTabSz="815975"/>
            <a:r>
              <a:rPr lang="zh-CN" altLang="en-US" sz="3600" dirty="0" smtClean="0">
                <a:solidFill>
                  <a:schemeClr val="tx2">
                    <a:lumMod val="75000"/>
                  </a:schemeClr>
                </a:solidFill>
                <a:latin typeface="方正兰亭大黑_GBK"/>
                <a:ea typeface="黑体" panose="02010609060101010101" pitchFamily="49" charset="-122"/>
              </a:rPr>
              <a:t>相</a:t>
            </a:r>
            <a:r>
              <a:rPr lang="zh-CN" altLang="en-US" sz="3600" dirty="0">
                <a:solidFill>
                  <a:schemeClr val="tx2">
                    <a:lumMod val="75000"/>
                  </a:schemeClr>
                </a:solidFill>
                <a:latin typeface="方正兰亭大黑_GBK"/>
                <a:ea typeface="黑体" panose="02010609060101010101" pitchFamily="49" charset="-122"/>
              </a:rPr>
              <a:t>关知识培训</a:t>
            </a:r>
            <a:endParaRPr lang="zh-CN" altLang="en-US" sz="3600" dirty="0">
              <a:solidFill>
                <a:schemeClr val="tx2">
                  <a:lumMod val="75000"/>
                </a:schemeClr>
              </a:solidFill>
              <a:latin typeface="方正兰亭大黑_GBK"/>
              <a:ea typeface="黑体" panose="02010609060101010101" pitchFamily="49" charset="-122"/>
            </a:endParaRPr>
          </a:p>
        </p:txBody>
      </p:sp>
      <p:pic>
        <p:nvPicPr>
          <p:cNvPr id="5127" name="图片 36" descr="标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84313"/>
            <a:ext cx="1563015" cy="1656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8" name="图片 36" descr="标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0750" y="285750"/>
            <a:ext cx="404813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6000750" y="785813"/>
            <a:ext cx="3143250" cy="1587"/>
          </a:xfrm>
          <a:prstGeom prst="line">
            <a:avLst/>
          </a:prstGeom>
          <a:noFill/>
          <a:ln w="9525" algn="ctr">
            <a:solidFill>
              <a:srgbClr val="800000"/>
            </a:solidFill>
            <a:rou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2" name="Text Box 198"/>
          <p:cNvSpPr txBox="1">
            <a:spLocks noChangeArrowheads="1"/>
          </p:cNvSpPr>
          <p:nvPr/>
        </p:nvSpPr>
        <p:spPr bwMode="ltGray">
          <a:xfrm>
            <a:off x="3923928" y="2748687"/>
            <a:ext cx="2643206" cy="5118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1667" tIns="40833" rIns="81667" bIns="40833">
            <a:spAutoFit/>
          </a:bodyPr>
          <a:lstStyle/>
          <a:p>
            <a:pPr defTabSz="815975"/>
            <a:r>
              <a:rPr lang="zh-CN" dirty="0" smtClean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编制</a:t>
            </a:r>
            <a:r>
              <a:rPr lang="zh-CN" altLang="en-US" dirty="0" smtClean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、</a:t>
            </a:r>
            <a:r>
              <a:rPr lang="zh-CN" dirty="0" smtClean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主讲人：</a:t>
            </a:r>
            <a:r>
              <a:rPr lang="zh-CN" altLang="en-US" dirty="0" smtClean="0">
                <a:latin typeface="Century Gothic" panose="020B0502020202020204" pitchFamily="34" charset="0"/>
                <a:ea typeface="黑体" panose="02010609060101010101" pitchFamily="49" charset="-122"/>
              </a:rPr>
              <a:t>梅德进</a:t>
            </a:r>
            <a:endParaRPr lang="zh-CN" dirty="0">
              <a:solidFill>
                <a:schemeClr val="tx1"/>
              </a:solidFill>
              <a:latin typeface="Century Gothic" panose="020B0502020202020204" pitchFamily="34" charset="0"/>
              <a:ea typeface="黑体" panose="02010609060101010101" pitchFamily="49" charset="-122"/>
            </a:endParaRPr>
          </a:p>
          <a:p>
            <a:pPr defTabSz="815975"/>
            <a:r>
              <a:rPr lang="zh-CN" dirty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电话</a:t>
            </a:r>
            <a:r>
              <a:rPr lang="zh-CN" dirty="0" smtClean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  <a:latin typeface="Century Gothic" panose="020B0502020202020204" pitchFamily="34" charset="0"/>
                <a:ea typeface="黑体" panose="02010609060101010101" pitchFamily="49" charset="-122"/>
              </a:rPr>
              <a:t>15371760708</a:t>
            </a:r>
            <a:endParaRPr lang="en-US" altLang="zh-CN" dirty="0">
              <a:solidFill>
                <a:schemeClr val="tx1"/>
              </a:solidFill>
              <a:latin typeface="Century Gothic" panose="020B0502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27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45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4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4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4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5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4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05" grpId="0"/>
      <p:bldP spid="145606" grpId="0"/>
      <p:bldP spid="145611" grpId="0"/>
      <p:bldP spid="145611" grpId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H_Entry_2"/>
          <p:cNvSpPr>
            <a:spLocks noChangeArrowheads="1"/>
          </p:cNvSpPr>
          <p:nvPr/>
        </p:nvSpPr>
        <p:spPr bwMode="auto">
          <a:xfrm>
            <a:off x="4067941" y="1654742"/>
            <a:ext cx="4752531" cy="630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</a:t>
            </a: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变压器主要部件及报价</a:t>
            </a: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注意要点</a:t>
            </a:r>
            <a:endParaRPr lang="en-US" altLang="zh-CN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MH_Others_1"/>
          <p:cNvSpPr>
            <a:spLocks noChangeArrowheads="1"/>
          </p:cNvSpPr>
          <p:nvPr/>
        </p:nvSpPr>
        <p:spPr bwMode="auto">
          <a:xfrm rot="-5400000">
            <a:off x="1576090" y="1200484"/>
            <a:ext cx="2568028" cy="571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algn="ctr"/>
            <a:endParaRPr lang="zh-CN" altLang="zh-CN" sz="2100" noProof="1">
              <a:solidFill>
                <a:srgbClr val="D6DEF6"/>
              </a:solidFill>
              <a:latin typeface="Elephant" pitchFamily="18" charset="0"/>
              <a:ea typeface="华文中宋" panose="02010600040101010101" pitchFamily="2" charset="-122"/>
            </a:endParaRPr>
          </a:p>
          <a:p>
            <a:pPr algn="ctr"/>
            <a:r>
              <a:rPr lang="en-US" altLang="zh-CN" sz="2100" noProof="1">
                <a:solidFill>
                  <a:srgbClr val="D6DEF6"/>
                </a:solidFill>
                <a:latin typeface="Elephant" pitchFamily="18" charset="0"/>
                <a:ea typeface="华文中宋" panose="02010600040101010101" pitchFamily="2" charset="-122"/>
              </a:rPr>
              <a:t>CONTENTS</a:t>
            </a:r>
            <a:endParaRPr lang="en-US" altLang="en-US" sz="2100" noProof="1">
              <a:solidFill>
                <a:srgbClr val="D6DEF6"/>
              </a:solidFill>
              <a:latin typeface="Elephant" pitchFamily="18" charset="0"/>
              <a:ea typeface="华文中宋" panose="02010600040101010101" pitchFamily="2" charset="-122"/>
            </a:endParaRPr>
          </a:p>
        </p:txBody>
      </p:sp>
      <p:sp>
        <p:nvSpPr>
          <p:cNvPr id="23" name="MH_Others_2"/>
          <p:cNvSpPr txBox="1">
            <a:spLocks noChangeArrowheads="1"/>
          </p:cNvSpPr>
          <p:nvPr/>
        </p:nvSpPr>
        <p:spPr bwMode="auto">
          <a:xfrm>
            <a:off x="2195736" y="1132384"/>
            <a:ext cx="431006" cy="837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 anchor="ctr"/>
          <a:lstStyle/>
          <a:p>
            <a:r>
              <a:rPr lang="zh-CN" altLang="en-US" sz="4500" b="1" dirty="0">
                <a:solidFill>
                  <a:srgbClr val="002060"/>
                </a:solidFill>
              </a:rPr>
              <a:t>目录</a:t>
            </a:r>
            <a:endParaRPr lang="zh-CN" altLang="en-US" sz="4500" b="1" dirty="0">
              <a:solidFill>
                <a:srgbClr val="002060"/>
              </a:solidFill>
            </a:endParaRPr>
          </a:p>
        </p:txBody>
      </p:sp>
      <p:sp>
        <p:nvSpPr>
          <p:cNvPr id="25" name="MH_Entry_4"/>
          <p:cNvSpPr>
            <a:spLocks noChangeArrowheads="1"/>
          </p:cNvSpPr>
          <p:nvPr/>
        </p:nvSpPr>
        <p:spPr bwMode="auto">
          <a:xfrm>
            <a:off x="4067942" y="1016518"/>
            <a:ext cx="4392489" cy="630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箱式变电站及新能源箱变相关知识</a:t>
            </a:r>
            <a:endParaRPr lang="zh-CN" altLang="en-US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2716561"/>
            <a:ext cx="9180000" cy="2428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文本框 15"/>
          <p:cNvSpPr txBox="1"/>
          <p:nvPr/>
        </p:nvSpPr>
        <p:spPr>
          <a:xfrm>
            <a:off x="323528" y="124272"/>
            <a:ext cx="3744416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箱式变电站及新能源箱相关知识</a:t>
            </a:r>
            <a:endParaRPr lang="zh-CN" altLang="en-US" sz="2000" b="1" dirty="0">
              <a:solidFill>
                <a:srgbClr val="0707B3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2537" name="灯片编号占位符 6"/>
          <p:cNvSpPr txBox="1">
            <a:spLocks noChangeArrowheads="1"/>
          </p:cNvSpPr>
          <p:nvPr/>
        </p:nvSpPr>
        <p:spPr bwMode="auto">
          <a:xfrm>
            <a:off x="6842125" y="4871160"/>
            <a:ext cx="2057400" cy="2739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r>
              <a:rPr lang="en-US" altLang="zh-CN" sz="1400"/>
              <a:t>35-</a:t>
            </a:r>
            <a:fld id="{23BE2D9D-177F-4452-8212-076E8BF4519D}" type="slidenum">
              <a:rPr lang="zh-CN" altLang="en-US" sz="1400"/>
            </a:fld>
            <a:endParaRPr lang="zh-CN" altLang="en-US" sz="1400"/>
          </a:p>
        </p:txBody>
      </p:sp>
      <p:pic>
        <p:nvPicPr>
          <p:cNvPr id="10" name="Picture 12" descr="底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357622"/>
            <a:ext cx="9180000" cy="178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MH_Entry_1"/>
          <p:cNvSpPr>
            <a:spLocks noChangeArrowheads="1"/>
          </p:cNvSpPr>
          <p:nvPr/>
        </p:nvSpPr>
        <p:spPr bwMode="auto">
          <a:xfrm>
            <a:off x="1475656" y="826655"/>
            <a:ext cx="2448272" cy="630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箱变产品概述</a:t>
            </a:r>
            <a:endParaRPr lang="zh-CN" altLang="en-US" sz="2100" b="1" spc="300" noProof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MH_Entry_2"/>
          <p:cNvSpPr>
            <a:spLocks noChangeArrowheads="1"/>
          </p:cNvSpPr>
          <p:nvPr/>
        </p:nvSpPr>
        <p:spPr bwMode="auto">
          <a:xfrm>
            <a:off x="1475656" y="1492424"/>
            <a:ext cx="5184576" cy="630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组合变压器和预装式变电站优缺点介绍</a:t>
            </a:r>
            <a:endParaRPr lang="en-US" altLang="zh-CN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H_Entry_4"/>
          <p:cNvSpPr>
            <a:spLocks noChangeArrowheads="1"/>
          </p:cNvSpPr>
          <p:nvPr/>
        </p:nvSpPr>
        <p:spPr bwMode="auto">
          <a:xfrm>
            <a:off x="1475656" y="2194807"/>
            <a:ext cx="4968552" cy="630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典型方案及结构布置形式</a:t>
            </a:r>
            <a:endParaRPr lang="zh-CN" altLang="en-US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MH_Entry_4"/>
          <p:cNvSpPr>
            <a:spLocks noChangeArrowheads="1"/>
          </p:cNvSpPr>
          <p:nvPr/>
        </p:nvSpPr>
        <p:spPr bwMode="auto">
          <a:xfrm>
            <a:off x="1475656" y="2892015"/>
            <a:ext cx="4968552" cy="630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箱变正常运行操作步骤</a:t>
            </a:r>
            <a:endParaRPr lang="zh-CN" altLang="en-US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87624" y="754647"/>
            <a:ext cx="0" cy="288032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971600" y="898663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71600" y="1564432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71600" y="2266815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71600" y="2964023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395536" y="700336"/>
            <a:ext cx="8064896" cy="3988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00"/>
              </a:lnSpc>
            </a:pPr>
            <a:r>
              <a:rPr 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箱式变电站（简称箱变），是一种将高压开关设备、配电变压器、低压开关柜，按一定结线方案有机</a:t>
            </a:r>
            <a:r>
              <a:rPr lang="zh-CN" altLang="en-US" sz="2000" spc="-15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地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组合</a:t>
            </a:r>
            <a:r>
              <a:rPr lang="zh-CN" altLang="en-US" sz="2000" spc="-15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在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一起的输配电设备。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主要分为两大类：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美式箱变</a:t>
            </a: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----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组合式变电站（执行标准</a:t>
            </a: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JB/T10217 </a:t>
            </a:r>
            <a:r>
              <a:rPr lang="zh-CN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欧式箱变</a:t>
            </a: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----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预装式变电站（执行标准</a:t>
            </a: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GB/T17467 </a:t>
            </a:r>
            <a:r>
              <a:rPr lang="zh-CN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 smtClean="0">
              <a:solidFill>
                <a:schemeClr val="tx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箱变的优点：</a:t>
            </a:r>
            <a:endParaRPr lang="zh-CN" altLang="en-US" sz="2000" dirty="0" smtClean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1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、技术先进安全可靠           </a:t>
            </a: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、自动化程度高</a:t>
            </a:r>
            <a:endParaRPr lang="zh-CN" altLang="en-US" sz="2000" dirty="0" smtClean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3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、工厂预制化                 </a:t>
            </a: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4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、组合方式灵活</a:t>
            </a:r>
            <a:endParaRPr lang="zh-CN" altLang="en-US" sz="2000" dirty="0" smtClean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5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、投资省见效快               </a:t>
            </a: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6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、占地面积小</a:t>
            </a:r>
            <a:endParaRPr lang="zh-CN" altLang="en-US" sz="2000" dirty="0" smtClean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lang="en-US" altLang="zh-CN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7</a:t>
            </a:r>
            <a:r>
              <a:rPr lang="zh-CN" altLang="en-US" sz="2000" dirty="0" smtClean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、外形美观，易与环境协调</a:t>
            </a:r>
            <a:endParaRPr lang="zh-CN" altLang="en-US" sz="2000" dirty="0" smtClean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" name="文本框 15"/>
          <p:cNvSpPr txBox="1"/>
          <p:nvPr/>
        </p:nvSpPr>
        <p:spPr>
          <a:xfrm>
            <a:off x="467544" y="124272"/>
            <a:ext cx="475252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箱式变电站及新能源箱变概述</a:t>
            </a:r>
            <a:endParaRPr lang="zh-CN" altLang="en-US" sz="2000" b="1" dirty="0">
              <a:solidFill>
                <a:srgbClr val="0707B3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 rot="10800000" flipV="1">
            <a:off x="1547664" y="863272"/>
            <a:ext cx="1409" cy="24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rot="10800000">
            <a:off x="3706019" y="700336"/>
            <a:ext cx="1409" cy="1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15"/>
          <p:cNvSpPr txBox="1"/>
          <p:nvPr/>
        </p:nvSpPr>
        <p:spPr>
          <a:xfrm>
            <a:off x="395536" y="196280"/>
            <a:ext cx="475252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箱式变电站及新能源箱变分类</a:t>
            </a:r>
            <a:endParaRPr lang="zh-CN" altLang="en-US" sz="2000" b="1" dirty="0">
              <a:solidFill>
                <a:srgbClr val="0707B3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91680" y="1220428"/>
            <a:ext cx="6165198" cy="2399585"/>
            <a:chOff x="1259632" y="1431063"/>
            <a:chExt cx="6165198" cy="2399585"/>
          </a:xfrm>
        </p:grpSpPr>
        <p:sp>
          <p:nvSpPr>
            <p:cNvPr id="11" name="圆角矩形 10"/>
            <p:cNvSpPr/>
            <p:nvPr/>
          </p:nvSpPr>
          <p:spPr>
            <a:xfrm>
              <a:off x="1259632" y="1611530"/>
              <a:ext cx="504056" cy="204113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箱式变电站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2932466" y="2939840"/>
              <a:ext cx="1086257" cy="5337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欧变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2932465" y="1780456"/>
              <a:ext cx="1086257" cy="43581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美变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5167450" y="2653756"/>
              <a:ext cx="2232248" cy="5337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新能源储能用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5153809" y="2026816"/>
              <a:ext cx="2271021" cy="5337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风电专用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5148064" y="1431063"/>
              <a:ext cx="2271020" cy="5337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光伏专用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5186837" y="3296864"/>
              <a:ext cx="2232248" cy="5337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企业</a:t>
              </a:r>
              <a:r>
                <a:rPr lang="en-US" altLang="zh-CN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/</a:t>
              </a:r>
              <a:r>
                <a: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小区</a:t>
              </a:r>
              <a:endPara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" name="右箭头 2"/>
            <p:cNvSpPr/>
            <p:nvPr/>
          </p:nvSpPr>
          <p:spPr bwMode="auto">
            <a:xfrm>
              <a:off x="2051720" y="2395020"/>
              <a:ext cx="648072" cy="299976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右箭头 41"/>
            <p:cNvSpPr/>
            <p:nvPr/>
          </p:nvSpPr>
          <p:spPr bwMode="auto">
            <a:xfrm>
              <a:off x="4139952" y="2410612"/>
              <a:ext cx="648072" cy="299976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6"/>
          <p:cNvGrpSpPr/>
          <p:nvPr/>
        </p:nvGrpSpPr>
        <p:grpSpPr bwMode="auto">
          <a:xfrm>
            <a:off x="807243" y="1216004"/>
            <a:ext cx="2852738" cy="3093724"/>
            <a:chOff x="-318498" y="368981"/>
            <a:chExt cx="3804666" cy="4124133"/>
          </a:xfrm>
        </p:grpSpPr>
        <p:sp>
          <p:nvSpPr>
            <p:cNvPr id="62478" name="矩形 2"/>
            <p:cNvSpPr>
              <a:spLocks noChangeArrowheads="1"/>
            </p:cNvSpPr>
            <p:nvPr/>
          </p:nvSpPr>
          <p:spPr bwMode="auto">
            <a:xfrm>
              <a:off x="96551" y="4123857"/>
              <a:ext cx="2867363" cy="3692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2060"/>
                  </a:solidFill>
                </a:rPr>
                <a:t>组合式变压器系列</a:t>
              </a:r>
              <a:r>
                <a:rPr lang="en-US" altLang="zh-CN" sz="1200" b="1" dirty="0">
                  <a:solidFill>
                    <a:srgbClr val="002060"/>
                  </a:solidFill>
                </a:rPr>
                <a:t>(</a:t>
              </a:r>
              <a:r>
                <a:rPr lang="zh-CN" altLang="en-US" sz="1200" b="1" dirty="0">
                  <a:solidFill>
                    <a:srgbClr val="002060"/>
                  </a:solidFill>
                </a:rPr>
                <a:t>美式箱变</a:t>
              </a:r>
              <a:r>
                <a:rPr lang="en-US" altLang="zh-CN" sz="1200" b="1" dirty="0">
                  <a:solidFill>
                    <a:srgbClr val="002060"/>
                  </a:solidFill>
                </a:rPr>
                <a:t>)</a:t>
              </a:r>
              <a:endParaRPr lang="zh-CN" alt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62479" name="图片 4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-318498" y="368981"/>
              <a:ext cx="3804666" cy="35966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2468" name="文本框 5"/>
          <p:cNvSpPr txBox="1">
            <a:spLocks noChangeArrowheads="1"/>
          </p:cNvSpPr>
          <p:nvPr/>
        </p:nvSpPr>
        <p:spPr bwMode="auto">
          <a:xfrm>
            <a:off x="4139952" y="772344"/>
            <a:ext cx="4902994" cy="13516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优点</a:t>
            </a:r>
            <a:endParaRPr lang="en-US" altLang="zh-CN" b="1" spc="10" dirty="0" smtClean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ts val="2500"/>
              </a:lnSpc>
            </a:pPr>
            <a:r>
              <a:rPr lang="zh-CN" altLang="en-US" b="1" spc="10" dirty="0" smtClean="0">
                <a:solidFill>
                  <a:srgbClr val="0000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      体积小占地面积小、便于安放、便于伪</a:t>
            </a:r>
            <a:r>
              <a:rPr lang="zh-CN" altLang="en-US" b="1" dirty="0" smtClean="0">
                <a:solidFill>
                  <a:srgbClr val="0000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装</a:t>
            </a:r>
            <a:r>
              <a:rPr lang="zh-CN" altLang="en-US" b="1" spc="10" dirty="0" smtClean="0">
                <a:solidFill>
                  <a:srgbClr val="0000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，容易与小区的环境相协调。 可以缩短低压电缆的长度，降低线路损耗，还可以降低供电配套的造价。</a:t>
            </a:r>
            <a:endParaRPr lang="zh-CN" altLang="en-US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6" name="组合 22"/>
          <p:cNvGrpSpPr>
            <a:grpSpLocks noChangeAspect="1"/>
          </p:cNvGrpSpPr>
          <p:nvPr/>
        </p:nvGrpSpPr>
        <p:grpSpPr>
          <a:xfrm>
            <a:off x="3874676" y="994582"/>
            <a:ext cx="172879" cy="172932"/>
            <a:chOff x="4135438" y="2036763"/>
            <a:chExt cx="754062" cy="754062"/>
          </a:xfrm>
          <a:solidFill>
            <a:srgbClr val="002060"/>
          </a:solidFill>
        </p:grpSpPr>
        <p:sp>
          <p:nvSpPr>
            <p:cNvPr id="24" name="Freeform 13"/>
            <p:cNvSpPr/>
            <p:nvPr/>
          </p:nvSpPr>
          <p:spPr bwMode="auto">
            <a:xfrm>
              <a:off x="4135438" y="2203450"/>
              <a:ext cx="258762" cy="320675"/>
            </a:xfrm>
            <a:custGeom>
              <a:avLst/>
              <a:gdLst>
                <a:gd name="T0" fmla="*/ 68 w 68"/>
                <a:gd name="T1" fmla="*/ 84 h 84"/>
                <a:gd name="T2" fmla="*/ 17 w 68"/>
                <a:gd name="T3" fmla="*/ 0 h 84"/>
                <a:gd name="T4" fmla="*/ 0 w 68"/>
                <a:gd name="T5" fmla="*/ 55 h 84"/>
                <a:gd name="T6" fmla="*/ 4 w 68"/>
                <a:gd name="T7" fmla="*/ 84 h 84"/>
                <a:gd name="T8" fmla="*/ 68 w 6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4">
                  <a:moveTo>
                    <a:pt x="68" y="84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6" y="15"/>
                    <a:pt x="0" y="34"/>
                    <a:pt x="0" y="55"/>
                  </a:cubicBezTo>
                  <a:cubicBezTo>
                    <a:pt x="0" y="65"/>
                    <a:pt x="1" y="75"/>
                    <a:pt x="4" y="84"/>
                  </a:cubicBezTo>
                  <a:lnTo>
                    <a:pt x="68" y="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4"/>
            <p:cNvSpPr/>
            <p:nvPr/>
          </p:nvSpPr>
          <p:spPr bwMode="auto">
            <a:xfrm>
              <a:off x="4475163" y="2043113"/>
              <a:ext cx="381000" cy="209550"/>
            </a:xfrm>
            <a:custGeom>
              <a:avLst/>
              <a:gdLst>
                <a:gd name="T0" fmla="*/ 0 w 100"/>
                <a:gd name="T1" fmla="*/ 55 h 55"/>
                <a:gd name="T2" fmla="*/ 100 w 100"/>
                <a:gd name="T3" fmla="*/ 55 h 55"/>
                <a:gd name="T4" fmla="*/ 32 w 100"/>
                <a:gd name="T5" fmla="*/ 0 h 55"/>
                <a:gd name="T6" fmla="*/ 0 w 100"/>
                <a:gd name="T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55">
                  <a:moveTo>
                    <a:pt x="0" y="55"/>
                  </a:moveTo>
                  <a:cubicBezTo>
                    <a:pt x="100" y="55"/>
                    <a:pt x="100" y="55"/>
                    <a:pt x="100" y="55"/>
                  </a:cubicBezTo>
                  <a:cubicBezTo>
                    <a:pt x="87" y="28"/>
                    <a:pt x="62" y="7"/>
                    <a:pt x="32" y="0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5"/>
            <p:cNvSpPr/>
            <p:nvPr/>
          </p:nvSpPr>
          <p:spPr bwMode="auto">
            <a:xfrm>
              <a:off x="4230688" y="2036763"/>
              <a:ext cx="320675" cy="334962"/>
            </a:xfrm>
            <a:custGeom>
              <a:avLst/>
              <a:gdLst>
                <a:gd name="T0" fmla="*/ 32 w 84"/>
                <a:gd name="T1" fmla="*/ 88 h 88"/>
                <a:gd name="T2" fmla="*/ 84 w 84"/>
                <a:gd name="T3" fmla="*/ 0 h 88"/>
                <a:gd name="T4" fmla="*/ 74 w 84"/>
                <a:gd name="T5" fmla="*/ 0 h 88"/>
                <a:gd name="T6" fmla="*/ 0 w 84"/>
                <a:gd name="T7" fmla="*/ 33 h 88"/>
                <a:gd name="T8" fmla="*/ 32 w 84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8">
                  <a:moveTo>
                    <a:pt x="32" y="88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1" y="0"/>
                    <a:pt x="77" y="0"/>
                    <a:pt x="74" y="0"/>
                  </a:cubicBezTo>
                  <a:cubicBezTo>
                    <a:pt x="44" y="0"/>
                    <a:pt x="18" y="13"/>
                    <a:pt x="0" y="33"/>
                  </a:cubicBezTo>
                  <a:lnTo>
                    <a:pt x="32" y="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16"/>
            <p:cNvSpPr/>
            <p:nvPr/>
          </p:nvSpPr>
          <p:spPr bwMode="auto">
            <a:xfrm>
              <a:off x="4170363" y="2570163"/>
              <a:ext cx="381000" cy="215900"/>
            </a:xfrm>
            <a:custGeom>
              <a:avLst/>
              <a:gdLst>
                <a:gd name="T0" fmla="*/ 69 w 100"/>
                <a:gd name="T1" fmla="*/ 55 h 57"/>
                <a:gd name="T2" fmla="*/ 100 w 100"/>
                <a:gd name="T3" fmla="*/ 0 h 57"/>
                <a:gd name="T4" fmla="*/ 0 w 100"/>
                <a:gd name="T5" fmla="*/ 0 h 57"/>
                <a:gd name="T6" fmla="*/ 71 w 100"/>
                <a:gd name="T7" fmla="*/ 57 h 57"/>
                <a:gd name="T8" fmla="*/ 69 w 100"/>
                <a:gd name="T9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57">
                  <a:moveTo>
                    <a:pt x="69" y="55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29"/>
                    <a:pt x="39" y="50"/>
                    <a:pt x="71" y="57"/>
                  </a:cubicBezTo>
                  <a:lnTo>
                    <a:pt x="6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17"/>
            <p:cNvSpPr/>
            <p:nvPr/>
          </p:nvSpPr>
          <p:spPr bwMode="auto">
            <a:xfrm>
              <a:off x="4630738" y="2298700"/>
              <a:ext cx="258762" cy="331787"/>
            </a:xfrm>
            <a:custGeom>
              <a:avLst/>
              <a:gdLst>
                <a:gd name="T0" fmla="*/ 0 w 68"/>
                <a:gd name="T1" fmla="*/ 0 h 87"/>
                <a:gd name="T2" fmla="*/ 50 w 68"/>
                <a:gd name="T3" fmla="*/ 87 h 87"/>
                <a:gd name="T4" fmla="*/ 68 w 68"/>
                <a:gd name="T5" fmla="*/ 30 h 87"/>
                <a:gd name="T6" fmla="*/ 64 w 68"/>
                <a:gd name="T7" fmla="*/ 0 h 87"/>
                <a:gd name="T8" fmla="*/ 0 w 6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7">
                  <a:moveTo>
                    <a:pt x="0" y="0"/>
                  </a:moveTo>
                  <a:cubicBezTo>
                    <a:pt x="50" y="87"/>
                    <a:pt x="50" y="87"/>
                    <a:pt x="50" y="87"/>
                  </a:cubicBezTo>
                  <a:cubicBezTo>
                    <a:pt x="62" y="71"/>
                    <a:pt x="68" y="51"/>
                    <a:pt x="68" y="30"/>
                  </a:cubicBezTo>
                  <a:cubicBezTo>
                    <a:pt x="68" y="20"/>
                    <a:pt x="67" y="9"/>
                    <a:pt x="6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18"/>
            <p:cNvSpPr/>
            <p:nvPr/>
          </p:nvSpPr>
          <p:spPr bwMode="auto">
            <a:xfrm>
              <a:off x="4478337" y="2459038"/>
              <a:ext cx="312736" cy="331787"/>
            </a:xfrm>
            <a:custGeom>
              <a:avLst/>
              <a:gdLst>
                <a:gd name="T0" fmla="*/ 50 w 82"/>
                <a:gd name="T1" fmla="*/ 0 h 87"/>
                <a:gd name="T2" fmla="*/ 0 w 82"/>
                <a:gd name="T3" fmla="*/ 87 h 87"/>
                <a:gd name="T4" fmla="*/ 9 w 82"/>
                <a:gd name="T5" fmla="*/ 87 h 87"/>
                <a:gd name="T6" fmla="*/ 82 w 82"/>
                <a:gd name="T7" fmla="*/ 55 h 87"/>
                <a:gd name="T8" fmla="*/ 50 w 82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7">
                  <a:moveTo>
                    <a:pt x="5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" y="87"/>
                    <a:pt x="6" y="87"/>
                    <a:pt x="9" y="87"/>
                  </a:cubicBezTo>
                  <a:cubicBezTo>
                    <a:pt x="38" y="87"/>
                    <a:pt x="64" y="75"/>
                    <a:pt x="82" y="55"/>
                  </a:cubicBez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58"/>
          <p:cNvGrpSpPr>
            <a:grpSpLocks noChangeAspect="1"/>
          </p:cNvGrpSpPr>
          <p:nvPr/>
        </p:nvGrpSpPr>
        <p:grpSpPr>
          <a:xfrm>
            <a:off x="3874676" y="2212504"/>
            <a:ext cx="172879" cy="172931"/>
            <a:chOff x="4135438" y="2036763"/>
            <a:chExt cx="754062" cy="754062"/>
          </a:xfrm>
          <a:solidFill>
            <a:srgbClr val="002060"/>
          </a:solidFill>
        </p:grpSpPr>
        <p:sp>
          <p:nvSpPr>
            <p:cNvPr id="60" name="Freeform 13"/>
            <p:cNvSpPr/>
            <p:nvPr/>
          </p:nvSpPr>
          <p:spPr bwMode="auto">
            <a:xfrm>
              <a:off x="4135438" y="2203450"/>
              <a:ext cx="258762" cy="320675"/>
            </a:xfrm>
            <a:custGeom>
              <a:avLst/>
              <a:gdLst>
                <a:gd name="T0" fmla="*/ 68 w 68"/>
                <a:gd name="T1" fmla="*/ 84 h 84"/>
                <a:gd name="T2" fmla="*/ 17 w 68"/>
                <a:gd name="T3" fmla="*/ 0 h 84"/>
                <a:gd name="T4" fmla="*/ 0 w 68"/>
                <a:gd name="T5" fmla="*/ 55 h 84"/>
                <a:gd name="T6" fmla="*/ 4 w 68"/>
                <a:gd name="T7" fmla="*/ 84 h 84"/>
                <a:gd name="T8" fmla="*/ 68 w 6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4">
                  <a:moveTo>
                    <a:pt x="68" y="84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6" y="15"/>
                    <a:pt x="0" y="34"/>
                    <a:pt x="0" y="55"/>
                  </a:cubicBezTo>
                  <a:cubicBezTo>
                    <a:pt x="0" y="65"/>
                    <a:pt x="1" y="75"/>
                    <a:pt x="4" y="84"/>
                  </a:cubicBezTo>
                  <a:lnTo>
                    <a:pt x="68" y="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14"/>
            <p:cNvSpPr/>
            <p:nvPr/>
          </p:nvSpPr>
          <p:spPr bwMode="auto">
            <a:xfrm>
              <a:off x="4475163" y="2043113"/>
              <a:ext cx="381000" cy="209550"/>
            </a:xfrm>
            <a:custGeom>
              <a:avLst/>
              <a:gdLst>
                <a:gd name="T0" fmla="*/ 0 w 100"/>
                <a:gd name="T1" fmla="*/ 55 h 55"/>
                <a:gd name="T2" fmla="*/ 100 w 100"/>
                <a:gd name="T3" fmla="*/ 55 h 55"/>
                <a:gd name="T4" fmla="*/ 32 w 100"/>
                <a:gd name="T5" fmla="*/ 0 h 55"/>
                <a:gd name="T6" fmla="*/ 0 w 100"/>
                <a:gd name="T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55">
                  <a:moveTo>
                    <a:pt x="0" y="55"/>
                  </a:moveTo>
                  <a:cubicBezTo>
                    <a:pt x="100" y="55"/>
                    <a:pt x="100" y="55"/>
                    <a:pt x="100" y="55"/>
                  </a:cubicBezTo>
                  <a:cubicBezTo>
                    <a:pt x="87" y="28"/>
                    <a:pt x="62" y="7"/>
                    <a:pt x="32" y="0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15"/>
            <p:cNvSpPr/>
            <p:nvPr/>
          </p:nvSpPr>
          <p:spPr bwMode="auto">
            <a:xfrm>
              <a:off x="4230688" y="2036763"/>
              <a:ext cx="320675" cy="334962"/>
            </a:xfrm>
            <a:custGeom>
              <a:avLst/>
              <a:gdLst>
                <a:gd name="T0" fmla="*/ 32 w 84"/>
                <a:gd name="T1" fmla="*/ 88 h 88"/>
                <a:gd name="T2" fmla="*/ 84 w 84"/>
                <a:gd name="T3" fmla="*/ 0 h 88"/>
                <a:gd name="T4" fmla="*/ 74 w 84"/>
                <a:gd name="T5" fmla="*/ 0 h 88"/>
                <a:gd name="T6" fmla="*/ 0 w 84"/>
                <a:gd name="T7" fmla="*/ 33 h 88"/>
                <a:gd name="T8" fmla="*/ 32 w 84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8">
                  <a:moveTo>
                    <a:pt x="32" y="88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1" y="0"/>
                    <a:pt x="77" y="0"/>
                    <a:pt x="74" y="0"/>
                  </a:cubicBezTo>
                  <a:cubicBezTo>
                    <a:pt x="44" y="0"/>
                    <a:pt x="18" y="13"/>
                    <a:pt x="0" y="33"/>
                  </a:cubicBezTo>
                  <a:lnTo>
                    <a:pt x="32" y="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16"/>
            <p:cNvSpPr/>
            <p:nvPr/>
          </p:nvSpPr>
          <p:spPr bwMode="auto">
            <a:xfrm>
              <a:off x="4170363" y="2570163"/>
              <a:ext cx="381000" cy="215900"/>
            </a:xfrm>
            <a:custGeom>
              <a:avLst/>
              <a:gdLst>
                <a:gd name="T0" fmla="*/ 69 w 100"/>
                <a:gd name="T1" fmla="*/ 55 h 57"/>
                <a:gd name="T2" fmla="*/ 100 w 100"/>
                <a:gd name="T3" fmla="*/ 0 h 57"/>
                <a:gd name="T4" fmla="*/ 0 w 100"/>
                <a:gd name="T5" fmla="*/ 0 h 57"/>
                <a:gd name="T6" fmla="*/ 71 w 100"/>
                <a:gd name="T7" fmla="*/ 57 h 57"/>
                <a:gd name="T8" fmla="*/ 69 w 100"/>
                <a:gd name="T9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57">
                  <a:moveTo>
                    <a:pt x="69" y="55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29"/>
                    <a:pt x="39" y="50"/>
                    <a:pt x="71" y="57"/>
                  </a:cubicBezTo>
                  <a:lnTo>
                    <a:pt x="6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17"/>
            <p:cNvSpPr/>
            <p:nvPr/>
          </p:nvSpPr>
          <p:spPr bwMode="auto">
            <a:xfrm>
              <a:off x="4630738" y="2298700"/>
              <a:ext cx="258762" cy="331787"/>
            </a:xfrm>
            <a:custGeom>
              <a:avLst/>
              <a:gdLst>
                <a:gd name="T0" fmla="*/ 0 w 68"/>
                <a:gd name="T1" fmla="*/ 0 h 87"/>
                <a:gd name="T2" fmla="*/ 50 w 68"/>
                <a:gd name="T3" fmla="*/ 87 h 87"/>
                <a:gd name="T4" fmla="*/ 68 w 68"/>
                <a:gd name="T5" fmla="*/ 30 h 87"/>
                <a:gd name="T6" fmla="*/ 64 w 68"/>
                <a:gd name="T7" fmla="*/ 0 h 87"/>
                <a:gd name="T8" fmla="*/ 0 w 6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7">
                  <a:moveTo>
                    <a:pt x="0" y="0"/>
                  </a:moveTo>
                  <a:cubicBezTo>
                    <a:pt x="50" y="87"/>
                    <a:pt x="50" y="87"/>
                    <a:pt x="50" y="87"/>
                  </a:cubicBezTo>
                  <a:cubicBezTo>
                    <a:pt x="62" y="71"/>
                    <a:pt x="68" y="51"/>
                    <a:pt x="68" y="30"/>
                  </a:cubicBezTo>
                  <a:cubicBezTo>
                    <a:pt x="68" y="20"/>
                    <a:pt x="67" y="9"/>
                    <a:pt x="6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8"/>
            <p:cNvSpPr/>
            <p:nvPr/>
          </p:nvSpPr>
          <p:spPr bwMode="auto">
            <a:xfrm>
              <a:off x="4478337" y="2459038"/>
              <a:ext cx="312736" cy="331787"/>
            </a:xfrm>
            <a:custGeom>
              <a:avLst/>
              <a:gdLst>
                <a:gd name="T0" fmla="*/ 50 w 82"/>
                <a:gd name="T1" fmla="*/ 0 h 87"/>
                <a:gd name="T2" fmla="*/ 0 w 82"/>
                <a:gd name="T3" fmla="*/ 87 h 87"/>
                <a:gd name="T4" fmla="*/ 9 w 82"/>
                <a:gd name="T5" fmla="*/ 87 h 87"/>
                <a:gd name="T6" fmla="*/ 82 w 82"/>
                <a:gd name="T7" fmla="*/ 55 h 87"/>
                <a:gd name="T8" fmla="*/ 50 w 82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7">
                  <a:moveTo>
                    <a:pt x="5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" y="87"/>
                    <a:pt x="6" y="87"/>
                    <a:pt x="9" y="87"/>
                  </a:cubicBezTo>
                  <a:cubicBezTo>
                    <a:pt x="38" y="87"/>
                    <a:pt x="64" y="75"/>
                    <a:pt x="82" y="55"/>
                  </a:cubicBez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0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美式箱变</a:t>
            </a: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----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组合式变电站（执行标准</a:t>
            </a: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JB/T10217 </a:t>
            </a:r>
            <a:r>
              <a:rPr lang="zh-CN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87" name="文本框 5"/>
          <p:cNvSpPr txBox="1">
            <a:spLocks noChangeArrowheads="1"/>
          </p:cNvSpPr>
          <p:nvPr/>
        </p:nvSpPr>
        <p:spPr bwMode="auto">
          <a:xfrm>
            <a:off x="4139952" y="2140496"/>
            <a:ext cx="4902994" cy="19928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>
            <a:spAutoFit/>
          </a:bodyPr>
          <a:lstStyle/>
          <a:p>
            <a:pPr marR="234950">
              <a:lnSpc>
                <a:spcPts val="2500"/>
              </a:lnSpc>
              <a:spcBef>
                <a:spcPts val="0"/>
              </a:spcBef>
            </a:pPr>
            <a:r>
              <a:rPr lang="zh-CN" altLang="en-US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缺点</a:t>
            </a:r>
            <a:endParaRPr lang="en-US" altLang="zh-CN" b="1" spc="10" dirty="0" smtClean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234950">
              <a:lnSpc>
                <a:spcPts val="2500"/>
              </a:lnSpc>
              <a:spcBef>
                <a:spcPts val="0"/>
              </a:spcBef>
            </a:pPr>
            <a:r>
              <a:rPr lang="zh-CN" altLang="en-US" b="1" spc="10" dirty="0" smtClean="0">
                <a:solidFill>
                  <a:srgbClr val="0000CC"/>
                </a:solidFill>
                <a:latin typeface="Microsoft JhengHei" panose="020B0604030504040204" charset="-120"/>
                <a:cs typeface="Microsoft JhengHei" panose="020B0604030504040204" charset="-120"/>
              </a:rPr>
              <a:t>       供电可靠性低，无电动机构，无法增设配电自动化装置；无电容器装置，对降低线损不利；由于不同容量箱变的土建基础不同，使箱变的增容不便；当箱变过载后或用户增容时，土建要重建，会有一个较长的停电时间，增加工程的难度。</a:t>
            </a:r>
            <a:endParaRPr lang="zh-CN" altLang="en-US" b="1" spc="10" dirty="0" smtClean="0">
              <a:solidFill>
                <a:srgbClr val="0000CC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文本框 5"/>
          <p:cNvSpPr txBox="1">
            <a:spLocks noChangeArrowheads="1"/>
          </p:cNvSpPr>
          <p:nvPr/>
        </p:nvSpPr>
        <p:spPr bwMode="auto">
          <a:xfrm>
            <a:off x="4139952" y="772344"/>
            <a:ext cx="4320480" cy="11977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优点</a:t>
            </a:r>
            <a:endParaRPr lang="en-US" altLang="zh-CN" b="1" spc="10" dirty="0" smtClean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具备美式箱变的主要优点，可以配置配电自动化设备；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箱变的金属外壳对变压器起到屏蔽作用；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组合 22"/>
          <p:cNvGrpSpPr>
            <a:grpSpLocks noChangeAspect="1"/>
          </p:cNvGrpSpPr>
          <p:nvPr/>
        </p:nvGrpSpPr>
        <p:grpSpPr>
          <a:xfrm>
            <a:off x="3874676" y="994582"/>
            <a:ext cx="172879" cy="172932"/>
            <a:chOff x="4135438" y="2036763"/>
            <a:chExt cx="754062" cy="754062"/>
          </a:xfrm>
          <a:solidFill>
            <a:srgbClr val="002060"/>
          </a:solidFill>
        </p:grpSpPr>
        <p:sp>
          <p:nvSpPr>
            <p:cNvPr id="24" name="Freeform 13"/>
            <p:cNvSpPr/>
            <p:nvPr/>
          </p:nvSpPr>
          <p:spPr bwMode="auto">
            <a:xfrm>
              <a:off x="4135438" y="2203450"/>
              <a:ext cx="258762" cy="320675"/>
            </a:xfrm>
            <a:custGeom>
              <a:avLst/>
              <a:gdLst>
                <a:gd name="T0" fmla="*/ 68 w 68"/>
                <a:gd name="T1" fmla="*/ 84 h 84"/>
                <a:gd name="T2" fmla="*/ 17 w 68"/>
                <a:gd name="T3" fmla="*/ 0 h 84"/>
                <a:gd name="T4" fmla="*/ 0 w 68"/>
                <a:gd name="T5" fmla="*/ 55 h 84"/>
                <a:gd name="T6" fmla="*/ 4 w 68"/>
                <a:gd name="T7" fmla="*/ 84 h 84"/>
                <a:gd name="T8" fmla="*/ 68 w 6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4">
                  <a:moveTo>
                    <a:pt x="68" y="84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6" y="15"/>
                    <a:pt x="0" y="34"/>
                    <a:pt x="0" y="55"/>
                  </a:cubicBezTo>
                  <a:cubicBezTo>
                    <a:pt x="0" y="65"/>
                    <a:pt x="1" y="75"/>
                    <a:pt x="4" y="84"/>
                  </a:cubicBezTo>
                  <a:lnTo>
                    <a:pt x="68" y="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4"/>
            <p:cNvSpPr/>
            <p:nvPr/>
          </p:nvSpPr>
          <p:spPr bwMode="auto">
            <a:xfrm>
              <a:off x="4475163" y="2043113"/>
              <a:ext cx="381000" cy="209550"/>
            </a:xfrm>
            <a:custGeom>
              <a:avLst/>
              <a:gdLst>
                <a:gd name="T0" fmla="*/ 0 w 100"/>
                <a:gd name="T1" fmla="*/ 55 h 55"/>
                <a:gd name="T2" fmla="*/ 100 w 100"/>
                <a:gd name="T3" fmla="*/ 55 h 55"/>
                <a:gd name="T4" fmla="*/ 32 w 100"/>
                <a:gd name="T5" fmla="*/ 0 h 55"/>
                <a:gd name="T6" fmla="*/ 0 w 100"/>
                <a:gd name="T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55">
                  <a:moveTo>
                    <a:pt x="0" y="55"/>
                  </a:moveTo>
                  <a:cubicBezTo>
                    <a:pt x="100" y="55"/>
                    <a:pt x="100" y="55"/>
                    <a:pt x="100" y="55"/>
                  </a:cubicBezTo>
                  <a:cubicBezTo>
                    <a:pt x="87" y="28"/>
                    <a:pt x="62" y="7"/>
                    <a:pt x="32" y="0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5"/>
            <p:cNvSpPr/>
            <p:nvPr/>
          </p:nvSpPr>
          <p:spPr bwMode="auto">
            <a:xfrm>
              <a:off x="4230688" y="2036763"/>
              <a:ext cx="320675" cy="334962"/>
            </a:xfrm>
            <a:custGeom>
              <a:avLst/>
              <a:gdLst>
                <a:gd name="T0" fmla="*/ 32 w 84"/>
                <a:gd name="T1" fmla="*/ 88 h 88"/>
                <a:gd name="T2" fmla="*/ 84 w 84"/>
                <a:gd name="T3" fmla="*/ 0 h 88"/>
                <a:gd name="T4" fmla="*/ 74 w 84"/>
                <a:gd name="T5" fmla="*/ 0 h 88"/>
                <a:gd name="T6" fmla="*/ 0 w 84"/>
                <a:gd name="T7" fmla="*/ 33 h 88"/>
                <a:gd name="T8" fmla="*/ 32 w 84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8">
                  <a:moveTo>
                    <a:pt x="32" y="88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1" y="0"/>
                    <a:pt x="77" y="0"/>
                    <a:pt x="74" y="0"/>
                  </a:cubicBezTo>
                  <a:cubicBezTo>
                    <a:pt x="44" y="0"/>
                    <a:pt x="18" y="13"/>
                    <a:pt x="0" y="33"/>
                  </a:cubicBezTo>
                  <a:lnTo>
                    <a:pt x="32" y="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16"/>
            <p:cNvSpPr/>
            <p:nvPr/>
          </p:nvSpPr>
          <p:spPr bwMode="auto">
            <a:xfrm>
              <a:off x="4170363" y="2570163"/>
              <a:ext cx="381000" cy="215900"/>
            </a:xfrm>
            <a:custGeom>
              <a:avLst/>
              <a:gdLst>
                <a:gd name="T0" fmla="*/ 69 w 100"/>
                <a:gd name="T1" fmla="*/ 55 h 57"/>
                <a:gd name="T2" fmla="*/ 100 w 100"/>
                <a:gd name="T3" fmla="*/ 0 h 57"/>
                <a:gd name="T4" fmla="*/ 0 w 100"/>
                <a:gd name="T5" fmla="*/ 0 h 57"/>
                <a:gd name="T6" fmla="*/ 71 w 100"/>
                <a:gd name="T7" fmla="*/ 57 h 57"/>
                <a:gd name="T8" fmla="*/ 69 w 100"/>
                <a:gd name="T9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57">
                  <a:moveTo>
                    <a:pt x="69" y="55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29"/>
                    <a:pt x="39" y="50"/>
                    <a:pt x="71" y="57"/>
                  </a:cubicBezTo>
                  <a:lnTo>
                    <a:pt x="6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17"/>
            <p:cNvSpPr/>
            <p:nvPr/>
          </p:nvSpPr>
          <p:spPr bwMode="auto">
            <a:xfrm>
              <a:off x="4630738" y="2298700"/>
              <a:ext cx="258762" cy="331787"/>
            </a:xfrm>
            <a:custGeom>
              <a:avLst/>
              <a:gdLst>
                <a:gd name="T0" fmla="*/ 0 w 68"/>
                <a:gd name="T1" fmla="*/ 0 h 87"/>
                <a:gd name="T2" fmla="*/ 50 w 68"/>
                <a:gd name="T3" fmla="*/ 87 h 87"/>
                <a:gd name="T4" fmla="*/ 68 w 68"/>
                <a:gd name="T5" fmla="*/ 30 h 87"/>
                <a:gd name="T6" fmla="*/ 64 w 68"/>
                <a:gd name="T7" fmla="*/ 0 h 87"/>
                <a:gd name="T8" fmla="*/ 0 w 6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7">
                  <a:moveTo>
                    <a:pt x="0" y="0"/>
                  </a:moveTo>
                  <a:cubicBezTo>
                    <a:pt x="50" y="87"/>
                    <a:pt x="50" y="87"/>
                    <a:pt x="50" y="87"/>
                  </a:cubicBezTo>
                  <a:cubicBezTo>
                    <a:pt x="62" y="71"/>
                    <a:pt x="68" y="51"/>
                    <a:pt x="68" y="30"/>
                  </a:cubicBezTo>
                  <a:cubicBezTo>
                    <a:pt x="68" y="20"/>
                    <a:pt x="67" y="9"/>
                    <a:pt x="6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18"/>
            <p:cNvSpPr/>
            <p:nvPr/>
          </p:nvSpPr>
          <p:spPr bwMode="auto">
            <a:xfrm>
              <a:off x="4478337" y="2459038"/>
              <a:ext cx="312736" cy="331787"/>
            </a:xfrm>
            <a:custGeom>
              <a:avLst/>
              <a:gdLst>
                <a:gd name="T0" fmla="*/ 50 w 82"/>
                <a:gd name="T1" fmla="*/ 0 h 87"/>
                <a:gd name="T2" fmla="*/ 0 w 82"/>
                <a:gd name="T3" fmla="*/ 87 h 87"/>
                <a:gd name="T4" fmla="*/ 9 w 82"/>
                <a:gd name="T5" fmla="*/ 87 h 87"/>
                <a:gd name="T6" fmla="*/ 82 w 82"/>
                <a:gd name="T7" fmla="*/ 55 h 87"/>
                <a:gd name="T8" fmla="*/ 50 w 82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7">
                  <a:moveTo>
                    <a:pt x="5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" y="87"/>
                    <a:pt x="6" y="87"/>
                    <a:pt x="9" y="87"/>
                  </a:cubicBezTo>
                  <a:cubicBezTo>
                    <a:pt x="38" y="87"/>
                    <a:pt x="64" y="75"/>
                    <a:pt x="82" y="55"/>
                  </a:cubicBez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58"/>
          <p:cNvGrpSpPr>
            <a:grpSpLocks noChangeAspect="1"/>
          </p:cNvGrpSpPr>
          <p:nvPr/>
        </p:nvGrpSpPr>
        <p:grpSpPr>
          <a:xfrm>
            <a:off x="3874676" y="2212504"/>
            <a:ext cx="172879" cy="172931"/>
            <a:chOff x="4135438" y="2036763"/>
            <a:chExt cx="754062" cy="754062"/>
          </a:xfrm>
          <a:solidFill>
            <a:srgbClr val="002060"/>
          </a:solidFill>
        </p:grpSpPr>
        <p:sp>
          <p:nvSpPr>
            <p:cNvPr id="60" name="Freeform 13"/>
            <p:cNvSpPr/>
            <p:nvPr/>
          </p:nvSpPr>
          <p:spPr bwMode="auto">
            <a:xfrm>
              <a:off x="4135438" y="2203450"/>
              <a:ext cx="258762" cy="320675"/>
            </a:xfrm>
            <a:custGeom>
              <a:avLst/>
              <a:gdLst>
                <a:gd name="T0" fmla="*/ 68 w 68"/>
                <a:gd name="T1" fmla="*/ 84 h 84"/>
                <a:gd name="T2" fmla="*/ 17 w 68"/>
                <a:gd name="T3" fmla="*/ 0 h 84"/>
                <a:gd name="T4" fmla="*/ 0 w 68"/>
                <a:gd name="T5" fmla="*/ 55 h 84"/>
                <a:gd name="T6" fmla="*/ 4 w 68"/>
                <a:gd name="T7" fmla="*/ 84 h 84"/>
                <a:gd name="T8" fmla="*/ 68 w 6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4">
                  <a:moveTo>
                    <a:pt x="68" y="84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6" y="15"/>
                    <a:pt x="0" y="34"/>
                    <a:pt x="0" y="55"/>
                  </a:cubicBezTo>
                  <a:cubicBezTo>
                    <a:pt x="0" y="65"/>
                    <a:pt x="1" y="75"/>
                    <a:pt x="4" y="84"/>
                  </a:cubicBezTo>
                  <a:lnTo>
                    <a:pt x="68" y="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14"/>
            <p:cNvSpPr/>
            <p:nvPr/>
          </p:nvSpPr>
          <p:spPr bwMode="auto">
            <a:xfrm>
              <a:off x="4475163" y="2043113"/>
              <a:ext cx="381000" cy="209550"/>
            </a:xfrm>
            <a:custGeom>
              <a:avLst/>
              <a:gdLst>
                <a:gd name="T0" fmla="*/ 0 w 100"/>
                <a:gd name="T1" fmla="*/ 55 h 55"/>
                <a:gd name="T2" fmla="*/ 100 w 100"/>
                <a:gd name="T3" fmla="*/ 55 h 55"/>
                <a:gd name="T4" fmla="*/ 32 w 100"/>
                <a:gd name="T5" fmla="*/ 0 h 55"/>
                <a:gd name="T6" fmla="*/ 0 w 100"/>
                <a:gd name="T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55">
                  <a:moveTo>
                    <a:pt x="0" y="55"/>
                  </a:moveTo>
                  <a:cubicBezTo>
                    <a:pt x="100" y="55"/>
                    <a:pt x="100" y="55"/>
                    <a:pt x="100" y="55"/>
                  </a:cubicBezTo>
                  <a:cubicBezTo>
                    <a:pt x="87" y="28"/>
                    <a:pt x="62" y="7"/>
                    <a:pt x="32" y="0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15"/>
            <p:cNvSpPr/>
            <p:nvPr/>
          </p:nvSpPr>
          <p:spPr bwMode="auto">
            <a:xfrm>
              <a:off x="4230688" y="2036763"/>
              <a:ext cx="320675" cy="334962"/>
            </a:xfrm>
            <a:custGeom>
              <a:avLst/>
              <a:gdLst>
                <a:gd name="T0" fmla="*/ 32 w 84"/>
                <a:gd name="T1" fmla="*/ 88 h 88"/>
                <a:gd name="T2" fmla="*/ 84 w 84"/>
                <a:gd name="T3" fmla="*/ 0 h 88"/>
                <a:gd name="T4" fmla="*/ 74 w 84"/>
                <a:gd name="T5" fmla="*/ 0 h 88"/>
                <a:gd name="T6" fmla="*/ 0 w 84"/>
                <a:gd name="T7" fmla="*/ 33 h 88"/>
                <a:gd name="T8" fmla="*/ 32 w 84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8">
                  <a:moveTo>
                    <a:pt x="32" y="88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1" y="0"/>
                    <a:pt x="77" y="0"/>
                    <a:pt x="74" y="0"/>
                  </a:cubicBezTo>
                  <a:cubicBezTo>
                    <a:pt x="44" y="0"/>
                    <a:pt x="18" y="13"/>
                    <a:pt x="0" y="33"/>
                  </a:cubicBezTo>
                  <a:lnTo>
                    <a:pt x="32" y="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16"/>
            <p:cNvSpPr/>
            <p:nvPr/>
          </p:nvSpPr>
          <p:spPr bwMode="auto">
            <a:xfrm>
              <a:off x="4170363" y="2570163"/>
              <a:ext cx="381000" cy="215900"/>
            </a:xfrm>
            <a:custGeom>
              <a:avLst/>
              <a:gdLst>
                <a:gd name="T0" fmla="*/ 69 w 100"/>
                <a:gd name="T1" fmla="*/ 55 h 57"/>
                <a:gd name="T2" fmla="*/ 100 w 100"/>
                <a:gd name="T3" fmla="*/ 0 h 57"/>
                <a:gd name="T4" fmla="*/ 0 w 100"/>
                <a:gd name="T5" fmla="*/ 0 h 57"/>
                <a:gd name="T6" fmla="*/ 71 w 100"/>
                <a:gd name="T7" fmla="*/ 57 h 57"/>
                <a:gd name="T8" fmla="*/ 69 w 100"/>
                <a:gd name="T9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57">
                  <a:moveTo>
                    <a:pt x="69" y="55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29"/>
                    <a:pt x="39" y="50"/>
                    <a:pt x="71" y="57"/>
                  </a:cubicBezTo>
                  <a:lnTo>
                    <a:pt x="6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17"/>
            <p:cNvSpPr/>
            <p:nvPr/>
          </p:nvSpPr>
          <p:spPr bwMode="auto">
            <a:xfrm>
              <a:off x="4630738" y="2298700"/>
              <a:ext cx="258762" cy="331787"/>
            </a:xfrm>
            <a:custGeom>
              <a:avLst/>
              <a:gdLst>
                <a:gd name="T0" fmla="*/ 0 w 68"/>
                <a:gd name="T1" fmla="*/ 0 h 87"/>
                <a:gd name="T2" fmla="*/ 50 w 68"/>
                <a:gd name="T3" fmla="*/ 87 h 87"/>
                <a:gd name="T4" fmla="*/ 68 w 68"/>
                <a:gd name="T5" fmla="*/ 30 h 87"/>
                <a:gd name="T6" fmla="*/ 64 w 68"/>
                <a:gd name="T7" fmla="*/ 0 h 87"/>
                <a:gd name="T8" fmla="*/ 0 w 68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7">
                  <a:moveTo>
                    <a:pt x="0" y="0"/>
                  </a:moveTo>
                  <a:cubicBezTo>
                    <a:pt x="50" y="87"/>
                    <a:pt x="50" y="87"/>
                    <a:pt x="50" y="87"/>
                  </a:cubicBezTo>
                  <a:cubicBezTo>
                    <a:pt x="62" y="71"/>
                    <a:pt x="68" y="51"/>
                    <a:pt x="68" y="30"/>
                  </a:cubicBezTo>
                  <a:cubicBezTo>
                    <a:pt x="68" y="20"/>
                    <a:pt x="67" y="9"/>
                    <a:pt x="6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8"/>
            <p:cNvSpPr/>
            <p:nvPr/>
          </p:nvSpPr>
          <p:spPr bwMode="auto">
            <a:xfrm>
              <a:off x="4478337" y="2459038"/>
              <a:ext cx="312736" cy="331787"/>
            </a:xfrm>
            <a:custGeom>
              <a:avLst/>
              <a:gdLst>
                <a:gd name="T0" fmla="*/ 50 w 82"/>
                <a:gd name="T1" fmla="*/ 0 h 87"/>
                <a:gd name="T2" fmla="*/ 0 w 82"/>
                <a:gd name="T3" fmla="*/ 87 h 87"/>
                <a:gd name="T4" fmla="*/ 9 w 82"/>
                <a:gd name="T5" fmla="*/ 87 h 87"/>
                <a:gd name="T6" fmla="*/ 82 w 82"/>
                <a:gd name="T7" fmla="*/ 55 h 87"/>
                <a:gd name="T8" fmla="*/ 50 w 82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87">
                  <a:moveTo>
                    <a:pt x="5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3" y="87"/>
                    <a:pt x="6" y="87"/>
                    <a:pt x="9" y="87"/>
                  </a:cubicBezTo>
                  <a:cubicBezTo>
                    <a:pt x="38" y="87"/>
                    <a:pt x="64" y="75"/>
                    <a:pt x="82" y="55"/>
                  </a:cubicBez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endPara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0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欧式箱变</a:t>
            </a: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----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预装式变电站（执行标准</a:t>
            </a: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GB/T17467 </a:t>
            </a:r>
            <a:r>
              <a:rPr lang="zh-CN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87" name="文本框 5"/>
          <p:cNvSpPr txBox="1">
            <a:spLocks noChangeArrowheads="1"/>
          </p:cNvSpPr>
          <p:nvPr/>
        </p:nvSpPr>
        <p:spPr bwMode="auto">
          <a:xfrm>
            <a:off x="4139952" y="2140496"/>
            <a:ext cx="4392488" cy="10310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R="234950">
              <a:lnSpc>
                <a:spcPts val="2500"/>
              </a:lnSpc>
              <a:spcBef>
                <a:spcPts val="0"/>
              </a:spcBef>
            </a:pPr>
            <a:r>
              <a:rPr lang="zh-CN" altLang="en-US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缺点</a:t>
            </a:r>
            <a:r>
              <a:rPr lang="en-US" altLang="zh-CN" b="1" spc="10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endParaRPr lang="en-US" altLang="zh-CN" b="1" spc="10" dirty="0" smtClean="0">
              <a:solidFill>
                <a:srgbClr val="FF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234950">
              <a:lnSpc>
                <a:spcPts val="2500"/>
              </a:lnSpc>
              <a:spcBef>
                <a:spcPts val="0"/>
              </a:spcBef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辐射面积较美式箱变要低，体积较大，不利于安装，对小区的环境布置有一定影响。</a:t>
            </a:r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95536" y="916360"/>
            <a:ext cx="3384376" cy="2664296"/>
            <a:chOff x="5364088" y="987574"/>
            <a:chExt cx="3240360" cy="2448272"/>
          </a:xfrm>
        </p:grpSpPr>
        <p:sp>
          <p:nvSpPr>
            <p:cNvPr id="23" name="矩形 22"/>
            <p:cNvSpPr/>
            <p:nvPr/>
          </p:nvSpPr>
          <p:spPr>
            <a:xfrm>
              <a:off x="5364088" y="3363838"/>
              <a:ext cx="3240000" cy="72008"/>
            </a:xfrm>
            <a:prstGeom prst="rect">
              <a:avLst/>
            </a:prstGeom>
            <a:solidFill>
              <a:srgbClr val="DA8200"/>
            </a:solidFill>
            <a:ln w="6350">
              <a:solidFill>
                <a:srgbClr val="01458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364088" y="987574"/>
              <a:ext cx="3240360" cy="2448272"/>
            </a:xfrm>
            <a:prstGeom prst="rect">
              <a:avLst/>
            </a:prstGeom>
            <a:noFill/>
            <a:ln w="6350">
              <a:solidFill>
                <a:srgbClr val="DA8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1" name="图片 4"/>
            <p:cNvPicPr>
              <a:picLocks noChangeAspect="1" noChangeArrowheads="1"/>
            </p:cNvPicPr>
            <p:nvPr/>
          </p:nvPicPr>
          <p:blipFill>
            <a:blip r:embed="rId1" cstate="print"/>
            <a:srcRect l="10496" t="12782" r="13466" b="47644"/>
            <a:stretch>
              <a:fillRect/>
            </a:stretch>
          </p:blipFill>
          <p:spPr bwMode="auto">
            <a:xfrm>
              <a:off x="5436096" y="1131590"/>
              <a:ext cx="3129855" cy="2304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" name="矩形 2"/>
          <p:cNvSpPr>
            <a:spLocks noChangeArrowheads="1"/>
          </p:cNvSpPr>
          <p:nvPr/>
        </p:nvSpPr>
        <p:spPr bwMode="auto">
          <a:xfrm>
            <a:off x="1118447" y="4032729"/>
            <a:ext cx="1936749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200" b="1" dirty="0" smtClean="0">
                <a:solidFill>
                  <a:srgbClr val="002060"/>
                </a:solidFill>
              </a:rPr>
              <a:t>预装式变电站（欧式箱</a:t>
            </a:r>
            <a:r>
              <a:rPr lang="zh-CN" altLang="en-US" sz="1200" b="1" dirty="0">
                <a:solidFill>
                  <a:srgbClr val="002060"/>
                </a:solidFill>
              </a:rPr>
              <a:t>变</a:t>
            </a:r>
            <a:r>
              <a:rPr lang="en-US" altLang="zh-CN" sz="1200" b="1" dirty="0">
                <a:solidFill>
                  <a:srgbClr val="002060"/>
                </a:solidFill>
              </a:rPr>
              <a:t>)</a:t>
            </a:r>
            <a:endParaRPr lang="zh-CN" altLang="en-US" sz="1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圆角矩形 51"/>
          <p:cNvSpPr/>
          <p:nvPr/>
        </p:nvSpPr>
        <p:spPr bwMode="auto">
          <a:xfrm>
            <a:off x="1259632" y="1636440"/>
            <a:ext cx="6984776" cy="3168352"/>
          </a:xfrm>
          <a:prstGeom prst="roundRect">
            <a:avLst/>
          </a:prstGeom>
          <a:gradFill rotWithShape="1">
            <a:gsLst>
              <a:gs pos="0">
                <a:srgbClr val="0F6FC6"/>
              </a:gs>
              <a:gs pos="100000">
                <a:srgbClr val="009DD9">
                  <a:alpha val="89998"/>
                </a:srgbClr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468" name="文本框 5"/>
          <p:cNvSpPr txBox="1">
            <a:spLocks noChangeArrowheads="1"/>
          </p:cNvSpPr>
          <p:nvPr/>
        </p:nvSpPr>
        <p:spPr bwMode="auto">
          <a:xfrm>
            <a:off x="179512" y="700336"/>
            <a:ext cx="4320480" cy="6078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箱变结构分为三个部分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                   高压室、 低压室、变压器室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0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2" name="矩形 2"/>
          <p:cNvSpPr>
            <a:spLocks noChangeArrowheads="1"/>
          </p:cNvSpPr>
          <p:nvPr/>
        </p:nvSpPr>
        <p:spPr bwMode="auto">
          <a:xfrm>
            <a:off x="0" y="2428528"/>
            <a:ext cx="112082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002060"/>
                </a:solidFill>
              </a:rPr>
              <a:t>35kV</a:t>
            </a:r>
            <a:r>
              <a:rPr lang="zh-CN" altLang="en-US" sz="1200" b="1" dirty="0" smtClean="0">
                <a:solidFill>
                  <a:srgbClr val="002060"/>
                </a:solidFill>
              </a:rPr>
              <a:t>或</a:t>
            </a:r>
            <a:r>
              <a:rPr lang="en-US" altLang="zh-CN" sz="1200" b="1" dirty="0" smtClean="0">
                <a:solidFill>
                  <a:srgbClr val="002060"/>
                </a:solidFill>
              </a:rPr>
              <a:t>10kV</a:t>
            </a:r>
            <a:endParaRPr lang="en-US" altLang="zh-CN" sz="1200" b="1" dirty="0" smtClean="0">
              <a:solidFill>
                <a:srgbClr val="002060"/>
              </a:solidFill>
            </a:endParaRPr>
          </a:p>
          <a:p>
            <a:pPr algn="ctr"/>
            <a:r>
              <a:rPr lang="zh-CN" altLang="en-US" sz="1200" b="1" dirty="0" smtClean="0">
                <a:solidFill>
                  <a:srgbClr val="002060"/>
                </a:solidFill>
              </a:rPr>
              <a:t>进线</a:t>
            </a:r>
            <a:endParaRPr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79712" y="134840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高压室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547664" y="1852464"/>
            <a:ext cx="1800200" cy="2844000"/>
            <a:chOff x="2123728" y="1636440"/>
            <a:chExt cx="2016224" cy="2880320"/>
          </a:xfrm>
        </p:grpSpPr>
        <p:sp>
          <p:nvSpPr>
            <p:cNvPr id="33" name="圆角矩形 32"/>
            <p:cNvSpPr/>
            <p:nvPr/>
          </p:nvSpPr>
          <p:spPr bwMode="auto">
            <a:xfrm>
              <a:off x="2123728" y="1636440"/>
              <a:ext cx="1872208" cy="288032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195736" y="1924472"/>
              <a:ext cx="1944216" cy="1673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高压进线柜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高压出线柜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高压环网柜（可选）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高压计量柜（可选）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355976" y="13484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变压器室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995936" y="1852464"/>
            <a:ext cx="1807915" cy="2844000"/>
            <a:chOff x="2043079" y="1636440"/>
            <a:chExt cx="2024865" cy="2880320"/>
          </a:xfrm>
        </p:grpSpPr>
        <p:sp>
          <p:nvSpPr>
            <p:cNvPr id="40" name="圆角矩形 39"/>
            <p:cNvSpPr/>
            <p:nvPr/>
          </p:nvSpPr>
          <p:spPr bwMode="auto">
            <a:xfrm>
              <a:off x="2123728" y="1636440"/>
              <a:ext cx="1872208" cy="288032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43079" y="1917447"/>
              <a:ext cx="2024865" cy="89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油浸式配电变压器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干式配电变压器</a:t>
              </a:r>
              <a:endParaRPr lang="zh-CN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876256" y="134840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</a:rPr>
              <a:t>低压室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516216" y="1852464"/>
            <a:ext cx="1728192" cy="2831745"/>
            <a:chOff x="2123728" y="1636440"/>
            <a:chExt cx="2016224" cy="2942400"/>
          </a:xfrm>
        </p:grpSpPr>
        <p:sp>
          <p:nvSpPr>
            <p:cNvPr id="44" name="圆角矩形 43"/>
            <p:cNvSpPr/>
            <p:nvPr/>
          </p:nvSpPr>
          <p:spPr bwMode="auto">
            <a:xfrm>
              <a:off x="2123728" y="1636440"/>
              <a:ext cx="1872208" cy="288032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95736" y="1924472"/>
              <a:ext cx="1944216" cy="2654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低压铜母排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低压进线柜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低压出线柜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000000"/>
                  </a:solidFill>
                </a:rPr>
                <a:t>低压补偿柜</a:t>
              </a:r>
              <a:endParaRPr lang="en-US" altLang="zh-CN" dirty="0" smtClean="0">
                <a:solidFill>
                  <a:srgbClr val="00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en-US" altLang="zh-CN" dirty="0" smtClean="0">
                  <a:solidFill>
                    <a:srgbClr val="FF0000"/>
                  </a:solidFill>
                </a:rPr>
                <a:t>PCS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储能变流器</a:t>
              </a:r>
              <a:endParaRPr lang="en-US" altLang="zh-CN" dirty="0" smtClean="0">
                <a:solidFill>
                  <a:srgbClr val="FF0000"/>
                </a:solidFill>
              </a:endParaRPr>
            </a:p>
            <a:p>
              <a:pPr>
                <a:lnSpc>
                  <a:spcPts val="3200"/>
                </a:lnSpc>
                <a:buFont typeface="Wingdings" panose="05000000000000000000" pitchFamily="2" charset="2"/>
                <a:buChar char="l"/>
              </a:pPr>
              <a:r>
                <a:rPr lang="zh-CN" altLang="en-US" dirty="0" smtClean="0">
                  <a:solidFill>
                    <a:srgbClr val="FF0000"/>
                  </a:solidFill>
                </a:rPr>
                <a:t>通讯柜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6" name="右箭头 45"/>
          <p:cNvSpPr/>
          <p:nvPr/>
        </p:nvSpPr>
        <p:spPr bwMode="auto">
          <a:xfrm>
            <a:off x="288032" y="3004592"/>
            <a:ext cx="792088" cy="288032"/>
          </a:xfrm>
          <a:prstGeom prst="rightArrow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右箭头 47"/>
          <p:cNvSpPr/>
          <p:nvPr/>
        </p:nvSpPr>
        <p:spPr bwMode="auto">
          <a:xfrm>
            <a:off x="3347864" y="3076600"/>
            <a:ext cx="576064" cy="288032"/>
          </a:xfrm>
          <a:prstGeom prst="rightArrow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右箭头 48"/>
          <p:cNvSpPr/>
          <p:nvPr/>
        </p:nvSpPr>
        <p:spPr bwMode="auto">
          <a:xfrm>
            <a:off x="5940152" y="3076600"/>
            <a:ext cx="576064" cy="288032"/>
          </a:xfrm>
          <a:prstGeom prst="rightArrow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2"/>
          <p:cNvSpPr>
            <a:spLocks noChangeArrowheads="1"/>
          </p:cNvSpPr>
          <p:nvPr/>
        </p:nvSpPr>
        <p:spPr bwMode="auto">
          <a:xfrm>
            <a:off x="8224181" y="2716560"/>
            <a:ext cx="800219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002060"/>
                </a:solidFill>
              </a:rPr>
              <a:t>用户供电</a:t>
            </a:r>
            <a:endParaRPr lang="zh-CN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" name="右箭头 50"/>
          <p:cNvSpPr/>
          <p:nvPr/>
        </p:nvSpPr>
        <p:spPr bwMode="auto">
          <a:xfrm>
            <a:off x="8351912" y="3076600"/>
            <a:ext cx="792088" cy="288032"/>
          </a:xfrm>
          <a:prstGeom prst="rightArrow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"/>
          <p:cNvSpPr>
            <a:spLocks noChangeArrowheads="1"/>
          </p:cNvSpPr>
          <p:nvPr/>
        </p:nvSpPr>
        <p:spPr bwMode="auto">
          <a:xfrm>
            <a:off x="8321353" y="3512677"/>
            <a:ext cx="646331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002060"/>
                </a:solidFill>
              </a:rPr>
              <a:t>电池仓</a:t>
            </a:r>
            <a:endParaRPr lang="zh-CN" altLang="en-US" sz="1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3648" y="1708448"/>
            <a:ext cx="2565400" cy="131723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808000"/>
              </a:highlight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3648" y="1708448"/>
            <a:ext cx="2565400" cy="1317238"/>
          </a:xfrm>
          <a:custGeom>
            <a:avLst/>
            <a:gdLst/>
            <a:ahLst/>
            <a:cxnLst/>
            <a:rect l="l" t="t" r="r" b="b"/>
            <a:pathLst>
              <a:path w="2565400" h="1755775">
                <a:moveTo>
                  <a:pt x="0" y="0"/>
                </a:moveTo>
                <a:lnTo>
                  <a:pt x="2565400" y="0"/>
                </a:lnTo>
                <a:lnTo>
                  <a:pt x="2565400" y="1755775"/>
                </a:lnTo>
                <a:lnTo>
                  <a:pt x="0" y="175577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2396229" y="1987378"/>
            <a:ext cx="496570" cy="758900"/>
          </a:xfrm>
          <a:custGeom>
            <a:avLst/>
            <a:gdLst/>
            <a:ahLst/>
            <a:cxnLst/>
            <a:rect l="l" t="t" r="r" b="b"/>
            <a:pathLst>
              <a:path w="496570" h="1011554">
                <a:moveTo>
                  <a:pt x="0" y="0"/>
                </a:moveTo>
                <a:lnTo>
                  <a:pt x="496290" y="0"/>
                </a:lnTo>
                <a:lnTo>
                  <a:pt x="496290" y="1011008"/>
                </a:lnTo>
                <a:lnTo>
                  <a:pt x="0" y="1011008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396229" y="1987378"/>
            <a:ext cx="496570" cy="758900"/>
          </a:xfrm>
          <a:custGeom>
            <a:avLst/>
            <a:gdLst/>
            <a:ahLst/>
            <a:cxnLst/>
            <a:rect l="l" t="t" r="r" b="b"/>
            <a:pathLst>
              <a:path w="496570" h="1011554">
                <a:moveTo>
                  <a:pt x="0" y="0"/>
                </a:moveTo>
                <a:lnTo>
                  <a:pt x="496290" y="0"/>
                </a:lnTo>
                <a:lnTo>
                  <a:pt x="496290" y="1011008"/>
                </a:lnTo>
                <a:lnTo>
                  <a:pt x="0" y="101100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265658" y="1867716"/>
            <a:ext cx="496570" cy="1037593"/>
          </a:xfrm>
          <a:custGeom>
            <a:avLst/>
            <a:gdLst/>
            <a:ahLst/>
            <a:cxnLst/>
            <a:rect l="l" t="t" r="r" b="b"/>
            <a:pathLst>
              <a:path w="496570" h="1383029">
                <a:moveTo>
                  <a:pt x="0" y="0"/>
                </a:moveTo>
                <a:lnTo>
                  <a:pt x="496290" y="0"/>
                </a:lnTo>
                <a:lnTo>
                  <a:pt x="496290" y="1382801"/>
                </a:lnTo>
                <a:lnTo>
                  <a:pt x="0" y="1382801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265658" y="1867716"/>
            <a:ext cx="496570" cy="1037593"/>
          </a:xfrm>
          <a:custGeom>
            <a:avLst/>
            <a:gdLst/>
            <a:ahLst/>
            <a:cxnLst/>
            <a:rect l="l" t="t" r="r" b="b"/>
            <a:pathLst>
              <a:path w="496570" h="1383029">
                <a:moveTo>
                  <a:pt x="0" y="0"/>
                </a:moveTo>
                <a:lnTo>
                  <a:pt x="496290" y="0"/>
                </a:lnTo>
                <a:lnTo>
                  <a:pt x="496290" y="1382801"/>
                </a:lnTo>
                <a:lnTo>
                  <a:pt x="0" y="138280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182640" y="1708448"/>
            <a:ext cx="0" cy="1316761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46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2107034" y="1708448"/>
            <a:ext cx="0" cy="1316761"/>
          </a:xfrm>
          <a:custGeom>
            <a:avLst/>
            <a:gdLst/>
            <a:ahLst/>
            <a:cxnLst/>
            <a:rect l="l" t="t" r="r" b="b"/>
            <a:pathLst>
              <a:path h="1755139">
                <a:moveTo>
                  <a:pt x="0" y="0"/>
                </a:moveTo>
                <a:lnTo>
                  <a:pt x="0" y="17546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527726" y="1828118"/>
            <a:ext cx="496570" cy="1037593"/>
          </a:xfrm>
          <a:custGeom>
            <a:avLst/>
            <a:gdLst/>
            <a:ahLst/>
            <a:cxnLst/>
            <a:rect l="l" t="t" r="r" b="b"/>
            <a:pathLst>
              <a:path w="496570" h="1383029">
                <a:moveTo>
                  <a:pt x="0" y="0"/>
                </a:moveTo>
                <a:lnTo>
                  <a:pt x="496290" y="0"/>
                </a:lnTo>
                <a:lnTo>
                  <a:pt x="496290" y="1382801"/>
                </a:lnTo>
                <a:lnTo>
                  <a:pt x="0" y="1382801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527726" y="1828118"/>
            <a:ext cx="496570" cy="1037593"/>
          </a:xfrm>
          <a:custGeom>
            <a:avLst/>
            <a:gdLst/>
            <a:ahLst/>
            <a:cxnLst/>
            <a:rect l="l" t="t" r="r" b="b"/>
            <a:pathLst>
              <a:path w="496570" h="1383029">
                <a:moveTo>
                  <a:pt x="0" y="0"/>
                </a:moveTo>
                <a:lnTo>
                  <a:pt x="496290" y="0"/>
                </a:lnTo>
                <a:lnTo>
                  <a:pt x="496290" y="1382801"/>
                </a:lnTo>
                <a:lnTo>
                  <a:pt x="0" y="138280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2892529" y="2226719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>
                <a:moveTo>
                  <a:pt x="0" y="0"/>
                </a:moveTo>
                <a:lnTo>
                  <a:pt x="41418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2892529" y="2306791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>
                <a:moveTo>
                  <a:pt x="0" y="0"/>
                </a:moveTo>
                <a:lnTo>
                  <a:pt x="41418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2892529" y="2386864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>
                <a:moveTo>
                  <a:pt x="0" y="0"/>
                </a:moveTo>
                <a:lnTo>
                  <a:pt x="41418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2024012" y="2067454"/>
            <a:ext cx="372745" cy="200087"/>
          </a:xfrm>
          <a:custGeom>
            <a:avLst/>
            <a:gdLst/>
            <a:ahLst/>
            <a:cxnLst/>
            <a:rect l="l" t="t" r="r" b="b"/>
            <a:pathLst>
              <a:path w="372745" h="266700">
                <a:moveTo>
                  <a:pt x="372224" y="0"/>
                </a:moveTo>
                <a:lnTo>
                  <a:pt x="0" y="26624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2024012" y="2306791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372224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2024012" y="2386861"/>
            <a:ext cx="372745" cy="159593"/>
          </a:xfrm>
          <a:custGeom>
            <a:avLst/>
            <a:gdLst/>
            <a:ahLst/>
            <a:cxnLst/>
            <a:rect l="l" t="t" r="r" b="b"/>
            <a:pathLst>
              <a:path w="372745" h="212725">
                <a:moveTo>
                  <a:pt x="372224" y="212293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892529" y="2147527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>
                <a:moveTo>
                  <a:pt x="0" y="0"/>
                </a:moveTo>
                <a:lnTo>
                  <a:pt x="41418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5076056" y="1780456"/>
            <a:ext cx="3051175" cy="104688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5076056" y="1780456"/>
            <a:ext cx="3051175" cy="1047121"/>
          </a:xfrm>
          <a:custGeom>
            <a:avLst/>
            <a:gdLst/>
            <a:ahLst/>
            <a:cxnLst/>
            <a:rect l="l" t="t" r="r" b="b"/>
            <a:pathLst>
              <a:path w="3051175" h="1395729">
                <a:moveTo>
                  <a:pt x="0" y="0"/>
                </a:moveTo>
                <a:lnTo>
                  <a:pt x="3051175" y="0"/>
                </a:lnTo>
                <a:lnTo>
                  <a:pt x="3051175" y="1395412"/>
                </a:lnTo>
                <a:lnTo>
                  <a:pt x="0" y="1395412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5371190" y="1985354"/>
            <a:ext cx="590550" cy="603119"/>
          </a:xfrm>
          <a:custGeom>
            <a:avLst/>
            <a:gdLst/>
            <a:ahLst/>
            <a:cxnLst/>
            <a:rect l="l" t="t" r="r" b="b"/>
            <a:pathLst>
              <a:path w="590550" h="803910">
                <a:moveTo>
                  <a:pt x="0" y="0"/>
                </a:moveTo>
                <a:lnTo>
                  <a:pt x="590270" y="0"/>
                </a:lnTo>
                <a:lnTo>
                  <a:pt x="590270" y="803503"/>
                </a:lnTo>
                <a:lnTo>
                  <a:pt x="0" y="803503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5371190" y="1985354"/>
            <a:ext cx="590550" cy="603119"/>
          </a:xfrm>
          <a:custGeom>
            <a:avLst/>
            <a:gdLst/>
            <a:ahLst/>
            <a:cxnLst/>
            <a:rect l="l" t="t" r="r" b="b"/>
            <a:pathLst>
              <a:path w="590550" h="803910">
                <a:moveTo>
                  <a:pt x="0" y="0"/>
                </a:moveTo>
                <a:lnTo>
                  <a:pt x="590270" y="0"/>
                </a:lnTo>
                <a:lnTo>
                  <a:pt x="590270" y="803503"/>
                </a:lnTo>
                <a:lnTo>
                  <a:pt x="0" y="80350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6503447" y="1843045"/>
            <a:ext cx="1279525" cy="380641"/>
          </a:xfrm>
          <a:custGeom>
            <a:avLst/>
            <a:gdLst/>
            <a:ahLst/>
            <a:cxnLst/>
            <a:rect l="l" t="t" r="r" b="b"/>
            <a:pathLst>
              <a:path w="1279525" h="507364">
                <a:moveTo>
                  <a:pt x="0" y="0"/>
                </a:moveTo>
                <a:lnTo>
                  <a:pt x="1279283" y="0"/>
                </a:lnTo>
                <a:lnTo>
                  <a:pt x="1279283" y="507085"/>
                </a:lnTo>
                <a:lnTo>
                  <a:pt x="0" y="507085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6503447" y="1843045"/>
            <a:ext cx="1279525" cy="380641"/>
          </a:xfrm>
          <a:custGeom>
            <a:avLst/>
            <a:gdLst/>
            <a:ahLst/>
            <a:cxnLst/>
            <a:rect l="l" t="t" r="r" b="b"/>
            <a:pathLst>
              <a:path w="1279525" h="507364">
                <a:moveTo>
                  <a:pt x="0" y="0"/>
                </a:moveTo>
                <a:lnTo>
                  <a:pt x="1279283" y="0"/>
                </a:lnTo>
                <a:lnTo>
                  <a:pt x="1279283" y="507085"/>
                </a:lnTo>
                <a:lnTo>
                  <a:pt x="0" y="50708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6503447" y="2350751"/>
            <a:ext cx="1279525" cy="380641"/>
          </a:xfrm>
          <a:custGeom>
            <a:avLst/>
            <a:gdLst/>
            <a:ahLst/>
            <a:cxnLst/>
            <a:rect l="l" t="t" r="r" b="b"/>
            <a:pathLst>
              <a:path w="1279525" h="507364">
                <a:moveTo>
                  <a:pt x="0" y="0"/>
                </a:moveTo>
                <a:lnTo>
                  <a:pt x="1279283" y="0"/>
                </a:lnTo>
                <a:lnTo>
                  <a:pt x="1279283" y="507085"/>
                </a:lnTo>
                <a:lnTo>
                  <a:pt x="0" y="507085"/>
                </a:lnTo>
                <a:lnTo>
                  <a:pt x="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6503447" y="2350751"/>
            <a:ext cx="1279525" cy="380641"/>
          </a:xfrm>
          <a:custGeom>
            <a:avLst/>
            <a:gdLst/>
            <a:ahLst/>
            <a:cxnLst/>
            <a:rect l="l" t="t" r="r" b="b"/>
            <a:pathLst>
              <a:path w="1279525" h="507364">
                <a:moveTo>
                  <a:pt x="0" y="0"/>
                </a:moveTo>
                <a:lnTo>
                  <a:pt x="1279283" y="0"/>
                </a:lnTo>
                <a:lnTo>
                  <a:pt x="1279283" y="507085"/>
                </a:lnTo>
                <a:lnTo>
                  <a:pt x="0" y="50708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/>
          <p:nvPr/>
        </p:nvSpPr>
        <p:spPr>
          <a:xfrm>
            <a:off x="6256594" y="1780456"/>
            <a:ext cx="0" cy="1046644"/>
          </a:xfrm>
          <a:custGeom>
            <a:avLst/>
            <a:gdLst/>
            <a:ahLst/>
            <a:cxnLst/>
            <a:rect l="l" t="t" r="r" b="b"/>
            <a:pathLst>
              <a:path h="1395095">
                <a:moveTo>
                  <a:pt x="0" y="0"/>
                </a:moveTo>
                <a:lnTo>
                  <a:pt x="0" y="139448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6256594" y="2287463"/>
            <a:ext cx="1870710" cy="0"/>
          </a:xfrm>
          <a:custGeom>
            <a:avLst/>
            <a:gdLst/>
            <a:ahLst/>
            <a:cxnLst/>
            <a:rect l="l" t="t" r="r" b="b"/>
            <a:pathLst>
              <a:path w="1870709">
                <a:moveTo>
                  <a:pt x="0" y="0"/>
                </a:moveTo>
                <a:lnTo>
                  <a:pt x="187063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 txBox="1"/>
          <p:nvPr/>
        </p:nvSpPr>
        <p:spPr>
          <a:xfrm>
            <a:off x="1403648" y="3508648"/>
            <a:ext cx="1818005" cy="1143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0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“目”字型布置</a:t>
            </a:r>
            <a:endParaRPr sz="2000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solidFill>
                  <a:srgbClr val="1A0A94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800" dirty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0" dirty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u="sng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联接方便</a:t>
            </a:r>
            <a:endParaRPr sz="1800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10" dirty="0">
                <a:solidFill>
                  <a:srgbClr val="1A0A94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800" b="1" u="sng" spc="-10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sz="1800" b="1" u="sng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易于维护</a:t>
            </a:r>
            <a:endParaRPr sz="1800" dirty="0"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08104" y="3508648"/>
            <a:ext cx="2376264" cy="1213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0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sz="2000" b="1" spc="0" dirty="0" err="1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品”</a:t>
            </a:r>
            <a:r>
              <a:rPr sz="2000" b="1" spc="0" dirty="0" err="1" smtClean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字型</a:t>
            </a:r>
            <a:r>
              <a:rPr lang="zh-CN" altLang="en-US" sz="2000" b="1" spc="0" dirty="0" smtClean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布置</a:t>
            </a:r>
            <a:endParaRPr sz="2000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dirty="0">
                <a:solidFill>
                  <a:srgbClr val="1A0A94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000" dirty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5" dirty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u="sng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有效利用空间</a:t>
            </a:r>
            <a:endParaRPr sz="1800" dirty="0">
              <a:latin typeface="黑体" panose="02010609060101010101" pitchFamily="49" charset="-122"/>
              <a:cs typeface="黑体" panose="02010609060101010101" pitchFamily="49" charset="-122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 smtClean="0">
                <a:solidFill>
                  <a:srgbClr val="1A0A94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800" dirty="0" smtClean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0" dirty="0" smtClean="0">
                <a:solidFill>
                  <a:srgbClr val="1A0A9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u="sng" dirty="0">
                <a:solidFill>
                  <a:srgbClr val="1A0A94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小容量</a:t>
            </a:r>
            <a:endParaRPr sz="1800" dirty="0"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179512" y="700336"/>
            <a:ext cx="4320480" cy="6078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箱变常见结构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          “目字”型布置              “品字”型布置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51" y="1564432"/>
            <a:ext cx="3986521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576263"/>
            <a:ext cx="4382825" cy="272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文本框 5"/>
          <p:cNvSpPr txBox="1">
            <a:spLocks noChangeArrowheads="1"/>
          </p:cNvSpPr>
          <p:nvPr/>
        </p:nvSpPr>
        <p:spPr bwMode="auto">
          <a:xfrm>
            <a:off x="467544" y="772344"/>
            <a:ext cx="7344816" cy="4735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3700"/>
              </a:lnSpc>
            </a:pPr>
            <a:r>
              <a:rPr lang="zh-CN" altLang="en-US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集装箱式新能源箱变</a:t>
            </a:r>
            <a:r>
              <a:rPr lang="en-US" altLang="zh-CN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---</a:t>
            </a:r>
            <a:r>
              <a:rPr lang="zh-CN" altLang="en-US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内置干式变压器</a:t>
            </a:r>
            <a:endParaRPr lang="en-US" altLang="zh-CN" sz="1600" b="1" spc="10" dirty="0" smtClean="0">
              <a:solidFill>
                <a:srgbClr val="0000FF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5" name="文本框 5"/>
          <p:cNvSpPr txBox="1">
            <a:spLocks noChangeArrowheads="1"/>
          </p:cNvSpPr>
          <p:nvPr/>
        </p:nvSpPr>
        <p:spPr bwMode="auto">
          <a:xfrm>
            <a:off x="467544" y="772344"/>
            <a:ext cx="7344816" cy="5437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3700"/>
              </a:lnSpc>
            </a:pPr>
            <a:r>
              <a:rPr lang="zh-CN" altLang="en-US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集装箱式新能源箱变</a:t>
            </a:r>
            <a:r>
              <a:rPr lang="en-US" altLang="zh-CN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---</a:t>
            </a:r>
            <a:r>
              <a:rPr lang="zh-CN" altLang="en-US" sz="1600" b="1" spc="10" dirty="0" smtClean="0">
                <a:solidFill>
                  <a:srgbClr val="0000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内置油浸组合式变压器</a:t>
            </a:r>
            <a:endParaRPr lang="en-US" altLang="zh-CN" sz="1600" b="1" spc="10" dirty="0" smtClean="0">
              <a:solidFill>
                <a:srgbClr val="0000FF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36440"/>
            <a:ext cx="4611997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872369"/>
            <a:ext cx="3851920" cy="25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3" name="Picture 2" descr="E:\公司文件\PPT资料\美变内部引线1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53322" y="428072"/>
            <a:ext cx="1913321" cy="255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" descr="E:\公司文件\PPT资料\美变内部引线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472101" y="393868"/>
            <a:ext cx="1944217" cy="259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E:\公司文件\PPT资料\分接引线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256607" y="2650414"/>
            <a:ext cx="1944217" cy="250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5" descr="E:\公司文件\PPT资料\分接引线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472104" y="2608547"/>
            <a:ext cx="1944216" cy="259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1009302" y="1138628"/>
            <a:ext cx="484559" cy="3046988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0145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美变内部引线结构</a:t>
            </a:r>
            <a:endParaRPr lang="en-US" altLang="zh-CN" sz="1600" dirty="0" smtClean="0">
              <a:solidFill>
                <a:srgbClr val="0145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611560" y="772344"/>
            <a:ext cx="4320480" cy="5829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美式箱变典型方案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en-US" altLang="zh-CN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                                   </a:t>
            </a:r>
            <a:r>
              <a:rPr lang="zh-CN" altLang="en-US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环网型</a:t>
            </a:r>
            <a:endParaRPr lang="en-US" altLang="zh-CN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357379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3608" y="1348408"/>
            <a:ext cx="7488832" cy="3427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611560" y="772344"/>
            <a:ext cx="4320480" cy="313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欧式箱变典型方案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35840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3568" y="1132384"/>
            <a:ext cx="7544569" cy="3678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611560" y="772344"/>
            <a:ext cx="4320480" cy="5829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美式箱变典型方案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en-US" altLang="zh-CN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                                   </a:t>
            </a:r>
            <a:r>
              <a:rPr lang="zh-CN" altLang="en-US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环网型</a:t>
            </a:r>
            <a:endParaRPr lang="en-US" altLang="zh-CN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3594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3568" y="1348408"/>
            <a:ext cx="2961506" cy="3506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94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348408"/>
            <a:ext cx="2931734" cy="3580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>
            <a:spLocks noChangeArrowheads="1"/>
          </p:cNvSpPr>
          <p:nvPr/>
        </p:nvSpPr>
        <p:spPr bwMode="auto">
          <a:xfrm>
            <a:off x="4572000" y="772344"/>
            <a:ext cx="4320480" cy="6078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美式箱变典型方案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en-US" altLang="zh-CN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                                  </a:t>
            </a:r>
            <a:r>
              <a:rPr lang="en-US" altLang="zh-CN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lang="zh-CN" altLang="en-US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终端型</a:t>
            </a:r>
            <a:endParaRPr lang="en-US" altLang="zh-CN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文本框 5"/>
          <p:cNvSpPr txBox="1">
            <a:spLocks noChangeArrowheads="1"/>
          </p:cNvSpPr>
          <p:nvPr/>
        </p:nvSpPr>
        <p:spPr bwMode="auto">
          <a:xfrm>
            <a:off x="3923928" y="2356520"/>
            <a:ext cx="1296144" cy="11464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 algn="ctr">
              <a:lnSpc>
                <a:spcPts val="2060"/>
              </a:lnSpc>
            </a:pPr>
            <a:r>
              <a:rPr lang="en-US" altLang="zh-CN" sz="3600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VS</a:t>
            </a:r>
            <a:endParaRPr lang="en-US" altLang="zh-CN" sz="3600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 algn="ctr">
              <a:lnSpc>
                <a:spcPts val="2060"/>
              </a:lnSpc>
            </a:pP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 algn="ctr">
              <a:lnSpc>
                <a:spcPts val="2060"/>
              </a:lnSpc>
            </a:pPr>
            <a:r>
              <a:rPr lang="zh-CN" altLang="en-US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负荷开关工作工位的差别</a:t>
            </a: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箱式变电站典型方案及结构布置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611560" y="772344"/>
            <a:ext cx="4320480" cy="313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美式箱变高压部分方案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3594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1520" y="1276400"/>
            <a:ext cx="2675727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>
            <a:spLocks noChangeArrowheads="1"/>
          </p:cNvSpPr>
          <p:nvPr/>
        </p:nvSpPr>
        <p:spPr bwMode="auto">
          <a:xfrm>
            <a:off x="5831632" y="844352"/>
            <a:ext cx="226876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latin typeface="Microsoft JhengHei" panose="020B0604030504040204" charset="-120"/>
                <a:cs typeface="Microsoft JhengHei" panose="020B0604030504040204" charset="-120"/>
              </a:rPr>
              <a:t>欧式箱变高压部分方案   </a:t>
            </a:r>
            <a:endParaRPr lang="en-US" altLang="zh-CN" b="1" spc="10" dirty="0" smtClean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8" name="文本框 5"/>
          <p:cNvSpPr txBox="1">
            <a:spLocks noChangeArrowheads="1"/>
          </p:cNvSpPr>
          <p:nvPr/>
        </p:nvSpPr>
        <p:spPr bwMode="auto">
          <a:xfrm>
            <a:off x="3131840" y="1132384"/>
            <a:ext cx="2952328" cy="33009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 algn="ctr">
              <a:lnSpc>
                <a:spcPts val="2060"/>
              </a:lnSpc>
            </a:pPr>
            <a:r>
              <a:rPr lang="en-US" altLang="zh-CN" sz="3600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VS</a:t>
            </a:r>
            <a:endParaRPr lang="en-US" altLang="zh-CN" sz="3600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 algn="ctr">
              <a:lnSpc>
                <a:spcPts val="2060"/>
              </a:lnSpc>
            </a:pPr>
            <a:endParaRPr lang="en-US" altLang="zh-CN" sz="3600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美式箱变高压部分</a:t>
            </a: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       负荷开关熔断器置于变压器油箱中，开断能力较低，与熔断器配合，保护配置简单。</a:t>
            </a: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欧式箱变高压部分</a:t>
            </a: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r>
              <a:rPr lang="zh-CN" altLang="en-US" b="1" spc="10" dirty="0" smtClean="0">
                <a:solidFill>
                  <a:srgbClr val="CC0000"/>
                </a:solidFill>
                <a:cs typeface="Microsoft JhengHei" panose="020B0604030504040204" charset="-120"/>
              </a:rPr>
              <a:t>       负荷开关，断路器、熔断器、互感器、综合保护组装成单独高压柜，置于变压外部，保护范围广、动作灵敏</a:t>
            </a:r>
            <a:endParaRPr lang="en-US" altLang="zh-CN" b="1" spc="10" dirty="0" smtClean="0">
              <a:solidFill>
                <a:srgbClr val="CC0000"/>
              </a:solidFill>
              <a:cs typeface="Microsoft JhengHei" panose="020B0604030504040204" charset="-120"/>
            </a:endParaRPr>
          </a:p>
        </p:txBody>
      </p:sp>
      <p:pic>
        <p:nvPicPr>
          <p:cNvPr id="360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6" y="1348408"/>
            <a:ext cx="242776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箱式变电站正常运行操作步骤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2" name="文本框 5"/>
          <p:cNvSpPr txBox="1">
            <a:spLocks noChangeArrowheads="1"/>
          </p:cNvSpPr>
          <p:nvPr/>
        </p:nvSpPr>
        <p:spPr bwMode="auto">
          <a:xfrm>
            <a:off x="611560" y="772344"/>
            <a:ext cx="3600400" cy="1531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sz="2000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操作前的准备</a:t>
            </a:r>
            <a:endParaRPr lang="en-US" altLang="zh-CN" sz="2000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        绝缘手套、</a:t>
            </a:r>
            <a:r>
              <a:rPr lang="en-US" altLang="zh-CN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35kV</a:t>
            </a: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验电器、负荷开关操作杆或操作手柄、令克棒、需装设的接地线、箱变钥匙、标识牌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文本框 5"/>
          <p:cNvSpPr txBox="1">
            <a:spLocks noChangeArrowheads="1"/>
          </p:cNvSpPr>
          <p:nvPr/>
        </p:nvSpPr>
        <p:spPr bwMode="auto">
          <a:xfrm>
            <a:off x="611560" y="2500536"/>
            <a:ext cx="4248472" cy="20697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sz="2000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停电顺序</a:t>
            </a:r>
            <a:endParaRPr lang="en-US" altLang="zh-CN" sz="2000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</a:pPr>
            <a:endParaRPr lang="en-US" altLang="zh-CN" sz="2000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206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 断开低压柜出线柜、进线柜的断路器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断开高压侧负何开关、断路器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合上接地刀开关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做好相关安全措施（装设接地线、悬挂标识牌等）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文本框 5"/>
          <p:cNvSpPr txBox="1">
            <a:spLocks noChangeArrowheads="1"/>
          </p:cNvSpPr>
          <p:nvPr/>
        </p:nvSpPr>
        <p:spPr bwMode="auto">
          <a:xfrm>
            <a:off x="5076056" y="700336"/>
            <a:ext cx="3600400" cy="27238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sz="2000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送电顺序</a:t>
            </a:r>
            <a:endParaRPr lang="zh-CN" altLang="en-US" sz="2000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确认工作票已收回，工作已完结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确认所装设接地线已拆除，标识已取下，工作人员撤离现场，具备送电条件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打开接地刀开关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合上高压侧断路器或负荷开关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100"/>
              </a:lnSpc>
              <a:buFont typeface="Wingdings" panose="05000000000000000000" pitchFamily="2" charset="2"/>
              <a:buChar char="Ø"/>
            </a:pPr>
            <a:r>
              <a:rPr lang="zh-CN" altLang="en-US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合上低压侧断路器</a:t>
            </a:r>
            <a:endParaRPr lang="en-US" altLang="zh-CN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箱式变电站正常运行操作步骤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" name="文本框 5"/>
          <p:cNvSpPr txBox="1">
            <a:spLocks noChangeArrowheads="1"/>
          </p:cNvSpPr>
          <p:nvPr/>
        </p:nvSpPr>
        <p:spPr bwMode="auto">
          <a:xfrm>
            <a:off x="1043608" y="844352"/>
            <a:ext cx="7344816" cy="36599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80" tIns="34290" rIns="68580" bIns="34290">
            <a:spAutoFit/>
          </a:bodyPr>
          <a:lstStyle/>
          <a:p>
            <a:pPr marL="12700" marR="5080">
              <a:lnSpc>
                <a:spcPts val="2060"/>
              </a:lnSpc>
            </a:pPr>
            <a:r>
              <a:rPr lang="zh-CN" altLang="en-US" sz="2000" b="1" spc="10" dirty="0" smtClean="0">
                <a:solidFill>
                  <a:srgbClr val="CC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注意事项</a:t>
            </a:r>
            <a:endParaRPr lang="zh-CN" altLang="en-US" sz="2000" b="1" spc="10" dirty="0" smtClean="0">
              <a:solidFill>
                <a:srgbClr val="CC0000"/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装设接地线时应戴绝缘手套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工作人员均应戴安全帽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装设接地线时应先接接地端，后接导体端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摇测绝缘电阻时需两人进行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在未对变压器充分放电前严禁触摸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严禁误合闸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ts val="3700"/>
              </a:lnSpc>
              <a:buFont typeface="Wingdings" panose="05000000000000000000" pitchFamily="2" charset="2"/>
              <a:buChar char="Ø"/>
            </a:pPr>
            <a:r>
              <a:rPr lang="zh-CN" altLang="en-US" sz="1600" b="1" spc="1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Microsoft JhengHei" panose="020B0604030504040204" charset="-120"/>
                <a:cs typeface="Microsoft JhengHei" panose="020B0604030504040204" charset="-120"/>
              </a:rPr>
              <a:t>若送电不成功必须彻底寻找故障原因，排除后方可送电，防止事故扩大</a:t>
            </a:r>
            <a:endParaRPr lang="en-US" altLang="zh-CN" sz="1600" b="1" spc="10" dirty="0" smtClean="0">
              <a:solidFill>
                <a:schemeClr val="tx2">
                  <a:lumMod val="60000"/>
                  <a:lumOff val="40000"/>
                </a:schemeClr>
              </a:solidFill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文本框 15"/>
          <p:cNvSpPr txBox="1"/>
          <p:nvPr/>
        </p:nvSpPr>
        <p:spPr>
          <a:xfrm>
            <a:off x="323528" y="124272"/>
            <a:ext cx="4536504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大型</a:t>
            </a: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变压器主要部件及报价</a:t>
            </a:r>
            <a:r>
              <a:rPr lang="zh-CN" altLang="en-US" sz="2000" b="1" dirty="0" smtClean="0">
                <a:solidFill>
                  <a:srgbClr val="0707B3"/>
                </a:solidFill>
                <a:latin typeface="+mj-ea"/>
                <a:ea typeface="+mj-ea"/>
                <a:sym typeface="Arial" panose="020B0604020202020204" pitchFamily="34" charset="0"/>
              </a:rPr>
              <a:t>注意要点</a:t>
            </a:r>
            <a:endParaRPr lang="zh-CN" altLang="en-US" sz="2000" b="1" dirty="0">
              <a:solidFill>
                <a:srgbClr val="0707B3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2537" name="灯片编号占位符 6"/>
          <p:cNvSpPr txBox="1">
            <a:spLocks noChangeArrowheads="1"/>
          </p:cNvSpPr>
          <p:nvPr/>
        </p:nvSpPr>
        <p:spPr bwMode="auto">
          <a:xfrm>
            <a:off x="6842125" y="4871160"/>
            <a:ext cx="2057400" cy="2739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r"/>
            <a:r>
              <a:rPr lang="en-US" altLang="zh-CN" sz="1400"/>
              <a:t>35-</a:t>
            </a:r>
            <a:fld id="{23BE2D9D-177F-4452-8212-076E8BF4519D}" type="slidenum">
              <a:rPr lang="zh-CN" altLang="en-US" sz="1400"/>
            </a:fld>
            <a:endParaRPr lang="zh-CN" altLang="en-US" sz="1400"/>
          </a:p>
        </p:txBody>
      </p:sp>
      <p:pic>
        <p:nvPicPr>
          <p:cNvPr id="10" name="Picture 12" descr="底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357622"/>
            <a:ext cx="9180000" cy="178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MH_Entry_1"/>
          <p:cNvSpPr>
            <a:spLocks noChangeArrowheads="1"/>
          </p:cNvSpPr>
          <p:nvPr/>
        </p:nvSpPr>
        <p:spPr bwMode="auto">
          <a:xfrm>
            <a:off x="1763688" y="1222089"/>
            <a:ext cx="2448272" cy="630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产品型号释义</a:t>
            </a:r>
            <a:endParaRPr lang="zh-CN" altLang="en-US" sz="2100" b="1" spc="300" noProof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MH_Entry_2"/>
          <p:cNvSpPr>
            <a:spLocks noChangeArrowheads="1"/>
          </p:cNvSpPr>
          <p:nvPr/>
        </p:nvSpPr>
        <p:spPr bwMode="auto">
          <a:xfrm>
            <a:off x="1763688" y="2302210"/>
            <a:ext cx="5184576" cy="630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270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100" b="1" spc="300" noProof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主要部件及价格影响因素</a:t>
            </a:r>
            <a:endParaRPr lang="en-US" altLang="zh-CN" sz="2100" b="1" spc="300" noProof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87624" y="754647"/>
            <a:ext cx="0" cy="288032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971600" y="1294097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71600" y="2374218"/>
            <a:ext cx="432048" cy="432048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893" y="786705"/>
            <a:ext cx="4955203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变压器型号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（执行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标准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J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B/T3837 </a:t>
            </a: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5" name="组合 28"/>
          <p:cNvGrpSpPr/>
          <p:nvPr/>
        </p:nvGrpSpPr>
        <p:grpSpPr>
          <a:xfrm flipV="1">
            <a:off x="831893" y="1301892"/>
            <a:ext cx="4676211" cy="45719"/>
            <a:chOff x="5004048" y="1059582"/>
            <a:chExt cx="3600400" cy="144016"/>
          </a:xfrm>
        </p:grpSpPr>
        <p:sp>
          <p:nvSpPr>
            <p:cNvPr id="6" name="矩形 5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729444" y="1851670"/>
            <a:ext cx="448233" cy="235130"/>
            <a:chOff x="5493575" y="4026718"/>
            <a:chExt cx="823621" cy="432048"/>
          </a:xfrm>
        </p:grpSpPr>
        <p:sp>
          <p:nvSpPr>
            <p:cNvPr id="11" name="燕尾形 10"/>
            <p:cNvSpPr/>
            <p:nvPr/>
          </p:nvSpPr>
          <p:spPr>
            <a:xfrm>
              <a:off x="5493575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燕尾形 11"/>
            <p:cNvSpPr/>
            <p:nvPr/>
          </p:nvSpPr>
          <p:spPr>
            <a:xfrm>
              <a:off x="5885148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图片 1" descr="型号.bmp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32168" y="1707654"/>
            <a:ext cx="3888432" cy="2515551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内容占位符 7" descr="QQ图片2016081815070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20072" y="1746951"/>
            <a:ext cx="3389837" cy="2515551"/>
          </a:xfrm>
          <a:prstGeom prst="roundRect">
            <a:avLst>
              <a:gd name="adj" fmla="val 0"/>
            </a:avLst>
          </a:prstGeom>
        </p:spPr>
      </p:pic>
      <p:sp>
        <p:nvSpPr>
          <p:cNvPr id="15" name="矩形 14"/>
          <p:cNvSpPr/>
          <p:nvPr/>
        </p:nvSpPr>
        <p:spPr>
          <a:xfrm>
            <a:off x="667191" y="1635646"/>
            <a:ext cx="7942718" cy="26268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729444" y="1851670"/>
            <a:ext cx="448233" cy="235130"/>
            <a:chOff x="5493575" y="4026718"/>
            <a:chExt cx="823621" cy="432048"/>
          </a:xfrm>
        </p:grpSpPr>
        <p:sp>
          <p:nvSpPr>
            <p:cNvPr id="9" name="燕尾形 8"/>
            <p:cNvSpPr/>
            <p:nvPr/>
          </p:nvSpPr>
          <p:spPr>
            <a:xfrm>
              <a:off x="5493575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5885148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图片 1" descr="型号.bmp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32168" y="1707654"/>
            <a:ext cx="3888432" cy="2515551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内容占位符 4" descr="QQ图片2016082511154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92081" y="1734925"/>
            <a:ext cx="3317828" cy="2488280"/>
          </a:xfrm>
          <a:prstGeom prst="roundRect">
            <a:avLst>
              <a:gd name="adj" fmla="val 0"/>
            </a:avLst>
          </a:prstGeom>
        </p:spPr>
      </p:pic>
      <p:sp>
        <p:nvSpPr>
          <p:cNvPr id="13" name="矩形 12"/>
          <p:cNvSpPr/>
          <p:nvPr/>
        </p:nvSpPr>
        <p:spPr>
          <a:xfrm>
            <a:off x="667191" y="1635646"/>
            <a:ext cx="7942718" cy="26268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31893" y="786705"/>
            <a:ext cx="4955203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变压器型号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（执行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标准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J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B/T3837 </a:t>
            </a: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15" name="组合 28"/>
          <p:cNvGrpSpPr/>
          <p:nvPr/>
        </p:nvGrpSpPr>
        <p:grpSpPr>
          <a:xfrm flipV="1">
            <a:off x="831893" y="1301892"/>
            <a:ext cx="4676211" cy="45719"/>
            <a:chOff x="5004048" y="1059582"/>
            <a:chExt cx="3600400" cy="144016"/>
          </a:xfrm>
        </p:grpSpPr>
        <p:sp>
          <p:nvSpPr>
            <p:cNvPr id="16" name="矩形 15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6313" y="2183761"/>
            <a:ext cx="27799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smtClean="0">
                <a:ln>
                  <a:solidFill>
                    <a:srgbClr val="01458E"/>
                  </a:solidFill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S13-M-200/10</a:t>
            </a:r>
            <a:endParaRPr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844716" y="3155856"/>
            <a:ext cx="29915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smtClean="0">
                <a:ln>
                  <a:solidFill>
                    <a:srgbClr val="01458E"/>
                  </a:solidFill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SZ11-20000/35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4179580" y="1764441"/>
            <a:ext cx="4572000" cy="8896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S-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三相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    11/13-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设计序号为</a:t>
            </a: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11/13</a:t>
            </a:r>
            <a:endParaRPr lang="en-US" altLang="zh-CN" sz="12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M-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波纹油箱全密封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  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200-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容量为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200kVA     10-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高压侧额定电压为</a:t>
            </a: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10kV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例如：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25242" y="1562944"/>
            <a:ext cx="27109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smtClean="0">
                <a:ln>
                  <a:solidFill>
                    <a:srgbClr val="01458E"/>
                  </a:solidFill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S11-M-200/10</a:t>
            </a:r>
            <a:endParaRPr lang="zh-CN" altLang="en-US" sz="3600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995936" y="1694594"/>
            <a:ext cx="0" cy="1029362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38543" y="3947720"/>
            <a:ext cx="32976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smtClean="0">
                <a:ln>
                  <a:solidFill>
                    <a:srgbClr val="01458E"/>
                  </a:solidFill>
                </a:ln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SFZ11-50000/110</a:t>
            </a:r>
            <a:endParaRPr lang="zh-CN" altLang="en-US" sz="3600" dirty="0"/>
          </a:p>
        </p:txBody>
      </p:sp>
      <p:sp>
        <p:nvSpPr>
          <p:cNvPr id="9" name="矩形 8"/>
          <p:cNvSpPr/>
          <p:nvPr/>
        </p:nvSpPr>
        <p:spPr>
          <a:xfrm>
            <a:off x="4179580" y="3319552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S-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三相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   F-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风机冷却  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Z-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有载调压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  11-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设计序号为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11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（即损耗性能）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200000-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额定容量为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20000kVA    500000-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额定容量为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50000kVA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35-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高压侧额定电压为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35kV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的变压器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buNone/>
            </a:pP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110-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高压侧额定电压为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110kV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的变压器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995936" y="3241523"/>
            <a:ext cx="0" cy="1274443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1893" y="786705"/>
            <a:ext cx="4955203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变压器型号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（执行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标准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J</a:t>
            </a:r>
            <a:r>
              <a:rPr lang="en-US" altLang="zh-CN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B/T3837 </a:t>
            </a: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12" name="组合 28"/>
          <p:cNvGrpSpPr/>
          <p:nvPr/>
        </p:nvGrpSpPr>
        <p:grpSpPr>
          <a:xfrm flipV="1">
            <a:off x="831893" y="1301892"/>
            <a:ext cx="4676211" cy="45719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92" y="700336"/>
            <a:ext cx="2954655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变压器性能水平代号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12" name="组合 28"/>
          <p:cNvGrpSpPr/>
          <p:nvPr/>
        </p:nvGrpSpPr>
        <p:grpSpPr>
          <a:xfrm flipV="1">
            <a:off x="402393" y="1215522"/>
            <a:ext cx="3233502" cy="108876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51520" y="1924472"/>
            <a:ext cx="3384375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执行变压器类型号注册管理办法 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（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2021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年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月挂网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700336"/>
            <a:ext cx="4752528" cy="410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92" y="700336"/>
            <a:ext cx="2954655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变压器性能水平代号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12" name="组合 28"/>
          <p:cNvGrpSpPr/>
          <p:nvPr/>
        </p:nvGrpSpPr>
        <p:grpSpPr>
          <a:xfrm flipV="1">
            <a:off x="402393" y="1215522"/>
            <a:ext cx="3233502" cy="108876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51520" y="1924472"/>
            <a:ext cx="3384375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执行变压器类型号注册管理办法 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（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2021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年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月挂网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5" y="700336"/>
            <a:ext cx="5508105" cy="425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11"/>
          <p:cNvSpPr txBox="1"/>
          <p:nvPr/>
        </p:nvSpPr>
        <p:spPr>
          <a:xfrm>
            <a:off x="179512" y="196280"/>
            <a:ext cx="5904656" cy="379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变压器型号释义</a:t>
            </a:r>
            <a:endParaRPr lang="en-US" altLang="zh-CN" sz="20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92" y="700336"/>
            <a:ext cx="2954655" cy="541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变压器性能水平代号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grpSp>
        <p:nvGrpSpPr>
          <p:cNvPr id="12" name="组合 28"/>
          <p:cNvGrpSpPr/>
          <p:nvPr/>
        </p:nvGrpSpPr>
        <p:grpSpPr>
          <a:xfrm flipV="1">
            <a:off x="402393" y="1215522"/>
            <a:ext cx="3233502" cy="108876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51520" y="1924472"/>
            <a:ext cx="3384375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执行变压器类型号注册管理办法 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（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2021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年</a:t>
            </a:r>
            <a:r>
              <a:rPr lang="en-US" altLang="zh-CN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月挂网</a:t>
            </a:r>
            <a:r>
              <a:rPr lang="zh-CN" alt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081" y="772344"/>
            <a:ext cx="505640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5" y="915849"/>
            <a:ext cx="800219" cy="461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</a:t>
            </a:r>
            <a:endParaRPr lang="zh-CN" altLang="en-US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" name="组合 28"/>
          <p:cNvGrpSpPr/>
          <p:nvPr/>
        </p:nvGrpSpPr>
        <p:grpSpPr>
          <a:xfrm flipV="1">
            <a:off x="827584" y="1431197"/>
            <a:ext cx="2848757" cy="45733"/>
            <a:chOff x="5004048" y="1059582"/>
            <a:chExt cx="3600400" cy="144016"/>
          </a:xfrm>
        </p:grpSpPr>
        <p:sp>
          <p:nvSpPr>
            <p:cNvPr id="4" name="矩形 3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79" y="1706787"/>
            <a:ext cx="3528392" cy="2668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895" y="1120496"/>
            <a:ext cx="4008095" cy="353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4355975" y="987879"/>
            <a:ext cx="4253934" cy="37455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755577" y="1019827"/>
            <a:ext cx="3347391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有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载调压开关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13" t="6026"/>
          <a:stretch>
            <a:fillRect/>
          </a:stretch>
        </p:blipFill>
        <p:spPr bwMode="auto">
          <a:xfrm>
            <a:off x="5750992" y="2661005"/>
            <a:ext cx="3011604" cy="206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69225" y="4321368"/>
            <a:ext cx="1237818" cy="27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S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型</a:t>
            </a:r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57186" y="4321368"/>
            <a:ext cx="1872208" cy="27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复合型（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V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型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29394" y="4356124"/>
            <a:ext cx="1678710" cy="27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组合型（</a:t>
            </a:r>
            <a:r>
              <a:rPr lang="en-US" altLang="zh-CN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M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型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1" name="Picture 10" descr="C:\Dokumente und Einstellungen\Baeuml\Desktop\DSC_00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1055477"/>
            <a:ext cx="1224136" cy="323318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1029" descr="H:\MR_D.ADM\ABT.ADM\EV.ADM\EVA.ADM\Schulung\Schalter-Musterbilder\VACUTAP VV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5" y="1783284"/>
            <a:ext cx="1123797" cy="246819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050" y="1681434"/>
            <a:ext cx="1468662" cy="25375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927426"/>
            <a:ext cx="1955864" cy="173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直接连接符 24"/>
          <p:cNvCxnSpPr/>
          <p:nvPr/>
        </p:nvCxnSpPr>
        <p:spPr>
          <a:xfrm>
            <a:off x="5521424" y="1358789"/>
            <a:ext cx="0" cy="3274419"/>
          </a:xfrm>
          <a:prstGeom prst="line">
            <a:avLst/>
          </a:prstGeom>
          <a:ln w="63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12" name="矩形 11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41910" y="958556"/>
            <a:ext cx="3603872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无励磁调压开关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6" name="图片 15" descr="201012131835810061.jpg"/>
          <p:cNvPicPr>
            <a:picLocks noChangeAspect="1"/>
          </p:cNvPicPr>
          <p:nvPr/>
        </p:nvPicPr>
        <p:blipFill>
          <a:blip r:embed="rId1" cstate="print"/>
          <a:srcRect l="12245" r="6122"/>
          <a:stretch>
            <a:fillRect/>
          </a:stretch>
        </p:blipFill>
        <p:spPr>
          <a:xfrm>
            <a:off x="833615" y="2004257"/>
            <a:ext cx="1693765" cy="1556626"/>
          </a:xfrm>
          <a:prstGeom prst="roundRect">
            <a:avLst>
              <a:gd name="adj" fmla="val 0"/>
            </a:avLst>
          </a:prstGeom>
        </p:spPr>
      </p:pic>
      <p:pic>
        <p:nvPicPr>
          <p:cNvPr id="17" name="图片 16" descr="138322659_9396079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5552" y="2004257"/>
            <a:ext cx="2108173" cy="1581618"/>
          </a:xfrm>
          <a:prstGeom prst="roundRect">
            <a:avLst>
              <a:gd name="adj" fmla="val 0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819287" y="3776973"/>
            <a:ext cx="1708092" cy="30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三相盘形开关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35551" y="3765637"/>
            <a:ext cx="1800200" cy="30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三相条形开关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0" name="图片 19" descr="wKhQUVXYSnCEKZBxAAAAAOQvBsw878.jpg"/>
          <p:cNvPicPr/>
          <p:nvPr/>
        </p:nvPicPr>
        <p:blipFill>
          <a:blip r:embed="rId3" cstate="print"/>
          <a:srcRect l="4147" r="52219"/>
          <a:stretch>
            <a:fillRect/>
          </a:stretch>
        </p:blipFill>
        <p:spPr>
          <a:xfrm>
            <a:off x="4743724" y="2920800"/>
            <a:ext cx="1084110" cy="1686914"/>
          </a:xfrm>
          <a:prstGeom prst="round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28650" y="4170625"/>
            <a:ext cx="1681708" cy="307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单相条形开关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514" y="2004257"/>
            <a:ext cx="2969475" cy="1982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5878273" y="4168468"/>
            <a:ext cx="448232" cy="235203"/>
            <a:chOff x="5493575" y="4026718"/>
            <a:chExt cx="823621" cy="432048"/>
          </a:xfrm>
        </p:grpSpPr>
        <p:sp>
          <p:nvSpPr>
            <p:cNvPr id="24" name="燕尾形 23"/>
            <p:cNvSpPr/>
            <p:nvPr/>
          </p:nvSpPr>
          <p:spPr>
            <a:xfrm>
              <a:off x="5493575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燕尾形 24"/>
            <p:cNvSpPr/>
            <p:nvPr/>
          </p:nvSpPr>
          <p:spPr>
            <a:xfrm>
              <a:off x="5885148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28"/>
          <p:cNvGrpSpPr/>
          <p:nvPr/>
        </p:nvGrpSpPr>
        <p:grpSpPr>
          <a:xfrm flipV="1">
            <a:off x="209207" y="1174211"/>
            <a:ext cx="3672409" cy="45733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37200" y="762842"/>
            <a:ext cx="2321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套管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7544" y="772344"/>
            <a:ext cx="77048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Picture 4" descr="DSC04070"/>
          <p:cNvPicPr>
            <a:picLocks noChangeAspect="1" noChangeArrowheads="1"/>
          </p:cNvPicPr>
          <p:nvPr/>
        </p:nvPicPr>
        <p:blipFill>
          <a:blip r:embed="rId1" cstate="print"/>
          <a:srcRect l="19048" r="28571"/>
          <a:stretch>
            <a:fillRect/>
          </a:stretch>
        </p:blipFill>
        <p:spPr bwMode="auto">
          <a:xfrm>
            <a:off x="3957347" y="1420416"/>
            <a:ext cx="1190717" cy="3024336"/>
          </a:xfrm>
          <a:prstGeom prst="roundRect">
            <a:avLst/>
          </a:prstGeom>
          <a:noFill/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348408"/>
            <a:ext cx="1080120" cy="2952328"/>
          </a:xfrm>
          <a:prstGeom prst="roundRect">
            <a:avLst/>
          </a:prstGeom>
          <a:noFill/>
        </p:spPr>
      </p:pic>
      <p:pic>
        <p:nvPicPr>
          <p:cNvPr id="21" name="Picture 7" descr="大电流套管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8014" y="3019102"/>
            <a:ext cx="1216474" cy="1857698"/>
          </a:xfrm>
          <a:prstGeom prst="roundRect">
            <a:avLst/>
          </a:prstGeom>
          <a:noFill/>
        </p:spPr>
      </p:pic>
      <p:pic>
        <p:nvPicPr>
          <p:cNvPr id="22" name="Picture 8" descr="油－油套管2"/>
          <p:cNvPicPr>
            <a:picLocks noChangeAspect="1" noChangeArrowheads="1"/>
          </p:cNvPicPr>
          <p:nvPr/>
        </p:nvPicPr>
        <p:blipFill>
          <a:blip r:embed="rId4" cstate="print"/>
          <a:srcRect b="3670"/>
          <a:stretch>
            <a:fillRect/>
          </a:stretch>
        </p:blipFill>
        <p:spPr bwMode="auto">
          <a:xfrm>
            <a:off x="611560" y="1276400"/>
            <a:ext cx="1179095" cy="302433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5" cstate="print"/>
          <a:srcRect l="14823" r="11060"/>
          <a:stretch>
            <a:fillRect/>
          </a:stretch>
        </p:blipFill>
        <p:spPr bwMode="auto">
          <a:xfrm>
            <a:off x="7740352" y="844352"/>
            <a:ext cx="963424" cy="173316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1" descr="DSC00378"/>
          <p:cNvPicPr>
            <a:picLocks noChangeAspect="1" noChangeArrowheads="1"/>
          </p:cNvPicPr>
          <p:nvPr/>
        </p:nvPicPr>
        <p:blipFill>
          <a:blip r:embed="rId6" cstate="print"/>
          <a:srcRect l="12987" r="7793"/>
          <a:stretch>
            <a:fillRect/>
          </a:stretch>
        </p:blipFill>
        <p:spPr bwMode="auto">
          <a:xfrm>
            <a:off x="5299742" y="1418948"/>
            <a:ext cx="1872208" cy="1657652"/>
          </a:xfrm>
          <a:prstGeom prst="roundRect">
            <a:avLst/>
          </a:prstGeom>
          <a:noFill/>
        </p:spPr>
      </p:pic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179512" y="1420416"/>
            <a:ext cx="360040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特高压电容式套管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835696" y="1420416"/>
            <a:ext cx="360040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超高压电容式套管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3491880" y="1348408"/>
            <a:ext cx="360040" cy="31700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高压玻璃钢电容式套管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7308304" y="988368"/>
            <a:ext cx="36004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纯瓷套管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5587774" y="3108538"/>
            <a:ext cx="144016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纯瓷套管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6595886" y="3582978"/>
            <a:ext cx="1224136" cy="8617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大电流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纯瓷套管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" t="50000" b="2315"/>
          <a:stretch>
            <a:fillRect/>
          </a:stretch>
        </p:blipFill>
        <p:spPr bwMode="auto">
          <a:xfrm>
            <a:off x="3923928" y="3291830"/>
            <a:ext cx="4814397" cy="1483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8"/>
          <p:cNvGrpSpPr/>
          <p:nvPr/>
        </p:nvGrpSpPr>
        <p:grpSpPr>
          <a:xfrm flipV="1">
            <a:off x="827583" y="1430754"/>
            <a:ext cx="3672409" cy="45719"/>
            <a:chOff x="5004048" y="1059582"/>
            <a:chExt cx="3600400" cy="144016"/>
          </a:xfrm>
        </p:grpSpPr>
        <p:sp>
          <p:nvSpPr>
            <p:cNvPr id="4" name="矩形 3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3923928" y="3291830"/>
            <a:ext cx="4814397" cy="1483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1910" y="958260"/>
            <a:ext cx="3860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储油柜，俗称油枕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51" t="3770" r="1465" b="48545"/>
          <a:stretch>
            <a:fillRect/>
          </a:stretch>
        </p:blipFill>
        <p:spPr bwMode="auto">
          <a:xfrm>
            <a:off x="5220071" y="958260"/>
            <a:ext cx="2522883" cy="2080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7582" y="1576404"/>
            <a:ext cx="3874679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敞开式储油柜：内部油通过连接吸湿器的管路直接与空气接触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90249" y="2238124"/>
            <a:ext cx="3846313" cy="7386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胶囊式储油柜：内部油密封。胶囊浮于油上部、与连接吸湿器的管路连通，通过胶囊的呼吸来调节储油柜中的体积变化。</a:t>
            </a:r>
            <a:endParaRPr lang="en-US" altLang="zh-CN" sz="14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90249" y="3448709"/>
            <a:ext cx="2765089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波纹式储油柜：内部油密封。弹性波纹膨胀节置于侧面，与连接吸湿器的管路连通，通过波纹膨胀节的呼吸来调节储油柜中的体积变化。</a:t>
            </a:r>
            <a:endParaRPr lang="en-US" altLang="zh-CN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8"/>
          <p:cNvGrpSpPr/>
          <p:nvPr/>
        </p:nvGrpSpPr>
        <p:grpSpPr>
          <a:xfrm flipV="1">
            <a:off x="827584" y="1431197"/>
            <a:ext cx="2848757" cy="45733"/>
            <a:chOff x="5004048" y="1059582"/>
            <a:chExt cx="3600400" cy="144016"/>
          </a:xfrm>
        </p:grpSpPr>
        <p:sp>
          <p:nvSpPr>
            <p:cNvPr id="4" name="矩形 3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5580113" y="987879"/>
            <a:ext cx="3029796" cy="37455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1910" y="958556"/>
            <a:ext cx="2834430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冷却装置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158673"/>
            <a:ext cx="2846154" cy="3502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" descr="C:\Users\Administrator\AppData\Roaming\Tencent\Users\63211226\QQ\WinTemp\RichOle\`Q3NM7PE$65VW16M[]VP~F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0698" y="1924272"/>
            <a:ext cx="1421142" cy="1084891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5" y="1924273"/>
            <a:ext cx="729083" cy="1084891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C:\Users\Administrator\AppData\Roaming\Tencent\Users\63211226\QQ\WinTemp\RichOle\KSOP(3@ERAU4ADEOP6TK8MV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865" y="1924272"/>
            <a:ext cx="907187" cy="1188753"/>
          </a:xfrm>
          <a:prstGeom prst="roundRect">
            <a:avLst/>
          </a:prstGeom>
          <a:noFill/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28931" y="3436907"/>
            <a:ext cx="2160240" cy="5233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固定式片散</a:t>
            </a:r>
            <a:endParaRPr lang="en-US" altLang="zh-CN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连接处直接焊接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96827" y="3428053"/>
            <a:ext cx="2160240" cy="5233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拆卸式片散</a:t>
            </a:r>
            <a:endParaRPr lang="en-US" altLang="zh-CN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连接处法兰连接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860979" y="4234414"/>
            <a:ext cx="1296144" cy="307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波纹油箱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475868" y="4126659"/>
            <a:ext cx="1242138" cy="5233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油变用冷却风机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4428" y="1924273"/>
            <a:ext cx="1047156" cy="108489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28"/>
          <p:cNvGrpSpPr/>
          <p:nvPr/>
        </p:nvGrpSpPr>
        <p:grpSpPr>
          <a:xfrm flipV="1">
            <a:off x="209207" y="1174211"/>
            <a:ext cx="3672409" cy="45733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37200" y="762842"/>
            <a:ext cx="309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油在线监测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" y="1372751"/>
            <a:ext cx="2209677" cy="3360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326562"/>
            <a:ext cx="2339141" cy="3403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297143"/>
            <a:ext cx="2287528" cy="343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28"/>
          <p:cNvGrpSpPr/>
          <p:nvPr/>
        </p:nvGrpSpPr>
        <p:grpSpPr>
          <a:xfrm flipV="1">
            <a:off x="209207" y="1174211"/>
            <a:ext cx="3672409" cy="45733"/>
            <a:chOff x="5004048" y="1059582"/>
            <a:chExt cx="3600400" cy="144016"/>
          </a:xfrm>
        </p:grpSpPr>
        <p:sp>
          <p:nvSpPr>
            <p:cNvPr id="13" name="矩形 1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137200" y="762842"/>
            <a:ext cx="28344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智能组件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24" y="1276400"/>
            <a:ext cx="2301856" cy="3571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725" y="1276400"/>
            <a:ext cx="2323550" cy="362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150" y="1263844"/>
            <a:ext cx="2358510" cy="358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3" name="矩形 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841911" y="958556"/>
            <a:ext cx="3090911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气体继电器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3" y="1715583"/>
            <a:ext cx="3240362" cy="25136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3" y="1620990"/>
            <a:ext cx="4253121" cy="2752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 descr="1"/>
          <p:cNvPicPr>
            <a:picLocks noChangeAspect="1" noChangeArrowheads="1"/>
          </p:cNvPicPr>
          <p:nvPr/>
        </p:nvPicPr>
        <p:blipFill>
          <a:blip r:embed="rId2" cstate="print"/>
          <a:srcRect l="11489" t="2942" r="5789" b="8811"/>
          <a:stretch>
            <a:fillRect/>
          </a:stretch>
        </p:blipFill>
        <p:spPr bwMode="auto">
          <a:xfrm>
            <a:off x="1135836" y="1825929"/>
            <a:ext cx="2796673" cy="2331281"/>
          </a:xfrm>
          <a:prstGeom prst="roundRect">
            <a:avLst>
              <a:gd name="adj" fmla="val 0"/>
            </a:avLst>
          </a:prstGeom>
          <a:noFill/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50564" y="4373300"/>
            <a:ext cx="1913324" cy="3386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国内产品，挡板式</a:t>
            </a:r>
            <a:endParaRPr lang="zh-CN" altLang="en-US" sz="1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3" name="矩形 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841911" y="958556"/>
            <a:ext cx="3090911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温度控制器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1715584"/>
            <a:ext cx="8640960" cy="18328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55776" y="3923045"/>
            <a:ext cx="1656184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远方数显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355976" y="3923045"/>
            <a:ext cx="1656184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温控器探头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67544" y="3923045"/>
            <a:ext cx="1872208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温控器表头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580112" y="3931824"/>
            <a:ext cx="2016224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温控器内部</a:t>
            </a: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结构  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52120" y="1859168"/>
            <a:ext cx="1260140" cy="1545165"/>
          </a:xfrm>
          <a:prstGeom prst="roundRect">
            <a:avLst/>
          </a:prstGeom>
          <a:noFill/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61094"/>
            <a:ext cx="1733877" cy="1512635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861095"/>
            <a:ext cx="872592" cy="1585459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56366" y="1858290"/>
            <a:ext cx="2127602" cy="1515439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683" y="1747114"/>
            <a:ext cx="1509781" cy="173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7308304" y="3931824"/>
            <a:ext cx="2016224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光纤测温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3" name="矩形 2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841910" y="958556"/>
            <a:ext cx="3860352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油位计，俗称油表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131840" y="2411733"/>
            <a:ext cx="1944216" cy="646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玻璃管油位计，玻璃管中增加红色浮球，可以直观的看到油位高度。</a:t>
            </a:r>
            <a:endParaRPr lang="zh-CN" altLang="en-US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131840" y="3951627"/>
            <a:ext cx="1872208" cy="646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管式油位计，视窗显示蓝色油位正常，显示红色油位异常。</a:t>
            </a:r>
            <a:endParaRPr lang="en-US" altLang="zh-CN" sz="12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558402" y="3564269"/>
            <a:ext cx="2880320" cy="646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指针式油位表，油浮子根据油位高低摆动，通过传动杆和内置磁铁的吸附，使表盘指针摆动，从而指示油位。</a:t>
            </a:r>
            <a:endParaRPr lang="en-US" altLang="zh-CN" sz="1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" name="Picture 2" descr="C:\Users\Administrator\AppData\Roaming\Tencent\Users\63211226\QQ\WinTemp\RichOle\NO24`J_Y6B`$A@UU(O)E_PB.png"/>
          <p:cNvPicPr>
            <a:picLocks noChangeAspect="1" noChangeArrowheads="1"/>
          </p:cNvPicPr>
          <p:nvPr/>
        </p:nvPicPr>
        <p:blipFill>
          <a:blip r:embed="rId1" cstate="print"/>
          <a:srcRect l="3376" t="5405" r="3788"/>
          <a:stretch>
            <a:fillRect/>
          </a:stretch>
        </p:blipFill>
        <p:spPr bwMode="auto">
          <a:xfrm>
            <a:off x="912607" y="1746710"/>
            <a:ext cx="2089427" cy="1330046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1" name="Picture 1" descr="C:\Users\Administrator\AppData\Roaming\Tencent\Users\63211226\QQ\WinTemp\RichOle\%V({XQR3KAH_V3X`9]AOG0S.png"/>
          <p:cNvPicPr>
            <a:picLocks noChangeAspect="1" noChangeArrowheads="1"/>
          </p:cNvPicPr>
          <p:nvPr/>
        </p:nvPicPr>
        <p:blipFill rotWithShape="1">
          <a:blip r:embed="rId2" cstate="print"/>
          <a:srcRect b="5958"/>
          <a:stretch>
            <a:fillRect/>
          </a:stretch>
        </p:blipFill>
        <p:spPr bwMode="auto">
          <a:xfrm>
            <a:off x="895841" y="3148786"/>
            <a:ext cx="2116530" cy="1605682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2" name="Picture 7" descr="蓝15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0095" y="1746710"/>
            <a:ext cx="3036935" cy="1796736"/>
          </a:xfrm>
          <a:prstGeom prst="roundRect">
            <a:avLst>
              <a:gd name="adj" fmla="val 8317"/>
            </a:avLst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841910" y="1696085"/>
            <a:ext cx="4234146" cy="31517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28"/>
          <p:cNvGrpSpPr/>
          <p:nvPr/>
        </p:nvGrpSpPr>
        <p:grpSpPr>
          <a:xfrm flipV="1">
            <a:off x="827583" y="1430754"/>
            <a:ext cx="3672409" cy="45719"/>
            <a:chOff x="5004048" y="1059582"/>
            <a:chExt cx="3600400" cy="144016"/>
          </a:xfrm>
        </p:grpSpPr>
        <p:sp>
          <p:nvSpPr>
            <p:cNvPr id="15" name="矩形 14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841910" y="958260"/>
            <a:ext cx="309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压力释放阀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07704" y="1560740"/>
            <a:ext cx="4824536" cy="3315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Picture 13"/>
          <p:cNvPicPr>
            <a:picLocks noChangeAspect="1" noChangeArrowheads="1"/>
          </p:cNvPicPr>
          <p:nvPr/>
        </p:nvPicPr>
        <p:blipFill>
          <a:blip r:embed="rId1" cstate="print"/>
          <a:srcRect b="6305"/>
          <a:stretch>
            <a:fillRect/>
          </a:stretch>
        </p:blipFill>
        <p:spPr bwMode="auto">
          <a:xfrm>
            <a:off x="4644008" y="1623952"/>
            <a:ext cx="1944216" cy="1353910"/>
          </a:xfrm>
          <a:prstGeom prst="flowChartAlternateProcess">
            <a:avLst/>
          </a:prstGeom>
          <a:noFill/>
          <a:ln>
            <a:solidFill>
              <a:srgbClr val="0000FF"/>
            </a:solidFill>
          </a:ln>
        </p:spPr>
      </p:pic>
      <p:pic>
        <p:nvPicPr>
          <p:cNvPr id="21" name="Picture 1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8A8A8A"/>
              </a:clrFrom>
              <a:clrTo>
                <a:srgbClr val="8A8A8A">
                  <a:alpha val="0"/>
                </a:srgbClr>
              </a:clrTo>
            </a:clrChange>
          </a:blip>
          <a:srcRect t="1352" b="2383"/>
          <a:stretch>
            <a:fillRect/>
          </a:stretch>
        </p:blipFill>
        <p:spPr bwMode="auto">
          <a:xfrm>
            <a:off x="2123728" y="3208128"/>
            <a:ext cx="2160240" cy="1589017"/>
          </a:xfrm>
          <a:prstGeom prst="flowChartAlternateProcess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pic>
        <p:nvPicPr>
          <p:cNvPr id="22" name="Picture 1" descr="C:\Users\Administrator\AppData\Roaming\Tencent\Users\63211226\QQ\WinTemp\RichOle\}E[P6[I4O45PS0(A2[D{740.png"/>
          <p:cNvPicPr>
            <a:picLocks noChangeAspect="1" noChangeArrowheads="1"/>
          </p:cNvPicPr>
          <p:nvPr/>
        </p:nvPicPr>
        <p:blipFill>
          <a:blip r:embed="rId3" cstate="print"/>
          <a:srcRect l="2681" r="3491" b="10582"/>
          <a:stretch>
            <a:fillRect/>
          </a:stretch>
        </p:blipFill>
        <p:spPr bwMode="auto">
          <a:xfrm>
            <a:off x="1979712" y="1623952"/>
            <a:ext cx="2304256" cy="1448390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23" name="Picture 2" descr="C:\Users\Administrator\AppData\Roaming\Tencent\Users\63211226\QQ\WinTemp\RichOle\)275}}]}TSQJT%]WB}2R`I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136120"/>
            <a:ext cx="2016224" cy="1708782"/>
          </a:xfrm>
          <a:prstGeom prst="roundRect">
            <a:avLst>
              <a:gd name="adj" fmla="val 0"/>
            </a:avLst>
          </a:prstGeom>
          <a:noFill/>
        </p:spPr>
      </p:pic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146371" y="2056000"/>
            <a:ext cx="165618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YSF6-35/25K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6876256" y="1983992"/>
            <a:ext cx="252028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YSF4-55/80KJ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35496" y="3784192"/>
            <a:ext cx="187220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YSF6-35/50KJ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876256" y="3712184"/>
            <a:ext cx="201622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YSF8-55/130KJ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443" y="1291136"/>
            <a:ext cx="1814866" cy="3373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grpSp>
        <p:nvGrpSpPr>
          <p:cNvPr id="4" name="组合 28"/>
          <p:cNvGrpSpPr/>
          <p:nvPr/>
        </p:nvGrpSpPr>
        <p:grpSpPr>
          <a:xfrm flipV="1">
            <a:off x="827584" y="1431196"/>
            <a:ext cx="3672409" cy="45733"/>
            <a:chOff x="5004048" y="1059582"/>
            <a:chExt cx="3600400" cy="144016"/>
          </a:xfrm>
        </p:grpSpPr>
        <p:sp>
          <p:nvSpPr>
            <p:cNvPr id="5" name="矩形 4"/>
            <p:cNvSpPr/>
            <p:nvPr/>
          </p:nvSpPr>
          <p:spPr>
            <a:xfrm>
              <a:off x="6948264" y="1059582"/>
              <a:ext cx="1656184" cy="14401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292080" y="1059582"/>
              <a:ext cx="1656184" cy="14401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4048" y="1059582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6719839" y="1240412"/>
            <a:ext cx="1934077" cy="34227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41910" y="958556"/>
            <a:ext cx="2577950" cy="400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油变主要配件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吸湿器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" name="Picture 1" descr="C:\Users\Administrator\AppData\Roaming\Tencent\Users\2913524653\QQ\WinTemp\RichOle\FW)NLRY_{~XGW8TPO4KT7V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5365" y="2977706"/>
            <a:ext cx="1905039" cy="1195487"/>
          </a:xfrm>
          <a:prstGeom prst="roundRect">
            <a:avLst>
              <a:gd name="adj" fmla="val 0"/>
            </a:avLst>
          </a:prstGeom>
          <a:noFill/>
        </p:spPr>
      </p:pic>
      <p:pic>
        <p:nvPicPr>
          <p:cNvPr id="11" name="Picture 2" descr="C:\Users\Administrator\AppData\Roaming\Tencent\Users\2913524653\QQ\WinTemp\RichOle\L5WF9%@03V]IND4}(J%(@YC.png"/>
          <p:cNvPicPr>
            <a:picLocks noChangeAspect="1" noChangeArrowheads="1"/>
          </p:cNvPicPr>
          <p:nvPr/>
        </p:nvPicPr>
        <p:blipFill>
          <a:blip r:embed="rId3" cstate="print"/>
          <a:srcRect b="14301"/>
          <a:stretch>
            <a:fillRect/>
          </a:stretch>
        </p:blipFill>
        <p:spPr bwMode="auto">
          <a:xfrm>
            <a:off x="4572000" y="2977706"/>
            <a:ext cx="1089668" cy="1195487"/>
          </a:xfrm>
          <a:prstGeom prst="roundRect">
            <a:avLst>
              <a:gd name="adj" fmla="val 0"/>
            </a:avLst>
          </a:prstGeom>
          <a:noFill/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565498" y="4317185"/>
            <a:ext cx="1862475" cy="4002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 sz="1000" dirty="0"/>
              <a:t>普通硅胶为白色，吸潮后会显示浅黄色或者黄色。</a:t>
            </a:r>
            <a:endParaRPr lang="zh-CN" altLang="en-US" sz="1000" dirty="0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480404" y="4333174"/>
            <a:ext cx="2395853" cy="5541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变色硅胶为蓝色</a:t>
            </a:r>
            <a:r>
              <a:rPr lang="zh-CN" altLang="en-US" sz="1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10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sz="1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硅胶</a:t>
            </a:r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中含二氯化钴（</a:t>
            </a:r>
            <a:r>
              <a:rPr lang="en-US" altLang="zh-CN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CoCL2</a:t>
            </a:r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r>
              <a:rPr lang="zh-CN" altLang="en-US" sz="1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10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sz="1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干燥</a:t>
            </a:r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时呈蓝色，吸潮后呈粉红色。</a:t>
            </a:r>
            <a:endParaRPr lang="en-US" altLang="zh-CN" sz="10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0800000">
            <a:off x="5868144" y="3076756"/>
            <a:ext cx="607596" cy="318826"/>
            <a:chOff x="5493575" y="4026718"/>
            <a:chExt cx="823621" cy="432048"/>
          </a:xfrm>
        </p:grpSpPr>
        <p:sp>
          <p:nvSpPr>
            <p:cNvPr id="15" name="燕尾形 14"/>
            <p:cNvSpPr/>
            <p:nvPr/>
          </p:nvSpPr>
          <p:spPr>
            <a:xfrm>
              <a:off x="5493575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5885148" y="4026718"/>
              <a:ext cx="432048" cy="432048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27582" y="1636151"/>
            <a:ext cx="5648158" cy="769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呼吸器又叫吸湿器，由油封、容器、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干燥剂组成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。容器内装有干燥剂</a:t>
            </a:r>
            <a:r>
              <a:rPr lang="en-US" altLang="zh-CN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如硅胶</a:t>
            </a:r>
            <a:r>
              <a:rPr lang="en-US" altLang="zh-CN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) ;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当油枕内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的空气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随着变压器油体积膨胀或缩小时，排出或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吸入的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空气都经过呼吸器，呼吸器内的干燥剂吸收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空气中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的水分，对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空气起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过滤作用，从而保障了油枕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内的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空气干燥而清洁。呼吸器内的干燥剂变色超过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二分之</a:t>
            </a:r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一时应及时更换</a:t>
            </a:r>
            <a:r>
              <a:rPr lang="zh-CN" altLang="en-US" sz="11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zh-CN" altLang="en-US" sz="11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66664" y="2951769"/>
            <a:ext cx="1593712" cy="1446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华文细黑" panose="02010600040101010101" pitchFamily="2" charset="-122"/>
                <a:ea typeface="华文细黑" panose="02010600040101010101" pitchFamily="2" charset="-122"/>
              </a:rPr>
              <a:t>有载开关油枕的呼吸器干燥剂更需及时更换，原因是油枕属敞开式油枕，没有胶囊或者隔膜，呼吸器一旦失去吸潮功能，水分就会直接沿管道进入开关内。波纹油枕没有呼吸器。</a:t>
            </a:r>
            <a:endParaRPr lang="zh-CN" altLang="en-US" sz="11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9" name="object 11"/>
          <p:cNvSpPr txBox="1"/>
          <p:nvPr/>
        </p:nvSpPr>
        <p:spPr>
          <a:xfrm>
            <a:off x="179512" y="196280"/>
            <a:ext cx="59046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sz="2000" noProof="1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主要</a:t>
            </a:r>
            <a:r>
              <a:rPr lang="zh-CN" altLang="en-US" sz="2000" noProof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部件及价格影响因素</a:t>
            </a:r>
            <a:endParaRPr lang="en-US" altLang="zh-CN" sz="2000" noProof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0"/>
          <p:cNvSpPr>
            <a:spLocks noGrp="1"/>
          </p:cNvSpPr>
          <p:nvPr>
            <p:ph type="sldNum" sz="quarter" idx="4294967295"/>
          </p:nvPr>
        </p:nvSpPr>
        <p:spPr>
          <a:xfrm>
            <a:off x="8316416" y="315208"/>
            <a:ext cx="440408" cy="273929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sp>
        <p:nvSpPr>
          <p:cNvPr id="30" name="TextBox 8"/>
          <p:cNvSpPr txBox="1">
            <a:spLocks noChangeArrowheads="1"/>
          </p:cNvSpPr>
          <p:nvPr/>
        </p:nvSpPr>
        <p:spPr bwMode="auto">
          <a:xfrm>
            <a:off x="2267744" y="2284424"/>
            <a:ext cx="4608512" cy="46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品质瑞恩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电亮世界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点亮未来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108"/>
          <p:cNvGrpSpPr/>
          <p:nvPr/>
        </p:nvGrpSpPr>
        <p:grpSpPr>
          <a:xfrm>
            <a:off x="539552" y="2716605"/>
            <a:ext cx="7560840" cy="432181"/>
            <a:chOff x="1691680" y="3939902"/>
            <a:chExt cx="3960440" cy="720080"/>
          </a:xfrm>
        </p:grpSpPr>
        <p:sp>
          <p:nvSpPr>
            <p:cNvPr id="31" name="矩形 30"/>
            <p:cNvSpPr/>
            <p:nvPr/>
          </p:nvSpPr>
          <p:spPr>
            <a:xfrm>
              <a:off x="1691680" y="3939902"/>
              <a:ext cx="3960440" cy="512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en-US" altLang="zh-CN" sz="1400" dirty="0" smtClean="0">
                <a:latin typeface="Century Gothic" panose="020B0502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995936" y="4515966"/>
              <a:ext cx="1656184" cy="14401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339752" y="4515966"/>
              <a:ext cx="1656184" cy="144016"/>
            </a:xfrm>
            <a:prstGeom prst="rect">
              <a:avLst/>
            </a:prstGeom>
            <a:solidFill>
              <a:srgbClr val="0145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051720" y="4515966"/>
              <a:ext cx="288000" cy="14401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矩形 34"/>
          <p:cNvSpPr/>
          <p:nvPr/>
        </p:nvSpPr>
        <p:spPr>
          <a:xfrm>
            <a:off x="1187624" y="3878375"/>
            <a:ext cx="3384376" cy="737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地址：江苏省海安市黄海大道西</a:t>
            </a:r>
            <a:r>
              <a:rPr lang="en-US" altLang="zh-CN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229</a:t>
            </a:r>
            <a:r>
              <a:rPr lang="zh-CN" altLang="en-US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号</a:t>
            </a:r>
            <a:br>
              <a:rPr lang="zh-CN" altLang="en-US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</a:br>
            <a:r>
              <a:rPr lang="zh-CN" altLang="en-US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邮箱：</a:t>
            </a:r>
            <a:r>
              <a:rPr lang="en-US" altLang="zh-CN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ryanjs@126.com</a:t>
            </a:r>
            <a:br>
              <a:rPr lang="en-US" altLang="zh-CN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</a:br>
            <a:r>
              <a:rPr lang="en-US" altLang="zh-CN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 URL</a:t>
            </a:r>
            <a:r>
              <a:rPr lang="zh-CN" altLang="en-US" sz="1400" dirty="0" smtClean="0">
                <a:latin typeface="Century Gothic" panose="020B0502020202020204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sz="1400" b="1" dirty="0" smtClean="0">
                <a:latin typeface="Century Gothic" panose="020B0502020202020204" pitchFamily="34" charset="0"/>
                <a:ea typeface="微软雅黑" panose="020B0503020204020204" pitchFamily="34" charset="-122"/>
                <a:hlinkClick r:id="rId1"/>
              </a:rPr>
              <a:t>http://www.redq.cc</a:t>
            </a:r>
            <a:endParaRPr lang="zh-CN" altLang="en-US" sz="1400" dirty="0"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03800" y="3642850"/>
            <a:ext cx="3036570" cy="1073481"/>
          </a:xfrm>
          <a:prstGeom prst="rect">
            <a:avLst/>
          </a:prstGeom>
          <a:solidFill>
            <a:srgbClr val="005DA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3"/>
          <p:cNvSpPr>
            <a:spLocks noChangeArrowheads="1"/>
          </p:cNvSpPr>
          <p:nvPr/>
        </p:nvSpPr>
        <p:spPr bwMode="auto">
          <a:xfrm>
            <a:off x="1187624" y="3508937"/>
            <a:ext cx="1152128" cy="307768"/>
          </a:xfrm>
          <a:prstGeom prst="rect">
            <a:avLst/>
          </a:prstGeom>
          <a:noFill/>
          <a:ln>
            <a:noFill/>
          </a:ln>
        </p:spPr>
        <p:txBody>
          <a:bodyPr wrap="square" lIns="91431" tIns="45716" rIns="91431" bIns="45716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5DA2"/>
                </a:solidFill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联系我们</a:t>
            </a:r>
            <a:endParaRPr lang="zh-CN" altLang="en-US" dirty="0">
              <a:solidFill>
                <a:srgbClr val="005DA2"/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pic>
        <p:nvPicPr>
          <p:cNvPr id="6" name="图片 5" descr="32313534313432363b32313534313431313bc9cccef1d7c9d1a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7945" y="3878507"/>
            <a:ext cx="571500" cy="57167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96281" y="3969340"/>
            <a:ext cx="2140585" cy="398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0513-88699099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572892" y="785795"/>
            <a:ext cx="3525324" cy="101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altLang="zh-CN" sz="60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空心弧 18"/>
          <p:cNvSpPr/>
          <p:nvPr/>
        </p:nvSpPr>
        <p:spPr bwMode="auto">
          <a:xfrm rot="7086271">
            <a:off x="4900077" y="546532"/>
            <a:ext cx="1483183" cy="1482725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0145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TextBox 8"/>
          <p:cNvSpPr txBox="1">
            <a:spLocks noChangeArrowheads="1"/>
          </p:cNvSpPr>
          <p:nvPr/>
        </p:nvSpPr>
        <p:spPr bwMode="auto">
          <a:xfrm>
            <a:off x="2720531" y="1630899"/>
            <a:ext cx="2192337" cy="370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defRPr/>
            </a:pPr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谢谢聆听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  <p:bldP spid="18" grpId="0"/>
      <p:bldP spid="19" grpId="0" animBg="1"/>
      <p:bldP spid="20" grpId="0"/>
    </p:bldLst>
  </p:timing>
</p:sld>
</file>

<file path=ppt/tags/tag1.xml><?xml version="1.0" encoding="utf-8"?>
<p:tagLst xmlns:p="http://schemas.openxmlformats.org/presentationml/2006/main">
  <p:tag name="KSO_WPP_MARK_KEY" val="867d0021-4284-4d38-bde0-6e5ed93af2c5"/>
  <p:tag name="COMMONDATA" val="eyJoZGlkIjoiMGExYTQ0OGIwMTE5MDhjYTZiOGQ1NWEzMWNhMjhhZWIifQ=="/>
</p:tagLst>
</file>

<file path=ppt/theme/theme1.xml><?xml version="1.0" encoding="utf-8"?>
<a:theme xmlns:a="http://schemas.openxmlformats.org/drawingml/2006/main" name="sample">
  <a:themeElements>
    <a:clrScheme name="sample 3">
      <a:dk1>
        <a:srgbClr val="335338"/>
      </a:dk1>
      <a:lt1>
        <a:srgbClr val="D7E4BE"/>
      </a:lt1>
      <a:dk2>
        <a:srgbClr val="000066"/>
      </a:dk2>
      <a:lt2>
        <a:srgbClr val="B2B2B2"/>
      </a:lt2>
      <a:accent1>
        <a:srgbClr val="2F86B1"/>
      </a:accent1>
      <a:accent2>
        <a:srgbClr val="D2761A"/>
      </a:accent2>
      <a:accent3>
        <a:srgbClr val="E8EFDB"/>
      </a:accent3>
      <a:accent4>
        <a:srgbClr val="2A462E"/>
      </a:accent4>
      <a:accent5>
        <a:srgbClr val="ADC3D5"/>
      </a:accent5>
      <a:accent6>
        <a:srgbClr val="BE6A16"/>
      </a:accent6>
      <a:hlink>
        <a:srgbClr val="368463"/>
      </a:hlink>
      <a:folHlink>
        <a:srgbClr val="481EC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F6FC6"/>
            </a:gs>
            <a:gs pos="100000">
              <a:srgbClr val="009DD9">
                <a:alpha val="89998"/>
              </a:srgbClr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scene3d>
          <a:camera prst="legacyObliqueBottom"/>
          <a:lightRig rig="legacyFlat3" dir="b"/>
        </a:scene3d>
        <a:sp3d extrusionH="227000" prstMaterial="legacyMatte">
          <a:bevelT w="13500" h="13500" prst="angle"/>
          <a:bevelB w="13500" h="13500" prst="angle"/>
          <a:extrusionClr>
            <a:schemeClr val="accent2"/>
          </a:extrusionClr>
        </a:sp3d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0000"/>
          </a:buClr>
          <a:buSzPct val="70000"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F6FC6"/>
            </a:gs>
            <a:gs pos="100000">
              <a:srgbClr val="009DD9">
                <a:alpha val="89998"/>
              </a:srgbClr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scene3d>
          <a:camera prst="legacyObliqueBottom"/>
          <a:lightRig rig="legacyFlat3" dir="b"/>
        </a:scene3d>
        <a:sp3d extrusionH="227000" prstMaterial="legacyMatte">
          <a:bevelT w="13500" h="13500" prst="angle"/>
          <a:bevelB w="13500" h="13500" prst="angle"/>
          <a:extrusionClr>
            <a:schemeClr val="accent2"/>
          </a:extrusionClr>
        </a:sp3d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0000"/>
          </a:buClr>
          <a:buSzPct val="70000"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sample 1">
        <a:dk1>
          <a:srgbClr val="1A3E86"/>
        </a:dk1>
        <a:lt1>
          <a:srgbClr val="C1CFDD"/>
        </a:lt1>
        <a:dk2>
          <a:srgbClr val="000000"/>
        </a:dk2>
        <a:lt2>
          <a:srgbClr val="B2B2B2"/>
        </a:lt2>
        <a:accent1>
          <a:srgbClr val="4AAAC0"/>
        </a:accent1>
        <a:accent2>
          <a:srgbClr val="6600FF"/>
        </a:accent2>
        <a:accent3>
          <a:srgbClr val="DDE4EB"/>
        </a:accent3>
        <a:accent4>
          <a:srgbClr val="143472"/>
        </a:accent4>
        <a:accent5>
          <a:srgbClr val="B1D2DC"/>
        </a:accent5>
        <a:accent6>
          <a:srgbClr val="5C00E7"/>
        </a:accent6>
        <a:hlink>
          <a:srgbClr val="0066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B166E"/>
        </a:dk1>
        <a:lt1>
          <a:srgbClr val="AADBFC"/>
        </a:lt1>
        <a:dk2>
          <a:srgbClr val="003366"/>
        </a:dk2>
        <a:lt2>
          <a:srgbClr val="B2B2B2"/>
        </a:lt2>
        <a:accent1>
          <a:srgbClr val="19B17B"/>
        </a:accent1>
        <a:accent2>
          <a:srgbClr val="E57B1B"/>
        </a:accent2>
        <a:accent3>
          <a:srgbClr val="D2EAFD"/>
        </a:accent3>
        <a:accent4>
          <a:srgbClr val="23115D"/>
        </a:accent4>
        <a:accent5>
          <a:srgbClr val="ABD5BF"/>
        </a:accent5>
        <a:accent6>
          <a:srgbClr val="CF6F17"/>
        </a:accent6>
        <a:hlink>
          <a:srgbClr val="0066CC"/>
        </a:hlink>
        <a:folHlink>
          <a:srgbClr val="8C71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335338"/>
        </a:dk1>
        <a:lt1>
          <a:srgbClr val="D7E4BE"/>
        </a:lt1>
        <a:dk2>
          <a:srgbClr val="000066"/>
        </a:dk2>
        <a:lt2>
          <a:srgbClr val="B2B2B2"/>
        </a:lt2>
        <a:accent1>
          <a:srgbClr val="2F86B1"/>
        </a:accent1>
        <a:accent2>
          <a:srgbClr val="D2761A"/>
        </a:accent2>
        <a:accent3>
          <a:srgbClr val="E8EFDB"/>
        </a:accent3>
        <a:accent4>
          <a:srgbClr val="2A462E"/>
        </a:accent4>
        <a:accent5>
          <a:srgbClr val="ADC3D5"/>
        </a:accent5>
        <a:accent6>
          <a:srgbClr val="BE6A16"/>
        </a:accent6>
        <a:hlink>
          <a:srgbClr val="368463"/>
        </a:hlink>
        <a:folHlink>
          <a:srgbClr val="481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pyright(c)2007-2011 NordriDesign™ 小A">
  <a:themeElements>
    <a:clrScheme name="Copyright(c)2007-2011 NordriDesign™ 小A 4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3399FF"/>
      </a:accent1>
      <a:accent2>
        <a:srgbClr val="0875F8"/>
      </a:accent2>
      <a:accent3>
        <a:srgbClr val="FFFFFF"/>
      </a:accent3>
      <a:accent4>
        <a:srgbClr val="000000"/>
      </a:accent4>
      <a:accent5>
        <a:srgbClr val="ADCAFF"/>
      </a:accent5>
      <a:accent6>
        <a:srgbClr val="0669E1"/>
      </a:accent6>
      <a:hlink>
        <a:srgbClr val="0E58C4"/>
      </a:hlink>
      <a:folHlink>
        <a:srgbClr val="B2B2B2"/>
      </a:folHlink>
    </a:clrScheme>
    <a:fontScheme name="Copyright(c)2007-2011 NordriDesign™ 小A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F6FC6"/>
            </a:gs>
            <a:gs pos="100000">
              <a:srgbClr val="009DD9">
                <a:alpha val="89998"/>
              </a:srgbClr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scene3d>
          <a:camera prst="legacyObliqueBottom"/>
          <a:lightRig rig="legacyFlat3" dir="b"/>
        </a:scene3d>
        <a:sp3d extrusionH="227000" prstMaterial="legacyMatte">
          <a:bevelT w="13500" h="13500" prst="angle"/>
          <a:bevelB w="13500" h="13500" prst="angle"/>
          <a:extrusionClr>
            <a:schemeClr val="accent2"/>
          </a:extrusionClr>
        </a:sp3d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0000"/>
          </a:buClr>
          <a:buSzPct val="70000"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F6FC6"/>
            </a:gs>
            <a:gs pos="100000">
              <a:srgbClr val="009DD9">
                <a:alpha val="89998"/>
              </a:srgbClr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scene3d>
          <a:camera prst="legacyObliqueBottom"/>
          <a:lightRig rig="legacyFlat3" dir="b"/>
        </a:scene3d>
        <a:sp3d extrusionH="227000" prstMaterial="legacyMatte">
          <a:bevelT w="13500" h="13500" prst="angle"/>
          <a:bevelB w="13500" h="13500" prst="angle"/>
          <a:extrusionClr>
            <a:schemeClr val="accent2"/>
          </a:extrusionClr>
        </a:sp3d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ctr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FF0000"/>
          </a:buClr>
          <a:buSzPct val="70000"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Copyright(c)2007-2011 NordriDesign™ 小A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E20000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EEAAAA"/>
        </a:accent5>
        <a:accent6>
          <a:srgbClr val="B90000"/>
        </a:accent6>
        <a:hlink>
          <a:srgbClr val="80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right(c)2007-2011 NordriDesign™ 小A 2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E20000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EEAAAA"/>
        </a:accent5>
        <a:accent6>
          <a:srgbClr val="B90000"/>
        </a:accent6>
        <a:hlink>
          <a:srgbClr val="80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right(c)2007-2011 NordriDesign™ 小A 3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3399FF"/>
        </a:accent1>
        <a:accent2>
          <a:srgbClr val="0875F8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0669E1"/>
        </a:accent6>
        <a:hlink>
          <a:srgbClr val="B2B2B2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pyright(c)2007-2011 NordriDesign™ 小A 4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3399FF"/>
        </a:accent1>
        <a:accent2>
          <a:srgbClr val="0875F8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0669E1"/>
        </a:accent6>
        <a:hlink>
          <a:srgbClr val="0E58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3513</Words>
  <Application>WPS 演示</Application>
  <PresentationFormat>自定义</PresentationFormat>
  <Paragraphs>430</Paragraphs>
  <Slides>39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Verdana</vt:lpstr>
      <vt:lpstr>黑体</vt:lpstr>
      <vt:lpstr>Impact</vt:lpstr>
      <vt:lpstr>方正兰亭大黑_GBK</vt:lpstr>
      <vt:lpstr>Century Gothic</vt:lpstr>
      <vt:lpstr>Elephant</vt:lpstr>
      <vt:lpstr>华文中宋</vt:lpstr>
      <vt:lpstr>AMGDT</vt:lpstr>
      <vt:lpstr>Calibri</vt:lpstr>
      <vt:lpstr>楷体</vt:lpstr>
      <vt:lpstr>Microsoft JhengHei</vt:lpstr>
      <vt:lpstr>Wingdings</vt:lpstr>
      <vt:lpstr>Times New Roman</vt:lpstr>
      <vt:lpstr>Arial Unicode MS</vt:lpstr>
      <vt:lpstr>华文细黑</vt:lpstr>
      <vt:lpstr>sample</vt:lpstr>
      <vt:lpstr>Copyright(c)2007-2011 NordriDesign™ 小A</vt:lpstr>
      <vt:lpstr>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SamShen</cp:lastModifiedBy>
  <cp:revision>2162</cp:revision>
  <dcterms:created xsi:type="dcterms:W3CDTF">2004-08-26T06:30:00Z</dcterms:created>
  <dcterms:modified xsi:type="dcterms:W3CDTF">2023-11-07T07:54:25Z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8CE10A670952479882158A9CBBE2CAC5_13</vt:lpwstr>
  </property>
</Properties>
</file>